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Top-1</c:v>
                </c:pt>
              </c:strCache>
            </c:strRef>
          </c:tx>
          <c:spPr>
            <a:solidFill>
              <a:srgbClr val="C9BEB4"/>
            </a:solidFill>
            <a:effectLst/>
          </c:spPr>
          <c:invertIfNegative val="0"/>
          <c:dLbls>
            <c:numFmt formatCode="0.0&quot;%&quot;" sourceLinked="0"/>
            <c:txPr>
              <a:bodyPr/>
              <a:lstStyle/>
              <a:p>
                <a:pPr>
                  <a:defRPr b="0" i="0" strike="noStrike" sz="1100" u="none">
                    <a:solidFill>
                      <a:srgbClr val="241C18"/>
                    </a:solidFill>
                    <a:latin typeface="Calibri"/>
                  </a:defRPr>
                </a:pPr>
              </a:p>
            </c:txPr>
            <c:showLegendKey val="0"/>
            <c:showVal val="1"/>
            <c:showCatName val="0"/>
            <c:showSerName val="0"/>
            <c:showPercent val="0"/>
            <c:showBubbleSize val="0"/>
            <c:showLeaderLines val="0"/>
          </c:dLbls>
          <c:dPt>
            <c:idx val="0"/>
            <c:invertIfNegative val="0"/>
            <c:bubble3D val="0"/>
            <c:spPr>
              <a:solidFill>
                <a:srgbClr val="C9BEB4"/>
              </a:solidFill>
              <a:effectLst/>
            </c:spPr>
          </c:dPt>
          <c:dPt>
            <c:idx val="1"/>
            <c:invertIfNegative val="0"/>
            <c:bubble3D val="0"/>
            <c:spPr>
              <a:solidFill>
                <a:srgbClr val="6E8F7D"/>
              </a:solidFill>
              <a:effectLst/>
            </c:spPr>
          </c:dPt>
          <c:dPt>
            <c:idx val="2"/>
            <c:invertIfNegative val="0"/>
            <c:bubble3D val="0"/>
            <c:spPr>
              <a:solidFill>
                <a:srgbClr val="B85042"/>
              </a:solidFill>
              <a:effectLst/>
            </c:spPr>
          </c:dPt>
          <c:cat>
            <c:multiLvlStrRef>
              <c:f>Sheet1!$A$2:$A$4</c:f>
              <c:multiLvlStrCache>
                <c:ptCount val="3"/>
                <c:lvl>
                  <c:pt idx="0">
                    <c:v>Triplet Loss</c:v>
                  </c:pt>
                  <c:pt idx="1">
                    <c:v>AM + centroides</c:v>
                  </c:pt>
                  <c:pt idx="2">
                    <c:v>AM + prototipos</c:v>
                  </c:pt>
                </c:lvl>
              </c:multiLvlStrCache>
            </c:multiLvlStrRef>
          </c:cat>
          <c:val>
            <c:numRef>
              <c:f>Sheet1!$B$2:$B$4</c:f>
              <c:numCache>
                <c:formatCode>General</c:formatCode>
                <c:ptCount val="3"/>
                <c:pt idx="0">
                  <c:v>57.9</c:v>
                </c:pt>
                <c:pt idx="1">
                  <c:v>97.6</c:v>
                </c:pt>
                <c:pt idx="2">
                  <c:v>98.5</c:v>
                </c:pt>
              </c:numCache>
            </c:numRef>
          </c:val>
        </c:ser>
        <c:dLbls>
          <c:numFmt formatCode="0.0&quot;%&quot;" sourceLinked="0"/>
          <c:txPr>
            <a:bodyPr/>
            <a:lstStyle/>
            <a:p>
              <a:pPr>
                <a:defRPr b="0" i="0" strike="noStrike" sz="1100" u="none">
                  <a:solidFill>
                    <a:srgbClr val="241C18"/>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615B"/>
                </a:solidFill>
                <a:latin typeface="Calibri"/>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portada. Pendiente de completar.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Primera diapositiva de la aplicación móvil. Pendiente de completar.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Segunda diapositiva de la aplicación móvil. Pendiente de completar.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sistema es un comparador, no un transcriptor. Tres bloques: backbone congelado de 300 millones de parámetros que aporta la representación general del habla; cabeza de proyección de 1.2 MB entrenada con audio mazahua; y una regla de decisión basada en distancia coseno. AM-Softmax interviene únicamente durante el entrenamiento: el margen aditivo de 0.35 obliga a separar las clases y deja el espacio ordenado. En inferencia no hay softmax, solo el producto punto contra el prototipo y el umbral 0.2406. Al estar los vectores normalizados, el volumen y el timbre quedan excluidos de la medida por construcción.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protocolo se enuncia antes que la cifra: validación cruzada leave-one-child-out con 14 niños, evaluando siempre sobre el hablante excluido del entrenamiento. El resultado es 98.5 por ciento de acierto top-1 y 0.44 por ciento de EER de palabra equivocada. La línea base con Triplet Loss alcanzaba 57.9 por ciento: la mejora proviene exclusivamente del cambio de función de pérdida. Se evaluó además la fusión con DTW, que aporta unos dos puntos en un experimento independiente pero requiere 9.7 MB de referencias y un alineamiento por consulta; quedó documentada y no desplegada.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EER de pronunciación es 34.6 por ciento. Las distribuciones se solapan: distancia media de 0.224 en emisiones correctas frente a 0.334 en incorrectas. El barrido de umbrales confirma que ningún punto de operación reduce el error total por debajo del 34 por ciento. Frente al 0.44 por ciento de identificación de palabra, la diferencia es de casi dos órdenes de magnitud. El factor determinante es la consistencia del etiquetado humano. Se evaluaron cinco alternativas y la mejor mejora es de siete décimas de punto, insuficiente para justificar el costo de DTW en el dispositivo. El error se concentra además en palabras específicas: arroz con 57 por ciento y laBoca con 56 por ciento, lo que orienta el próximo esfuerzo de etiquetado. La aplicación está diseñada en consecuencia: el veredicto invita a repetir y no califica.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11C"/>
        </a:solidFill>
      </p:bgPr>
    </p:bg>
    <p:spTree>
      <p:nvGrpSpPr>
        <p:cNvPr id="1" name=""/>
        <p:cNvGrpSpPr/>
        <p:nvPr/>
      </p:nvGrpSpPr>
      <p:grpSpPr>
        <a:xfrm>
          <a:off x="0" y="0"/>
          <a:ext cx="0" cy="0"/>
          <a:chOff x="0" y="0"/>
          <a:chExt cx="0" cy="0"/>
        </a:xfrm>
      </p:grpSpPr>
      <p:sp>
        <p:nvSpPr>
          <p:cNvPr id="2" name="Shape 0"/>
          <p:cNvSpPr/>
          <p:nvPr/>
        </p:nvSpPr>
        <p:spPr>
          <a:xfrm>
            <a:off x="8778240" y="-1371600"/>
            <a:ext cx="4937760" cy="4937760"/>
          </a:xfrm>
          <a:prstGeom prst="ellipse">
            <a:avLst/>
          </a:prstGeom>
          <a:solidFill>
            <a:srgbClr val="B85042"/>
          </a:solidFill>
          <a:ln/>
        </p:spPr>
      </p:sp>
      <p:sp>
        <p:nvSpPr>
          <p:cNvPr id="3" name="Shape 1"/>
          <p:cNvSpPr/>
          <p:nvPr/>
        </p:nvSpPr>
        <p:spPr>
          <a:xfrm>
            <a:off x="10241280" y="4206240"/>
            <a:ext cx="2926080" cy="2926080"/>
          </a:xfrm>
          <a:prstGeom prst="ellipse">
            <a:avLst/>
          </a:prstGeom>
          <a:solidFill>
            <a:srgbClr val="6E8F7D"/>
          </a:solidFill>
          <a:ln/>
        </p:spPr>
      </p:sp>
      <p:sp>
        <p:nvSpPr>
          <p:cNvPr id="4" name="Text 2"/>
          <p:cNvSpPr/>
          <p:nvPr/>
        </p:nvSpPr>
        <p:spPr>
          <a:xfrm>
            <a:off x="822960" y="1828800"/>
            <a:ext cx="8229600" cy="365760"/>
          </a:xfrm>
          <a:prstGeom prst="rect">
            <a:avLst/>
          </a:prstGeom>
          <a:noFill/>
          <a:ln/>
        </p:spPr>
        <p:txBody>
          <a:bodyPr wrap="square" lIns="0" tIns="0" rIns="0" bIns="0" rtlCol="0" anchor="ctr"/>
          <a:lstStyle/>
          <a:p>
            <a:pPr indent="0" marL="0">
              <a:buNone/>
            </a:pPr>
            <a:r>
              <a:rPr lang="en-US" sz="1200" b="1" spc="200" kern="0" dirty="0">
                <a:solidFill>
                  <a:srgbClr val="B85042"/>
                </a:solidFill>
                <a:latin typeface="Calibri" pitchFamily="34" charset="0"/>
                <a:ea typeface="Calibri" pitchFamily="34" charset="-122"/>
                <a:cs typeface="Calibri" pitchFamily="34" charset="-120"/>
              </a:rPr>
              <a:t>[ DIAPOSITIVA 1 · PORTADA ]</a:t>
            </a:r>
            <a:endParaRPr lang="en-US" sz="1200" dirty="0"/>
          </a:p>
        </p:txBody>
      </p:sp>
      <p:sp>
        <p:nvSpPr>
          <p:cNvPr id="5" name="Text 3"/>
          <p:cNvSpPr/>
          <p:nvPr/>
        </p:nvSpPr>
        <p:spPr>
          <a:xfrm>
            <a:off x="822960" y="2286000"/>
            <a:ext cx="8412480" cy="960120"/>
          </a:xfrm>
          <a:prstGeom prst="rect">
            <a:avLst/>
          </a:prstGeom>
          <a:noFill/>
          <a:ln/>
        </p:spPr>
        <p:txBody>
          <a:bodyPr wrap="square" lIns="0" tIns="0" rIns="0" bIns="0"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Título del proyecto</a:t>
            </a:r>
            <a:endParaRPr lang="en-US" sz="4200" dirty="0"/>
          </a:p>
        </p:txBody>
      </p:sp>
      <p:sp>
        <p:nvSpPr>
          <p:cNvPr id="6" name="Text 4"/>
          <p:cNvSpPr/>
          <p:nvPr/>
        </p:nvSpPr>
        <p:spPr>
          <a:xfrm>
            <a:off x="822960" y="3273552"/>
            <a:ext cx="7863840" cy="457200"/>
          </a:xfrm>
          <a:prstGeom prst="rect">
            <a:avLst/>
          </a:prstGeom>
          <a:noFill/>
          <a:ln/>
        </p:spPr>
        <p:txBody>
          <a:bodyPr wrap="square" lIns="0" tIns="0" rIns="0" bIns="0" rtlCol="0" anchor="ctr"/>
          <a:lstStyle/>
          <a:p>
            <a:pPr indent="0" marL="0">
              <a:buNone/>
            </a:pPr>
            <a:r>
              <a:rPr lang="en-US" sz="1800" dirty="0">
                <a:solidFill>
                  <a:srgbClr val="C9BEB4"/>
                </a:solidFill>
                <a:latin typeface="Calibri" pitchFamily="34" charset="0"/>
                <a:ea typeface="Calibri" pitchFamily="34" charset="-122"/>
                <a:cs typeface="Calibri" pitchFamily="34" charset="-120"/>
              </a:rPr>
              <a:t>Subtítulo, autores, institución y fecha</a:t>
            </a:r>
            <a:endParaRPr lang="en-US" sz="1800" dirty="0"/>
          </a:p>
        </p:txBody>
      </p:sp>
      <p:sp>
        <p:nvSpPr>
          <p:cNvPr id="7" name="Text 5"/>
          <p:cNvSpPr/>
          <p:nvPr/>
        </p:nvSpPr>
        <p:spPr>
          <a:xfrm>
            <a:off x="822960" y="5394960"/>
            <a:ext cx="7863840" cy="365760"/>
          </a:xfrm>
          <a:prstGeom prst="rect">
            <a:avLst/>
          </a:prstGeom>
          <a:noFill/>
          <a:ln/>
        </p:spPr>
        <p:txBody>
          <a:bodyPr wrap="square" lIns="0" tIns="0" rIns="0" bIns="0" rtlCol="0" anchor="ctr"/>
          <a:lstStyle/>
          <a:p>
            <a:pPr indent="0" marL="0">
              <a:buNone/>
            </a:pPr>
            <a:r>
              <a:rPr lang="en-US" sz="1200" i="1" dirty="0">
                <a:solidFill>
                  <a:srgbClr val="6B615B"/>
                </a:solidFill>
                <a:latin typeface="Calibri" pitchFamily="34" charset="0"/>
                <a:ea typeface="Calibri" pitchFamily="34" charset="-122"/>
                <a:cs typeface="Calibri" pitchFamily="34" charset="-120"/>
              </a:rPr>
              <a:t>Espacio reservado para la portada de la presentación.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EFE4"/>
        </a:solidFill>
      </p:bgPr>
    </p:bg>
    <p:spTree>
      <p:nvGrpSpPr>
        <p:cNvPr id="1" name=""/>
        <p:cNvGrpSpPr/>
        <p:nvPr/>
      </p:nvGrpSpPr>
      <p:grpSpPr>
        <a:xfrm>
          <a:off x="0" y="0"/>
          <a:ext cx="0" cy="0"/>
          <a:chOff x="0" y="0"/>
          <a:chExt cx="0" cy="0"/>
        </a:xfrm>
      </p:grpSpPr>
      <p:sp>
        <p:nvSpPr>
          <p:cNvPr id="2" name="Text 0"/>
          <p:cNvSpPr/>
          <p:nvPr/>
        </p:nvSpPr>
        <p:spPr>
          <a:xfrm>
            <a:off x="658368" y="164592"/>
            <a:ext cx="10881360" cy="274320"/>
          </a:xfrm>
          <a:prstGeom prst="rect">
            <a:avLst/>
          </a:prstGeom>
          <a:noFill/>
          <a:ln/>
        </p:spPr>
        <p:txBody>
          <a:bodyPr wrap="square" lIns="0" tIns="0" rIns="0" bIns="0" rtlCol="0" anchor="ctr"/>
          <a:lstStyle/>
          <a:p>
            <a:pPr indent="0" marL="0">
              <a:buNone/>
            </a:pPr>
            <a:r>
              <a:rPr lang="en-US" sz="1100" b="1" spc="200" kern="0" dirty="0">
                <a:solidFill>
                  <a:srgbClr val="B85042"/>
                </a:solidFill>
                <a:latin typeface="Calibri" pitchFamily="34" charset="0"/>
                <a:ea typeface="Calibri" pitchFamily="34" charset="-122"/>
                <a:cs typeface="Calibri" pitchFamily="34" charset="-120"/>
              </a:rPr>
              <a:t>APLICACIÓN MÓVIL</a:t>
            </a:r>
            <a:endParaRPr lang="en-US" sz="1100" dirty="0"/>
          </a:p>
        </p:txBody>
      </p:sp>
      <p:sp>
        <p:nvSpPr>
          <p:cNvPr id="3" name="Text 1"/>
          <p:cNvSpPr/>
          <p:nvPr/>
        </p:nvSpPr>
        <p:spPr>
          <a:xfrm>
            <a:off x="640080" y="402336"/>
            <a:ext cx="10881360" cy="713232"/>
          </a:xfrm>
          <a:prstGeom prst="rect">
            <a:avLst/>
          </a:prstGeom>
          <a:noFill/>
          <a:ln/>
        </p:spPr>
        <p:txBody>
          <a:bodyPr wrap="square" lIns="0" tIns="0" rIns="0" bIns="0" rtlCol="0" anchor="ctr"/>
          <a:lstStyle/>
          <a:p>
            <a:pPr indent="0" marL="0">
              <a:buNone/>
            </a:pPr>
            <a:r>
              <a:rPr lang="en-US" sz="3400" b="1" dirty="0">
                <a:solidFill>
                  <a:srgbClr val="241C18"/>
                </a:solidFill>
                <a:latin typeface="Calibri" pitchFamily="34" charset="0"/>
                <a:ea typeface="Calibri" pitchFamily="34" charset="-122"/>
                <a:cs typeface="Calibri" pitchFamily="34" charset="-120"/>
              </a:rPr>
              <a:t>[ DIAPOSITIVA 2 · APLICACIÓN 1 ]</a:t>
            </a:r>
            <a:endParaRPr lang="en-US" sz="3400" dirty="0"/>
          </a:p>
        </p:txBody>
      </p:sp>
      <p:sp>
        <p:nvSpPr>
          <p:cNvPr id="4" name="Shape 2"/>
          <p:cNvSpPr/>
          <p:nvPr/>
        </p:nvSpPr>
        <p:spPr>
          <a:xfrm>
            <a:off x="640080" y="1554480"/>
            <a:ext cx="5212080" cy="4206240"/>
          </a:xfrm>
          <a:prstGeom prst="roundRect">
            <a:avLst>
              <a:gd name="adj" fmla="val 1739"/>
            </a:avLst>
          </a:prstGeom>
          <a:solidFill>
            <a:srgbClr val="FFFFFF"/>
          </a:solidFill>
          <a:ln/>
          <a:effectLst>
            <a:outerShdw sx="100000" sy="100000" kx="0" ky="0" algn="bl" rotWithShape="0" blurRad="127000" dist="635" dir="5400000">
              <a:srgbClr val="000000">
                <a:alpha val="18000"/>
              </a:srgbClr>
            </a:outerShdw>
          </a:effectLst>
        </p:spPr>
      </p:sp>
      <p:sp>
        <p:nvSpPr>
          <p:cNvPr id="5" name="Shape 3"/>
          <p:cNvSpPr/>
          <p:nvPr/>
        </p:nvSpPr>
        <p:spPr>
          <a:xfrm>
            <a:off x="6309360" y="1554480"/>
            <a:ext cx="5212080" cy="4206240"/>
          </a:xfrm>
          <a:prstGeom prst="roundRect">
            <a:avLst>
              <a:gd name="adj" fmla="val 1739"/>
            </a:avLst>
          </a:prstGeom>
          <a:solidFill>
            <a:srgbClr val="FFFFFF"/>
          </a:solidFill>
          <a:ln/>
          <a:effectLst>
            <a:outerShdw sx="100000" sy="100000" kx="0" ky="0" algn="bl" rotWithShape="0" blurRad="127000" dist="635" dir="5400000">
              <a:srgbClr val="000000">
                <a:alpha val="18000"/>
              </a:srgbClr>
            </a:outerShdw>
          </a:effectLst>
        </p:spPr>
      </p:sp>
      <p:sp>
        <p:nvSpPr>
          <p:cNvPr id="6" name="Text 4"/>
          <p:cNvSpPr/>
          <p:nvPr/>
        </p:nvSpPr>
        <p:spPr>
          <a:xfrm>
            <a:off x="960120" y="1874520"/>
            <a:ext cx="4572000" cy="365760"/>
          </a:xfrm>
          <a:prstGeom prst="rect">
            <a:avLst/>
          </a:prstGeom>
          <a:noFill/>
          <a:ln/>
        </p:spPr>
        <p:txBody>
          <a:bodyPr wrap="square" lIns="0" tIns="0" rIns="0" bIns="0" rtlCol="0" anchor="ctr"/>
          <a:lstStyle/>
          <a:p>
            <a:pPr indent="0" marL="0">
              <a:buNone/>
            </a:pPr>
            <a:r>
              <a:rPr lang="en-US" sz="2000" b="1" dirty="0">
                <a:solidFill>
                  <a:srgbClr val="B85042"/>
                </a:solidFill>
                <a:latin typeface="Calibri" pitchFamily="34" charset="0"/>
                <a:ea typeface="Calibri" pitchFamily="34" charset="-122"/>
                <a:cs typeface="Calibri" pitchFamily="34" charset="-120"/>
              </a:rPr>
              <a:t>Espacio reservado</a:t>
            </a:r>
            <a:endParaRPr lang="en-US" sz="2000" dirty="0"/>
          </a:p>
        </p:txBody>
      </p:sp>
      <p:sp>
        <p:nvSpPr>
          <p:cNvPr id="7" name="Text 5"/>
          <p:cNvSpPr/>
          <p:nvPr/>
        </p:nvSpPr>
        <p:spPr>
          <a:xfrm>
            <a:off x="960120" y="2304288"/>
            <a:ext cx="4572000" cy="914400"/>
          </a:xfrm>
          <a:prstGeom prst="rect">
            <a:avLst/>
          </a:prstGeom>
          <a:noFill/>
          <a:ln/>
        </p:spPr>
        <p:txBody>
          <a:bodyPr wrap="square" lIns="0" tIns="0" rIns="0" bIns="0" rtlCol="0" anchor="ctr"/>
          <a:lstStyle/>
          <a:p>
            <a:pPr indent="0" marL="0">
              <a:buNone/>
            </a:pPr>
            <a:r>
              <a:rPr lang="en-US" sz="1500" dirty="0">
                <a:solidFill>
                  <a:srgbClr val="241C18"/>
                </a:solidFill>
                <a:latin typeface="Calibri" pitchFamily="34" charset="0"/>
                <a:ea typeface="Calibri" pitchFamily="34" charset="-122"/>
                <a:cs typeface="Calibri" pitchFamily="34" charset="-120"/>
              </a:rPr>
              <a:t>Contenido de la primera diapositiva sobre la aplicación móvil.</a:t>
            </a:r>
            <a:endParaRPr lang="en-US" sz="1500" dirty="0"/>
          </a:p>
        </p:txBody>
      </p:sp>
      <p:sp>
        <p:nvSpPr>
          <p:cNvPr id="8" name="Text 6"/>
          <p:cNvSpPr/>
          <p:nvPr/>
        </p:nvSpPr>
        <p:spPr>
          <a:xfrm>
            <a:off x="6629400" y="1874520"/>
            <a:ext cx="4572000" cy="365760"/>
          </a:xfrm>
          <a:prstGeom prst="rect">
            <a:avLst/>
          </a:prstGeom>
          <a:noFill/>
          <a:ln/>
        </p:spPr>
        <p:txBody>
          <a:bodyPr wrap="square" lIns="0" tIns="0" rIns="0" bIns="0" rtlCol="0" anchor="ctr"/>
          <a:lstStyle/>
          <a:p>
            <a:pPr indent="0" marL="0">
              <a:buNone/>
            </a:pPr>
            <a:r>
              <a:rPr lang="en-US" sz="2000" b="1" dirty="0">
                <a:solidFill>
                  <a:srgbClr val="6E8F7D"/>
                </a:solidFill>
                <a:latin typeface="Calibri" pitchFamily="34" charset="0"/>
                <a:ea typeface="Calibri" pitchFamily="34" charset="-122"/>
                <a:cs typeface="Calibri" pitchFamily="34" charset="-120"/>
              </a:rPr>
              <a:t>Espacio reservado</a:t>
            </a:r>
            <a:endParaRPr lang="en-US" sz="2000" dirty="0"/>
          </a:p>
        </p:txBody>
      </p:sp>
      <p:sp>
        <p:nvSpPr>
          <p:cNvPr id="9" name="Text 7"/>
          <p:cNvSpPr/>
          <p:nvPr/>
        </p:nvSpPr>
        <p:spPr>
          <a:xfrm>
            <a:off x="6629400" y="2304288"/>
            <a:ext cx="4572000" cy="914400"/>
          </a:xfrm>
          <a:prstGeom prst="rect">
            <a:avLst/>
          </a:prstGeom>
          <a:noFill/>
          <a:ln/>
        </p:spPr>
        <p:txBody>
          <a:bodyPr wrap="square" lIns="0" tIns="0" rIns="0" bIns="0" rtlCol="0" anchor="ctr"/>
          <a:lstStyle/>
          <a:p>
            <a:pPr indent="0" marL="0">
              <a:buNone/>
            </a:pPr>
            <a:r>
              <a:rPr lang="en-US" sz="1500" dirty="0">
                <a:solidFill>
                  <a:srgbClr val="241C18"/>
                </a:solidFill>
                <a:latin typeface="Calibri" pitchFamily="34" charset="0"/>
                <a:ea typeface="Calibri" pitchFamily="34" charset="-122"/>
                <a:cs typeface="Calibri" pitchFamily="34" charset="-120"/>
              </a:rPr>
              <a:t>Captura de pantalla, diagrama de flujo o demostración de la aplicación.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EFE4"/>
        </a:solidFill>
      </p:bgPr>
    </p:bg>
    <p:spTree>
      <p:nvGrpSpPr>
        <p:cNvPr id="1" name=""/>
        <p:cNvGrpSpPr/>
        <p:nvPr/>
      </p:nvGrpSpPr>
      <p:grpSpPr>
        <a:xfrm>
          <a:off x="0" y="0"/>
          <a:ext cx="0" cy="0"/>
          <a:chOff x="0" y="0"/>
          <a:chExt cx="0" cy="0"/>
        </a:xfrm>
      </p:grpSpPr>
      <p:sp>
        <p:nvSpPr>
          <p:cNvPr id="2" name="Text 0"/>
          <p:cNvSpPr/>
          <p:nvPr/>
        </p:nvSpPr>
        <p:spPr>
          <a:xfrm>
            <a:off x="658368" y="164592"/>
            <a:ext cx="10881360" cy="274320"/>
          </a:xfrm>
          <a:prstGeom prst="rect">
            <a:avLst/>
          </a:prstGeom>
          <a:noFill/>
          <a:ln/>
        </p:spPr>
        <p:txBody>
          <a:bodyPr wrap="square" lIns="0" tIns="0" rIns="0" bIns="0" rtlCol="0" anchor="ctr"/>
          <a:lstStyle/>
          <a:p>
            <a:pPr indent="0" marL="0">
              <a:buNone/>
            </a:pPr>
            <a:r>
              <a:rPr lang="en-US" sz="1100" b="1" spc="200" kern="0" dirty="0">
                <a:solidFill>
                  <a:srgbClr val="B85042"/>
                </a:solidFill>
                <a:latin typeface="Calibri" pitchFamily="34" charset="0"/>
                <a:ea typeface="Calibri" pitchFamily="34" charset="-122"/>
                <a:cs typeface="Calibri" pitchFamily="34" charset="-120"/>
              </a:rPr>
              <a:t>APLICACIÓN MÓVIL</a:t>
            </a:r>
            <a:endParaRPr lang="en-US" sz="1100" dirty="0"/>
          </a:p>
        </p:txBody>
      </p:sp>
      <p:sp>
        <p:nvSpPr>
          <p:cNvPr id="3" name="Text 1"/>
          <p:cNvSpPr/>
          <p:nvPr/>
        </p:nvSpPr>
        <p:spPr>
          <a:xfrm>
            <a:off x="640080" y="402336"/>
            <a:ext cx="10881360" cy="713232"/>
          </a:xfrm>
          <a:prstGeom prst="rect">
            <a:avLst/>
          </a:prstGeom>
          <a:noFill/>
          <a:ln/>
        </p:spPr>
        <p:txBody>
          <a:bodyPr wrap="square" lIns="0" tIns="0" rIns="0" bIns="0" rtlCol="0" anchor="ctr"/>
          <a:lstStyle/>
          <a:p>
            <a:pPr indent="0" marL="0">
              <a:buNone/>
            </a:pPr>
            <a:r>
              <a:rPr lang="en-US" sz="3400" b="1" dirty="0">
                <a:solidFill>
                  <a:srgbClr val="241C18"/>
                </a:solidFill>
                <a:latin typeface="Calibri" pitchFamily="34" charset="0"/>
                <a:ea typeface="Calibri" pitchFamily="34" charset="-122"/>
                <a:cs typeface="Calibri" pitchFamily="34" charset="-120"/>
              </a:rPr>
              <a:t>[ DIAPOSITIVA 3 · APLICACIÓN 2 ]</a:t>
            </a:r>
            <a:endParaRPr lang="en-US" sz="3400" dirty="0"/>
          </a:p>
        </p:txBody>
      </p:sp>
      <p:sp>
        <p:nvSpPr>
          <p:cNvPr id="4" name="Shape 2"/>
          <p:cNvSpPr/>
          <p:nvPr/>
        </p:nvSpPr>
        <p:spPr>
          <a:xfrm>
            <a:off x="640080" y="1737360"/>
            <a:ext cx="3502152" cy="3840480"/>
          </a:xfrm>
          <a:prstGeom prst="roundRect">
            <a:avLst>
              <a:gd name="adj" fmla="val 2089"/>
            </a:avLst>
          </a:prstGeom>
          <a:solidFill>
            <a:srgbClr val="FFFFFF"/>
          </a:solidFill>
          <a:ln/>
          <a:effectLst>
            <a:outerShdw sx="100000" sy="100000" kx="0" ky="0" algn="bl" rotWithShape="0" blurRad="127000" dist="635" dir="5400000">
              <a:srgbClr val="000000">
                <a:alpha val="18000"/>
              </a:srgbClr>
            </a:outerShdw>
          </a:effectLst>
        </p:spPr>
      </p:sp>
      <p:sp>
        <p:nvSpPr>
          <p:cNvPr id="5" name="Shape 3"/>
          <p:cNvSpPr/>
          <p:nvPr/>
        </p:nvSpPr>
        <p:spPr>
          <a:xfrm>
            <a:off x="932688" y="2029968"/>
            <a:ext cx="475488" cy="475488"/>
          </a:xfrm>
          <a:prstGeom prst="ellipse">
            <a:avLst/>
          </a:prstGeom>
          <a:solidFill>
            <a:srgbClr val="B85042"/>
          </a:solidFill>
          <a:ln/>
        </p:spPr>
      </p:sp>
      <p:sp>
        <p:nvSpPr>
          <p:cNvPr id="6" name="Text 4"/>
          <p:cNvSpPr/>
          <p:nvPr/>
        </p:nvSpPr>
        <p:spPr>
          <a:xfrm>
            <a:off x="932688" y="2029968"/>
            <a:ext cx="475488" cy="475488"/>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7" name="Text 5"/>
          <p:cNvSpPr/>
          <p:nvPr/>
        </p:nvSpPr>
        <p:spPr>
          <a:xfrm>
            <a:off x="932688" y="2697480"/>
            <a:ext cx="2926080" cy="365760"/>
          </a:xfrm>
          <a:prstGeom prst="rect">
            <a:avLst/>
          </a:prstGeom>
          <a:noFill/>
          <a:ln/>
        </p:spPr>
        <p:txBody>
          <a:bodyPr wrap="square" lIns="0" tIns="0" rIns="0" bIns="0" rtlCol="0" anchor="ctr"/>
          <a:lstStyle/>
          <a:p>
            <a:pPr indent="0" marL="0">
              <a:buNone/>
            </a:pPr>
            <a:r>
              <a:rPr lang="en-US" sz="1800" b="1" dirty="0">
                <a:solidFill>
                  <a:srgbClr val="241C18"/>
                </a:solidFill>
                <a:latin typeface="Calibri" pitchFamily="34" charset="0"/>
                <a:ea typeface="Calibri" pitchFamily="34" charset="-122"/>
                <a:cs typeface="Calibri" pitchFamily="34" charset="-120"/>
              </a:rPr>
              <a:t>Espacio reservado</a:t>
            </a:r>
            <a:endParaRPr lang="en-US" sz="1800" dirty="0"/>
          </a:p>
        </p:txBody>
      </p:sp>
      <p:sp>
        <p:nvSpPr>
          <p:cNvPr id="8" name="Text 6"/>
          <p:cNvSpPr/>
          <p:nvPr/>
        </p:nvSpPr>
        <p:spPr>
          <a:xfrm>
            <a:off x="932688" y="3145536"/>
            <a:ext cx="2926080" cy="1280160"/>
          </a:xfrm>
          <a:prstGeom prst="rect">
            <a:avLst/>
          </a:prstGeom>
          <a:noFill/>
          <a:ln/>
        </p:spPr>
        <p:txBody>
          <a:bodyPr wrap="square" lIns="0" tIns="0" rIns="0" bIns="0" rtlCol="0" anchor="ctr"/>
          <a:lstStyle/>
          <a:p>
            <a:pPr indent="0" marL="0">
              <a:buNone/>
            </a:pPr>
            <a:r>
              <a:rPr lang="en-US" sz="1400" dirty="0">
                <a:solidFill>
                  <a:srgbClr val="6B615B"/>
                </a:solidFill>
                <a:latin typeface="Calibri" pitchFamily="34" charset="0"/>
                <a:ea typeface="Calibri" pitchFamily="34" charset="-122"/>
                <a:cs typeface="Calibri" pitchFamily="34" charset="-120"/>
              </a:rPr>
              <a:t>Contenido de la segunda diapositiva sobre la aplicación móvil.</a:t>
            </a:r>
            <a:endParaRPr lang="en-US" sz="1400" dirty="0"/>
          </a:p>
        </p:txBody>
      </p:sp>
      <p:sp>
        <p:nvSpPr>
          <p:cNvPr id="9" name="Shape 7"/>
          <p:cNvSpPr/>
          <p:nvPr/>
        </p:nvSpPr>
        <p:spPr>
          <a:xfrm>
            <a:off x="4416552" y="1737360"/>
            <a:ext cx="3502152" cy="3840480"/>
          </a:xfrm>
          <a:prstGeom prst="roundRect">
            <a:avLst>
              <a:gd name="adj" fmla="val 2089"/>
            </a:avLst>
          </a:prstGeom>
          <a:solidFill>
            <a:srgbClr val="FFFFFF"/>
          </a:solidFill>
          <a:ln/>
          <a:effectLst>
            <a:outerShdw sx="100000" sy="100000" kx="0" ky="0" algn="bl" rotWithShape="0" blurRad="127000" dist="635" dir="5400000">
              <a:srgbClr val="000000">
                <a:alpha val="18000"/>
              </a:srgbClr>
            </a:outerShdw>
          </a:effectLst>
        </p:spPr>
      </p:sp>
      <p:sp>
        <p:nvSpPr>
          <p:cNvPr id="10" name="Shape 8"/>
          <p:cNvSpPr/>
          <p:nvPr/>
        </p:nvSpPr>
        <p:spPr>
          <a:xfrm>
            <a:off x="4709160" y="2029968"/>
            <a:ext cx="475488" cy="475488"/>
          </a:xfrm>
          <a:prstGeom prst="ellipse">
            <a:avLst/>
          </a:prstGeom>
          <a:solidFill>
            <a:srgbClr val="6E8F7D"/>
          </a:solidFill>
          <a:ln/>
        </p:spPr>
      </p:sp>
      <p:sp>
        <p:nvSpPr>
          <p:cNvPr id="11" name="Text 9"/>
          <p:cNvSpPr/>
          <p:nvPr/>
        </p:nvSpPr>
        <p:spPr>
          <a:xfrm>
            <a:off x="4709160" y="2029968"/>
            <a:ext cx="475488" cy="475488"/>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2" name="Text 10"/>
          <p:cNvSpPr/>
          <p:nvPr/>
        </p:nvSpPr>
        <p:spPr>
          <a:xfrm>
            <a:off x="4709160" y="2697480"/>
            <a:ext cx="2926080" cy="365760"/>
          </a:xfrm>
          <a:prstGeom prst="rect">
            <a:avLst/>
          </a:prstGeom>
          <a:noFill/>
          <a:ln/>
        </p:spPr>
        <p:txBody>
          <a:bodyPr wrap="square" lIns="0" tIns="0" rIns="0" bIns="0" rtlCol="0" anchor="ctr"/>
          <a:lstStyle/>
          <a:p>
            <a:pPr indent="0" marL="0">
              <a:buNone/>
            </a:pPr>
            <a:r>
              <a:rPr lang="en-US" sz="1800" b="1" dirty="0">
                <a:solidFill>
                  <a:srgbClr val="241C18"/>
                </a:solidFill>
                <a:latin typeface="Calibri" pitchFamily="34" charset="0"/>
                <a:ea typeface="Calibri" pitchFamily="34" charset="-122"/>
                <a:cs typeface="Calibri" pitchFamily="34" charset="-120"/>
              </a:rPr>
              <a:t>Espacio reservado</a:t>
            </a:r>
            <a:endParaRPr lang="en-US" sz="1800" dirty="0"/>
          </a:p>
        </p:txBody>
      </p:sp>
      <p:sp>
        <p:nvSpPr>
          <p:cNvPr id="13" name="Text 11"/>
          <p:cNvSpPr/>
          <p:nvPr/>
        </p:nvSpPr>
        <p:spPr>
          <a:xfrm>
            <a:off x="4709160" y="3145536"/>
            <a:ext cx="2926080" cy="1280160"/>
          </a:xfrm>
          <a:prstGeom prst="rect">
            <a:avLst/>
          </a:prstGeom>
          <a:noFill/>
          <a:ln/>
        </p:spPr>
        <p:txBody>
          <a:bodyPr wrap="square" lIns="0" tIns="0" rIns="0" bIns="0" rtlCol="0" anchor="ctr"/>
          <a:lstStyle/>
          <a:p>
            <a:pPr indent="0" marL="0">
              <a:buNone/>
            </a:pPr>
            <a:r>
              <a:rPr lang="en-US" sz="1400" dirty="0">
                <a:solidFill>
                  <a:srgbClr val="6B615B"/>
                </a:solidFill>
                <a:latin typeface="Calibri" pitchFamily="34" charset="0"/>
                <a:ea typeface="Calibri" pitchFamily="34" charset="-122"/>
                <a:cs typeface="Calibri" pitchFamily="34" charset="-120"/>
              </a:rPr>
              <a:t>Contenido de la segunda diapositiva sobre la aplicación móvil.</a:t>
            </a:r>
            <a:endParaRPr lang="en-US" sz="1400" dirty="0"/>
          </a:p>
        </p:txBody>
      </p:sp>
      <p:sp>
        <p:nvSpPr>
          <p:cNvPr id="14" name="Shape 12"/>
          <p:cNvSpPr/>
          <p:nvPr/>
        </p:nvSpPr>
        <p:spPr>
          <a:xfrm>
            <a:off x="8193024" y="1737360"/>
            <a:ext cx="3502152" cy="3840480"/>
          </a:xfrm>
          <a:prstGeom prst="roundRect">
            <a:avLst>
              <a:gd name="adj" fmla="val 2089"/>
            </a:avLst>
          </a:prstGeom>
          <a:solidFill>
            <a:srgbClr val="FFFFFF"/>
          </a:solidFill>
          <a:ln/>
          <a:effectLst>
            <a:outerShdw sx="100000" sy="100000" kx="0" ky="0" algn="bl" rotWithShape="0" blurRad="127000" dist="635" dir="5400000">
              <a:srgbClr val="000000">
                <a:alpha val="18000"/>
              </a:srgbClr>
            </a:outerShdw>
          </a:effectLst>
        </p:spPr>
      </p:sp>
      <p:sp>
        <p:nvSpPr>
          <p:cNvPr id="15" name="Shape 13"/>
          <p:cNvSpPr/>
          <p:nvPr/>
        </p:nvSpPr>
        <p:spPr>
          <a:xfrm>
            <a:off x="8485632" y="2029968"/>
            <a:ext cx="475488" cy="475488"/>
          </a:xfrm>
          <a:prstGeom prst="ellipse">
            <a:avLst/>
          </a:prstGeom>
          <a:solidFill>
            <a:srgbClr val="B85042"/>
          </a:solidFill>
          <a:ln/>
        </p:spPr>
      </p:sp>
      <p:sp>
        <p:nvSpPr>
          <p:cNvPr id="16" name="Text 14"/>
          <p:cNvSpPr/>
          <p:nvPr/>
        </p:nvSpPr>
        <p:spPr>
          <a:xfrm>
            <a:off x="8485632" y="2029968"/>
            <a:ext cx="475488" cy="475488"/>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17" name="Text 15"/>
          <p:cNvSpPr/>
          <p:nvPr/>
        </p:nvSpPr>
        <p:spPr>
          <a:xfrm>
            <a:off x="8485632" y="2697480"/>
            <a:ext cx="2926080" cy="365760"/>
          </a:xfrm>
          <a:prstGeom prst="rect">
            <a:avLst/>
          </a:prstGeom>
          <a:noFill/>
          <a:ln/>
        </p:spPr>
        <p:txBody>
          <a:bodyPr wrap="square" lIns="0" tIns="0" rIns="0" bIns="0" rtlCol="0" anchor="ctr"/>
          <a:lstStyle/>
          <a:p>
            <a:pPr indent="0" marL="0">
              <a:buNone/>
            </a:pPr>
            <a:r>
              <a:rPr lang="en-US" sz="1800" b="1" dirty="0">
                <a:solidFill>
                  <a:srgbClr val="241C18"/>
                </a:solidFill>
                <a:latin typeface="Calibri" pitchFamily="34" charset="0"/>
                <a:ea typeface="Calibri" pitchFamily="34" charset="-122"/>
                <a:cs typeface="Calibri" pitchFamily="34" charset="-120"/>
              </a:rPr>
              <a:t>Espacio reservado</a:t>
            </a:r>
            <a:endParaRPr lang="en-US" sz="1800" dirty="0"/>
          </a:p>
        </p:txBody>
      </p:sp>
      <p:sp>
        <p:nvSpPr>
          <p:cNvPr id="18" name="Text 16"/>
          <p:cNvSpPr/>
          <p:nvPr/>
        </p:nvSpPr>
        <p:spPr>
          <a:xfrm>
            <a:off x="8485632" y="3145536"/>
            <a:ext cx="2926080" cy="1280160"/>
          </a:xfrm>
          <a:prstGeom prst="rect">
            <a:avLst/>
          </a:prstGeom>
          <a:noFill/>
          <a:ln/>
        </p:spPr>
        <p:txBody>
          <a:bodyPr wrap="square" lIns="0" tIns="0" rIns="0" bIns="0" rtlCol="0" anchor="ctr"/>
          <a:lstStyle/>
          <a:p>
            <a:pPr indent="0" marL="0">
              <a:buNone/>
            </a:pPr>
            <a:r>
              <a:rPr lang="en-US" sz="1400" dirty="0">
                <a:solidFill>
                  <a:srgbClr val="6B615B"/>
                </a:solidFill>
                <a:latin typeface="Calibri" pitchFamily="34" charset="0"/>
                <a:ea typeface="Calibri" pitchFamily="34" charset="-122"/>
                <a:cs typeface="Calibri" pitchFamily="34" charset="-120"/>
              </a:rPr>
              <a:t>Contenido de la segunda diapositiva sobre la aplicación móvil.</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B211C"/>
        </a:solidFill>
      </p:bgPr>
    </p:bg>
    <p:spTree>
      <p:nvGrpSpPr>
        <p:cNvPr id="1" name=""/>
        <p:cNvGrpSpPr/>
        <p:nvPr/>
      </p:nvGrpSpPr>
      <p:grpSpPr>
        <a:xfrm>
          <a:off x="0" y="0"/>
          <a:ext cx="0" cy="0"/>
          <a:chOff x="0" y="0"/>
          <a:chExt cx="0" cy="0"/>
        </a:xfrm>
      </p:grpSpPr>
      <p:sp>
        <p:nvSpPr>
          <p:cNvPr id="2" name="Text 0"/>
          <p:cNvSpPr/>
          <p:nvPr/>
        </p:nvSpPr>
        <p:spPr>
          <a:xfrm>
            <a:off x="658368" y="164592"/>
            <a:ext cx="10881360" cy="274320"/>
          </a:xfrm>
          <a:prstGeom prst="rect">
            <a:avLst/>
          </a:prstGeom>
          <a:noFill/>
          <a:ln/>
        </p:spPr>
        <p:txBody>
          <a:bodyPr wrap="square" lIns="0" tIns="0" rIns="0" bIns="0" rtlCol="0" anchor="ctr"/>
          <a:lstStyle/>
          <a:p>
            <a:pPr indent="0" marL="0">
              <a:buNone/>
            </a:pPr>
            <a:r>
              <a:rPr lang="en-US" sz="1100" b="1" spc="200" kern="0" dirty="0">
                <a:solidFill>
                  <a:srgbClr val="B85042"/>
                </a:solidFill>
                <a:latin typeface="Calibri" pitchFamily="34" charset="0"/>
                <a:ea typeface="Calibri" pitchFamily="34" charset="-122"/>
                <a:cs typeface="Calibri" pitchFamily="34" charset="-120"/>
              </a:rPr>
              <a:t>EL MODELO · 1 DE 3</a:t>
            </a:r>
            <a:endParaRPr lang="en-US" sz="1100" dirty="0"/>
          </a:p>
        </p:txBody>
      </p:sp>
      <p:sp>
        <p:nvSpPr>
          <p:cNvPr id="3" name="Text 1"/>
          <p:cNvSpPr/>
          <p:nvPr/>
        </p:nvSpPr>
        <p:spPr>
          <a:xfrm>
            <a:off x="640080" y="402336"/>
            <a:ext cx="10881360" cy="713232"/>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Arquitectura del modelo</a:t>
            </a:r>
            <a:endParaRPr lang="en-US" sz="3400" dirty="0"/>
          </a:p>
        </p:txBody>
      </p:sp>
      <p:sp>
        <p:nvSpPr>
          <p:cNvPr id="4" name="Text 2"/>
          <p:cNvSpPr/>
          <p:nvPr/>
        </p:nvSpPr>
        <p:spPr>
          <a:xfrm>
            <a:off x="640080" y="1152144"/>
            <a:ext cx="7680960" cy="457200"/>
          </a:xfrm>
          <a:prstGeom prst="rect">
            <a:avLst/>
          </a:prstGeom>
          <a:noFill/>
          <a:ln/>
        </p:spPr>
        <p:txBody>
          <a:bodyPr wrap="square" lIns="0" tIns="0" rIns="0" bIns="0" rtlCol="0" anchor="ctr"/>
          <a:lstStyle/>
          <a:p>
            <a:pPr indent="0" marL="0">
              <a:buNone/>
            </a:pPr>
            <a:r>
              <a:rPr lang="en-US" sz="1400" dirty="0">
                <a:solidFill>
                  <a:srgbClr val="C9BEB4"/>
                </a:solidFill>
                <a:latin typeface="Calibri" pitchFamily="34" charset="0"/>
                <a:ea typeface="Calibri" pitchFamily="34" charset="-122"/>
                <a:cs typeface="Calibri" pitchFamily="34" charset="-120"/>
              </a:rPr>
              <a:t>El sistema no realiza transcripción. Cada grabación se representa como un vector de 128 dimensiones y se mide su distancia a la referencia de la palabra objetivo.</a:t>
            </a:r>
            <a:endParaRPr lang="en-US" sz="1400" dirty="0"/>
          </a:p>
        </p:txBody>
      </p:sp>
      <p:sp>
        <p:nvSpPr>
          <p:cNvPr id="5" name="Shape 3"/>
          <p:cNvSpPr/>
          <p:nvPr/>
        </p:nvSpPr>
        <p:spPr>
          <a:xfrm>
            <a:off x="640080" y="1810512"/>
            <a:ext cx="6400800" cy="1060704"/>
          </a:xfrm>
          <a:prstGeom prst="roundRect">
            <a:avLst>
              <a:gd name="adj" fmla="val 6897"/>
            </a:avLst>
          </a:prstGeom>
          <a:solidFill>
            <a:srgbClr val="3A2D26"/>
          </a:solidFill>
          <a:ln/>
          <a:effectLst>
            <a:outerShdw sx="100000" sy="100000" kx="0" ky="0" algn="bl" rotWithShape="0" blurRad="127000" dist="635" dir="5400000">
              <a:srgbClr val="000000">
                <a:alpha val="18000"/>
              </a:srgbClr>
            </a:outerShdw>
          </a:effectLst>
        </p:spPr>
      </p:sp>
      <p:sp>
        <p:nvSpPr>
          <p:cNvPr id="6" name="Shape 4"/>
          <p:cNvSpPr/>
          <p:nvPr/>
        </p:nvSpPr>
        <p:spPr>
          <a:xfrm>
            <a:off x="868680" y="2103120"/>
            <a:ext cx="475488" cy="475488"/>
          </a:xfrm>
          <a:prstGeom prst="ellipse">
            <a:avLst/>
          </a:prstGeom>
          <a:solidFill>
            <a:srgbClr val="B85042"/>
          </a:solidFill>
          <a:ln/>
        </p:spPr>
      </p:sp>
      <p:sp>
        <p:nvSpPr>
          <p:cNvPr id="7" name="Text 5"/>
          <p:cNvSpPr/>
          <p:nvPr/>
        </p:nvSpPr>
        <p:spPr>
          <a:xfrm>
            <a:off x="868680" y="2103120"/>
            <a:ext cx="475488" cy="475488"/>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8" name="Text 6"/>
          <p:cNvSpPr/>
          <p:nvPr/>
        </p:nvSpPr>
        <p:spPr>
          <a:xfrm>
            <a:off x="1481328" y="1929384"/>
            <a:ext cx="5394960" cy="310896"/>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Backbone preentrenado y congelado</a:t>
            </a:r>
            <a:endParaRPr lang="en-US" sz="1600" dirty="0"/>
          </a:p>
        </p:txBody>
      </p:sp>
      <p:sp>
        <p:nvSpPr>
          <p:cNvPr id="9" name="Text 7"/>
          <p:cNvSpPr/>
          <p:nvPr/>
        </p:nvSpPr>
        <p:spPr>
          <a:xfrm>
            <a:off x="1481328" y="2240280"/>
            <a:ext cx="5349240" cy="585216"/>
          </a:xfrm>
          <a:prstGeom prst="rect">
            <a:avLst/>
          </a:prstGeom>
          <a:noFill/>
          <a:ln/>
        </p:spPr>
        <p:txBody>
          <a:bodyPr wrap="square" lIns="0" tIns="0" rIns="0" bIns="0" rtlCol="0" anchor="ctr"/>
          <a:lstStyle/>
          <a:p>
            <a:pPr indent="0" marL="0">
              <a:buNone/>
            </a:pPr>
            <a:r>
              <a:rPr lang="en-US" sz="1150" dirty="0">
                <a:solidFill>
                  <a:srgbClr val="C0B4AC"/>
                </a:solidFill>
                <a:latin typeface="Calibri" pitchFamily="34" charset="0"/>
                <a:ea typeface="Calibri" pitchFamily="34" charset="-122"/>
                <a:cs typeface="Calibri" pitchFamily="34" charset="-120"/>
              </a:rPr>
              <a:t>wav2vec2 XLS-R-300M: 300 M de parámetros, 25 capas Transformer. Se extrae la capa 14 (1024 dimensiones). No se reentrena.</a:t>
            </a:r>
            <a:endParaRPr lang="en-US" sz="1150" dirty="0"/>
          </a:p>
        </p:txBody>
      </p:sp>
      <p:sp>
        <p:nvSpPr>
          <p:cNvPr id="10" name="Shape 8"/>
          <p:cNvSpPr/>
          <p:nvPr/>
        </p:nvSpPr>
        <p:spPr>
          <a:xfrm>
            <a:off x="640080" y="3017520"/>
            <a:ext cx="6400800" cy="1060704"/>
          </a:xfrm>
          <a:prstGeom prst="roundRect">
            <a:avLst>
              <a:gd name="adj" fmla="val 6897"/>
            </a:avLst>
          </a:prstGeom>
          <a:solidFill>
            <a:srgbClr val="3A2D26"/>
          </a:solidFill>
          <a:ln/>
          <a:effectLst>
            <a:outerShdw sx="100000" sy="100000" kx="0" ky="0" algn="bl" rotWithShape="0" blurRad="127000" dist="635" dir="5400000">
              <a:srgbClr val="000000">
                <a:alpha val="18000"/>
              </a:srgbClr>
            </a:outerShdw>
          </a:effectLst>
        </p:spPr>
      </p:sp>
      <p:sp>
        <p:nvSpPr>
          <p:cNvPr id="11" name="Shape 9"/>
          <p:cNvSpPr/>
          <p:nvPr/>
        </p:nvSpPr>
        <p:spPr>
          <a:xfrm>
            <a:off x="868680" y="3310128"/>
            <a:ext cx="475488" cy="475488"/>
          </a:xfrm>
          <a:prstGeom prst="ellipse">
            <a:avLst/>
          </a:prstGeom>
          <a:solidFill>
            <a:srgbClr val="B85042"/>
          </a:solidFill>
          <a:ln/>
        </p:spPr>
      </p:sp>
      <p:sp>
        <p:nvSpPr>
          <p:cNvPr id="12" name="Text 10"/>
          <p:cNvSpPr/>
          <p:nvPr/>
        </p:nvSpPr>
        <p:spPr>
          <a:xfrm>
            <a:off x="868680" y="3310128"/>
            <a:ext cx="475488" cy="475488"/>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3" name="Text 11"/>
          <p:cNvSpPr/>
          <p:nvPr/>
        </p:nvSpPr>
        <p:spPr>
          <a:xfrm>
            <a:off x="1481328" y="3136392"/>
            <a:ext cx="5394960" cy="310896"/>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Cabeza de proyección</a:t>
            </a:r>
            <a:endParaRPr lang="en-US" sz="1600" dirty="0"/>
          </a:p>
        </p:txBody>
      </p:sp>
      <p:sp>
        <p:nvSpPr>
          <p:cNvPr id="14" name="Text 12"/>
          <p:cNvSpPr/>
          <p:nvPr/>
        </p:nvSpPr>
        <p:spPr>
          <a:xfrm>
            <a:off x="1481328" y="3447288"/>
            <a:ext cx="5349240" cy="585216"/>
          </a:xfrm>
          <a:prstGeom prst="rect">
            <a:avLst/>
          </a:prstGeom>
          <a:noFill/>
          <a:ln/>
        </p:spPr>
        <p:txBody>
          <a:bodyPr wrap="square" lIns="0" tIns="0" rIns="0" bIns="0" rtlCol="0" anchor="ctr"/>
          <a:lstStyle/>
          <a:p>
            <a:pPr indent="0" marL="0">
              <a:buNone/>
            </a:pPr>
            <a:r>
              <a:rPr lang="en-US" sz="1150" dirty="0">
                <a:solidFill>
                  <a:srgbClr val="C0B4AC"/>
                </a:solidFill>
                <a:latin typeface="Calibri" pitchFamily="34" charset="0"/>
                <a:ea typeface="Calibri" pitchFamily="34" charset="-122"/>
                <a:cs typeface="Calibri" pitchFamily="34" charset="-120"/>
              </a:rPr>
              <a:t>Único componente entrenado con audio mazahua. LayerNorm · Linear(256) · GELU · Dropout(0.1) · Linear(128) · normalización L2. 1.2 MB.</a:t>
            </a:r>
            <a:endParaRPr lang="en-US" sz="1150" dirty="0"/>
          </a:p>
        </p:txBody>
      </p:sp>
      <p:sp>
        <p:nvSpPr>
          <p:cNvPr id="15" name="Shape 13"/>
          <p:cNvSpPr/>
          <p:nvPr/>
        </p:nvSpPr>
        <p:spPr>
          <a:xfrm>
            <a:off x="640080" y="4224528"/>
            <a:ext cx="6400800" cy="1060704"/>
          </a:xfrm>
          <a:prstGeom prst="roundRect">
            <a:avLst>
              <a:gd name="adj" fmla="val 6897"/>
            </a:avLst>
          </a:prstGeom>
          <a:solidFill>
            <a:srgbClr val="3A2D26"/>
          </a:solidFill>
          <a:ln/>
          <a:effectLst>
            <a:outerShdw sx="100000" sy="100000" kx="0" ky="0" algn="bl" rotWithShape="0" blurRad="127000" dist="635" dir="5400000">
              <a:srgbClr val="000000">
                <a:alpha val="18000"/>
              </a:srgbClr>
            </a:outerShdw>
          </a:effectLst>
        </p:spPr>
      </p:sp>
      <p:sp>
        <p:nvSpPr>
          <p:cNvPr id="16" name="Shape 14"/>
          <p:cNvSpPr/>
          <p:nvPr/>
        </p:nvSpPr>
        <p:spPr>
          <a:xfrm>
            <a:off x="868680" y="4517136"/>
            <a:ext cx="475488" cy="475488"/>
          </a:xfrm>
          <a:prstGeom prst="ellipse">
            <a:avLst/>
          </a:prstGeom>
          <a:solidFill>
            <a:srgbClr val="B85042"/>
          </a:solidFill>
          <a:ln/>
        </p:spPr>
      </p:sp>
      <p:sp>
        <p:nvSpPr>
          <p:cNvPr id="17" name="Text 15"/>
          <p:cNvSpPr/>
          <p:nvPr/>
        </p:nvSpPr>
        <p:spPr>
          <a:xfrm>
            <a:off x="868680" y="4517136"/>
            <a:ext cx="475488" cy="475488"/>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18" name="Text 16"/>
          <p:cNvSpPr/>
          <p:nvPr/>
        </p:nvSpPr>
        <p:spPr>
          <a:xfrm>
            <a:off x="1481328" y="4343400"/>
            <a:ext cx="5394960" cy="310896"/>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Regla de decisión</a:t>
            </a:r>
            <a:endParaRPr lang="en-US" sz="1600" dirty="0"/>
          </a:p>
        </p:txBody>
      </p:sp>
      <p:sp>
        <p:nvSpPr>
          <p:cNvPr id="19" name="Text 17"/>
          <p:cNvSpPr/>
          <p:nvPr/>
        </p:nvSpPr>
        <p:spPr>
          <a:xfrm>
            <a:off x="1481328" y="4654296"/>
            <a:ext cx="5349240" cy="585216"/>
          </a:xfrm>
          <a:prstGeom prst="rect">
            <a:avLst/>
          </a:prstGeom>
          <a:noFill/>
          <a:ln/>
        </p:spPr>
        <p:txBody>
          <a:bodyPr wrap="square" lIns="0" tIns="0" rIns="0" bIns="0" rtlCol="0" anchor="ctr"/>
          <a:lstStyle/>
          <a:p>
            <a:pPr indent="0" marL="0">
              <a:buNone/>
            </a:pPr>
            <a:r>
              <a:rPr lang="en-US" sz="1150" dirty="0">
                <a:solidFill>
                  <a:srgbClr val="C0B4AC"/>
                </a:solidFill>
                <a:latin typeface="Calibri" pitchFamily="34" charset="0"/>
                <a:ea typeface="Calibri" pitchFamily="34" charset="-122"/>
                <a:cs typeface="Calibri" pitchFamily="34" charset="-120"/>
              </a:rPr>
              <a:t>distancia = 1 − v · prototipo. Se acepta si la distancia es menor o igual a 0.2406. No interviene softmax en inferencia.</a:t>
            </a:r>
            <a:endParaRPr lang="en-US" sz="1150" dirty="0"/>
          </a:p>
        </p:txBody>
      </p:sp>
      <p:sp>
        <p:nvSpPr>
          <p:cNvPr id="20" name="Shape 18"/>
          <p:cNvSpPr/>
          <p:nvPr/>
        </p:nvSpPr>
        <p:spPr>
          <a:xfrm>
            <a:off x="7315200" y="1810512"/>
            <a:ext cx="4206240" cy="2194560"/>
          </a:xfrm>
          <a:prstGeom prst="roundRect">
            <a:avLst>
              <a:gd name="adj" fmla="val 3333"/>
            </a:avLst>
          </a:prstGeom>
          <a:solidFill>
            <a:srgbClr val="B85042"/>
          </a:solidFill>
          <a:ln/>
          <a:effectLst>
            <a:outerShdw sx="100000" sy="100000" kx="0" ky="0" algn="bl" rotWithShape="0" blurRad="127000" dist="635" dir="5400000">
              <a:srgbClr val="000000">
                <a:alpha val="18000"/>
              </a:srgbClr>
            </a:outerShdw>
          </a:effectLst>
        </p:spPr>
      </p:sp>
      <p:sp>
        <p:nvSpPr>
          <p:cNvPr id="21" name="Text 19"/>
          <p:cNvSpPr/>
          <p:nvPr/>
        </p:nvSpPr>
        <p:spPr>
          <a:xfrm>
            <a:off x="7589520" y="1956816"/>
            <a:ext cx="3657600" cy="310896"/>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AM-Softmax</a:t>
            </a:r>
            <a:endParaRPr lang="en-US" sz="1900" dirty="0"/>
          </a:p>
        </p:txBody>
      </p:sp>
      <p:sp>
        <p:nvSpPr>
          <p:cNvPr id="22" name="Text 20"/>
          <p:cNvSpPr/>
          <p:nvPr/>
        </p:nvSpPr>
        <p:spPr>
          <a:xfrm>
            <a:off x="7589520" y="2258568"/>
            <a:ext cx="3703320" cy="237744"/>
          </a:xfrm>
          <a:prstGeom prst="rect">
            <a:avLst/>
          </a:prstGeom>
          <a:noFill/>
          <a:ln/>
        </p:spPr>
        <p:txBody>
          <a:bodyPr wrap="square" lIns="0" tIns="0" rIns="0" bIns="0" rtlCol="0" anchor="ctr"/>
          <a:lstStyle/>
          <a:p>
            <a:pPr indent="0" marL="0">
              <a:buNone/>
            </a:pPr>
            <a:r>
              <a:rPr lang="en-US" sz="1050" i="1" dirty="0">
                <a:solidFill>
                  <a:srgbClr val="F6D9D4"/>
                </a:solidFill>
                <a:latin typeface="Calibri" pitchFamily="34" charset="0"/>
                <a:ea typeface="Calibri" pitchFamily="34" charset="-122"/>
                <a:cs typeface="Calibri" pitchFamily="34" charset="-120"/>
              </a:rPr>
              <a:t>función de pérdida en entrenamiento</a:t>
            </a:r>
            <a:endParaRPr lang="en-US" sz="1050" dirty="0"/>
          </a:p>
        </p:txBody>
      </p:sp>
      <p:sp>
        <p:nvSpPr>
          <p:cNvPr id="23" name="Text 21"/>
          <p:cNvSpPr/>
          <p:nvPr/>
        </p:nvSpPr>
        <p:spPr>
          <a:xfrm>
            <a:off x="7589520" y="2560320"/>
            <a:ext cx="3703320" cy="1353312"/>
          </a:xfrm>
          <a:prstGeom prst="rect">
            <a:avLst/>
          </a:prstGeom>
          <a:noFill/>
          <a:ln/>
        </p:spPr>
        <p:txBody>
          <a:bodyPr wrap="square" lIns="0" tIns="0" rIns="0" bIns="0" rtlCol="0" anchor="ctr"/>
          <a:lstStyle/>
          <a:p>
            <a:pPr marL="342900" indent="-3429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Escala s = 30, margen aditivo m = 0.35.</a:t>
            </a:r>
            <a:endParaRPr lang="en-US" sz="1150" dirty="0"/>
          </a:p>
          <a:p>
            <a:pPr marL="342900" indent="-3429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El margen exige separación explícita respecto de la clase más próxima.</a:t>
            </a:r>
            <a:endParaRPr lang="en-US" sz="1150" dirty="0"/>
          </a:p>
          <a:p>
            <a:pPr marL="342900" indent="-3429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Produce clases compactas y separadas.</a:t>
            </a:r>
            <a:endParaRPr lang="en-US" sz="1150" dirty="0"/>
          </a:p>
        </p:txBody>
      </p:sp>
      <p:sp>
        <p:nvSpPr>
          <p:cNvPr id="24" name="Shape 22"/>
          <p:cNvSpPr/>
          <p:nvPr/>
        </p:nvSpPr>
        <p:spPr>
          <a:xfrm>
            <a:off x="7315200" y="4169664"/>
            <a:ext cx="4206240" cy="2194560"/>
          </a:xfrm>
          <a:prstGeom prst="roundRect">
            <a:avLst>
              <a:gd name="adj" fmla="val 3333"/>
            </a:avLst>
          </a:prstGeom>
          <a:solidFill>
            <a:srgbClr val="3A2D26"/>
          </a:solidFill>
          <a:ln/>
          <a:effectLst>
            <a:outerShdw sx="100000" sy="100000" kx="0" ky="0" algn="bl" rotWithShape="0" blurRad="127000" dist="635" dir="5400000">
              <a:srgbClr val="000000">
                <a:alpha val="18000"/>
              </a:srgbClr>
            </a:outerShdw>
          </a:effectLst>
        </p:spPr>
      </p:sp>
      <p:sp>
        <p:nvSpPr>
          <p:cNvPr id="25" name="Text 23"/>
          <p:cNvSpPr/>
          <p:nvPr/>
        </p:nvSpPr>
        <p:spPr>
          <a:xfrm>
            <a:off x="7589520" y="4315968"/>
            <a:ext cx="3657600" cy="310896"/>
          </a:xfrm>
          <a:prstGeom prst="rect">
            <a:avLst/>
          </a:prstGeom>
          <a:noFill/>
          <a:ln/>
        </p:spPr>
        <p:txBody>
          <a:bodyPr wrap="square" lIns="0" tIns="0" rIns="0" bIns="0" rtlCol="0" anchor="ctr"/>
          <a:lstStyle/>
          <a:p>
            <a:pPr indent="0" marL="0">
              <a:buNone/>
            </a:pPr>
            <a:r>
              <a:rPr lang="en-US" sz="1900" b="1" dirty="0">
                <a:solidFill>
                  <a:srgbClr val="6E8F7D"/>
                </a:solidFill>
                <a:latin typeface="Calibri" pitchFamily="34" charset="0"/>
                <a:ea typeface="Calibri" pitchFamily="34" charset="-122"/>
                <a:cs typeface="Calibri" pitchFamily="34" charset="-120"/>
              </a:rPr>
              <a:t>Distancia coseno</a:t>
            </a:r>
            <a:endParaRPr lang="en-US" sz="1900" dirty="0"/>
          </a:p>
        </p:txBody>
      </p:sp>
      <p:sp>
        <p:nvSpPr>
          <p:cNvPr id="26" name="Text 24"/>
          <p:cNvSpPr/>
          <p:nvPr/>
        </p:nvSpPr>
        <p:spPr>
          <a:xfrm>
            <a:off x="7589520" y="4617720"/>
            <a:ext cx="3703320" cy="237744"/>
          </a:xfrm>
          <a:prstGeom prst="rect">
            <a:avLst/>
          </a:prstGeom>
          <a:noFill/>
          <a:ln/>
        </p:spPr>
        <p:txBody>
          <a:bodyPr wrap="square" lIns="0" tIns="0" rIns="0" bIns="0" rtlCol="0" anchor="ctr"/>
          <a:lstStyle/>
          <a:p>
            <a:pPr indent="0" marL="0">
              <a:buNone/>
            </a:pPr>
            <a:r>
              <a:rPr lang="en-US" sz="1050" i="1" dirty="0">
                <a:solidFill>
                  <a:srgbClr val="9AA79E"/>
                </a:solidFill>
                <a:latin typeface="Calibri" pitchFamily="34" charset="0"/>
                <a:ea typeface="Calibri" pitchFamily="34" charset="-122"/>
                <a:cs typeface="Calibri" pitchFamily="34" charset="-120"/>
              </a:rPr>
              <a:t>criterio de decisión en inferencia</a:t>
            </a:r>
            <a:endParaRPr lang="en-US" sz="1050" dirty="0"/>
          </a:p>
        </p:txBody>
      </p:sp>
      <p:sp>
        <p:nvSpPr>
          <p:cNvPr id="27" name="Text 25"/>
          <p:cNvSpPr/>
          <p:nvPr/>
        </p:nvSpPr>
        <p:spPr>
          <a:xfrm>
            <a:off x="7589520" y="4919472"/>
            <a:ext cx="3703320" cy="1353312"/>
          </a:xfrm>
          <a:prstGeom prst="rect">
            <a:avLst/>
          </a:prstGeom>
          <a:noFill/>
          <a:ln/>
        </p:spPr>
        <p:txBody>
          <a:bodyPr wrap="square" lIns="0" tIns="0" rIns="0" bIns="0" rtlCol="0" anchor="ctr"/>
          <a:lstStyle/>
          <a:p>
            <a:pPr marL="342900" indent="-342900">
              <a:spcAft>
                <a:spcPts val="500"/>
              </a:spcAft>
              <a:buSzPct val="100000"/>
              <a:buChar char="•"/>
            </a:pPr>
            <a:r>
              <a:rPr lang="en-US" sz="1150" dirty="0">
                <a:solidFill>
                  <a:srgbClr val="D8CFC8"/>
                </a:solidFill>
                <a:latin typeface="Calibri" pitchFamily="34" charset="0"/>
                <a:ea typeface="Calibri" pitchFamily="34" charset="-122"/>
                <a:cs typeface="Calibri" pitchFamily="34" charset="-120"/>
              </a:rPr>
              <a:t>Vectores L2-normalizados: solo interviene la dirección.</a:t>
            </a:r>
            <a:endParaRPr lang="en-US" sz="1150" dirty="0"/>
          </a:p>
          <a:p>
            <a:pPr marL="342900" indent="-342900">
              <a:spcAft>
                <a:spcPts val="500"/>
              </a:spcAft>
              <a:buSzPct val="100000"/>
              <a:buChar char="•"/>
            </a:pPr>
            <a:r>
              <a:rPr lang="en-US" sz="1150" dirty="0">
                <a:solidFill>
                  <a:srgbClr val="D8CFC8"/>
                </a:solidFill>
                <a:latin typeface="Calibri" pitchFamily="34" charset="0"/>
                <a:ea typeface="Calibri" pitchFamily="34" charset="-122"/>
                <a:cs typeface="Calibri" pitchFamily="34" charset="-120"/>
              </a:rPr>
              <a:t>El volumen y el timbre del hablante quedan excluidos de la medida.</a:t>
            </a:r>
            <a:endParaRPr lang="en-US" sz="1150" dirty="0"/>
          </a:p>
          <a:p>
            <a:pPr marL="342900" indent="-342900">
              <a:spcAft>
                <a:spcPts val="500"/>
              </a:spcAft>
              <a:buSzPct val="100000"/>
              <a:buChar char="•"/>
            </a:pPr>
            <a:r>
              <a:rPr lang="en-US" sz="1150" dirty="0">
                <a:solidFill>
                  <a:srgbClr val="D8CFC8"/>
                </a:solidFill>
                <a:latin typeface="Calibri" pitchFamily="34" charset="0"/>
                <a:ea typeface="Calibri" pitchFamily="34" charset="-122"/>
                <a:cs typeface="Calibri" pitchFamily="34" charset="-120"/>
              </a:rPr>
              <a:t>Prototipos aprendidos frente a centroides: +0.8 puntos de top-1.</a:t>
            </a:r>
            <a:endParaRPr lang="en-US" sz="1150" dirty="0"/>
          </a:p>
        </p:txBody>
      </p:sp>
      <p:sp>
        <p:nvSpPr>
          <p:cNvPr id="28" name="Text 26"/>
          <p:cNvSpPr/>
          <p:nvPr/>
        </p:nvSpPr>
        <p:spPr>
          <a:xfrm>
            <a:off x="640080" y="5797296"/>
            <a:ext cx="6400800" cy="502920"/>
          </a:xfrm>
          <a:prstGeom prst="rect">
            <a:avLst/>
          </a:prstGeom>
          <a:noFill/>
          <a:ln/>
        </p:spPr>
        <p:txBody>
          <a:bodyPr wrap="square" lIns="0" tIns="0" rIns="0" bIns="0" rtlCol="0" anchor="ctr"/>
          <a:lstStyle/>
          <a:p>
            <a:pPr indent="0" marL="0">
              <a:buNone/>
            </a:pPr>
            <a:r>
              <a:rPr lang="en-US" sz="1100" dirty="0">
                <a:solidFill>
                  <a:srgbClr val="6E8F7D"/>
                </a:solidFill>
                <a:latin typeface="Calibri" pitchFamily="34" charset="0"/>
                <a:ea typeface="Calibri" pitchFamily="34" charset="-122"/>
                <a:cs typeface="Calibri" pitchFamily="34" charset="-120"/>
              </a:rPr>
              <a:t>Despliegue:  ONNX cuantizado a int8, 191 MB  ·  entrada de forma de onda sin espectrogramas  ·  ejecución local en el dispositivo</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EFE4"/>
        </a:solidFill>
      </p:bgPr>
    </p:bg>
    <p:spTree>
      <p:nvGrpSpPr>
        <p:cNvPr id="1" name=""/>
        <p:cNvGrpSpPr/>
        <p:nvPr/>
      </p:nvGrpSpPr>
      <p:grpSpPr>
        <a:xfrm>
          <a:off x="0" y="0"/>
          <a:ext cx="0" cy="0"/>
          <a:chOff x="0" y="0"/>
          <a:chExt cx="0" cy="0"/>
        </a:xfrm>
      </p:grpSpPr>
      <p:sp>
        <p:nvSpPr>
          <p:cNvPr id="2" name="Text 0"/>
          <p:cNvSpPr/>
          <p:nvPr/>
        </p:nvSpPr>
        <p:spPr>
          <a:xfrm>
            <a:off x="658368" y="164592"/>
            <a:ext cx="10881360" cy="274320"/>
          </a:xfrm>
          <a:prstGeom prst="rect">
            <a:avLst/>
          </a:prstGeom>
          <a:noFill/>
          <a:ln/>
        </p:spPr>
        <p:txBody>
          <a:bodyPr wrap="square" lIns="0" tIns="0" rIns="0" bIns="0" rtlCol="0" anchor="ctr"/>
          <a:lstStyle/>
          <a:p>
            <a:pPr indent="0" marL="0">
              <a:buNone/>
            </a:pPr>
            <a:r>
              <a:rPr lang="en-US" sz="1100" b="1" spc="200" kern="0" dirty="0">
                <a:solidFill>
                  <a:srgbClr val="B85042"/>
                </a:solidFill>
                <a:latin typeface="Calibri" pitchFamily="34" charset="0"/>
                <a:ea typeface="Calibri" pitchFamily="34" charset="-122"/>
                <a:cs typeface="Calibri" pitchFamily="34" charset="-120"/>
              </a:rPr>
              <a:t>EL MODELO · 2 DE 3</a:t>
            </a:r>
            <a:endParaRPr lang="en-US" sz="1100" dirty="0"/>
          </a:p>
        </p:txBody>
      </p:sp>
      <p:sp>
        <p:nvSpPr>
          <p:cNvPr id="3" name="Text 1"/>
          <p:cNvSpPr/>
          <p:nvPr/>
        </p:nvSpPr>
        <p:spPr>
          <a:xfrm>
            <a:off x="640080" y="402336"/>
            <a:ext cx="10881360" cy="713232"/>
          </a:xfrm>
          <a:prstGeom prst="rect">
            <a:avLst/>
          </a:prstGeom>
          <a:noFill/>
          <a:ln/>
        </p:spPr>
        <p:txBody>
          <a:bodyPr wrap="square" lIns="0" tIns="0" rIns="0" bIns="0" rtlCol="0" anchor="ctr"/>
          <a:lstStyle/>
          <a:p>
            <a:pPr indent="0" marL="0">
              <a:buNone/>
            </a:pPr>
            <a:r>
              <a:rPr lang="en-US" sz="3400" b="1" dirty="0">
                <a:solidFill>
                  <a:srgbClr val="241C18"/>
                </a:solidFill>
                <a:latin typeface="Calibri" pitchFamily="34" charset="0"/>
                <a:ea typeface="Calibri" pitchFamily="34" charset="-122"/>
                <a:cs typeface="Calibri" pitchFamily="34" charset="-120"/>
              </a:rPr>
              <a:t>Resultados: identificación de palabra</a:t>
            </a:r>
            <a:endParaRPr lang="en-US" sz="3400" dirty="0"/>
          </a:p>
        </p:txBody>
      </p:sp>
      <p:sp>
        <p:nvSpPr>
          <p:cNvPr id="4" name="Shape 2"/>
          <p:cNvSpPr/>
          <p:nvPr/>
        </p:nvSpPr>
        <p:spPr>
          <a:xfrm>
            <a:off x="640080" y="1325880"/>
            <a:ext cx="3246120" cy="1965960"/>
          </a:xfrm>
          <a:prstGeom prst="roundRect">
            <a:avLst>
              <a:gd name="adj" fmla="val 3721"/>
            </a:avLst>
          </a:prstGeom>
          <a:solidFill>
            <a:srgbClr val="B85042"/>
          </a:solidFill>
          <a:ln/>
          <a:effectLst>
            <a:outerShdw sx="100000" sy="100000" kx="0" ky="0" algn="bl" rotWithShape="0" blurRad="127000" dist="635" dir="5400000">
              <a:srgbClr val="000000">
                <a:alpha val="18000"/>
              </a:srgbClr>
            </a:outerShdw>
          </a:effectLst>
        </p:spPr>
      </p:sp>
      <p:sp>
        <p:nvSpPr>
          <p:cNvPr id="5" name="Text 3"/>
          <p:cNvSpPr/>
          <p:nvPr/>
        </p:nvSpPr>
        <p:spPr>
          <a:xfrm>
            <a:off x="640080" y="1517904"/>
            <a:ext cx="3246120" cy="914400"/>
          </a:xfrm>
          <a:prstGeom prst="rect">
            <a:avLst/>
          </a:prstGeom>
          <a:noFill/>
          <a:ln/>
        </p:spPr>
        <p:txBody>
          <a:bodyPr wrap="square" lIns="0" tIns="0" rIns="0" bIns="0" rtlCol="0" anchor="ctr"/>
          <a:lstStyle/>
          <a:p>
            <a:pPr algn="ctr" indent="0" marL="0">
              <a:buNone/>
            </a:pPr>
            <a:r>
              <a:rPr lang="en-US" sz="5400" b="1" dirty="0">
                <a:solidFill>
                  <a:srgbClr val="FFFFFF"/>
                </a:solidFill>
                <a:latin typeface="Calibri" pitchFamily="34" charset="0"/>
                <a:ea typeface="Calibri" pitchFamily="34" charset="-122"/>
                <a:cs typeface="Calibri" pitchFamily="34" charset="-120"/>
              </a:rPr>
              <a:t>98.5 %</a:t>
            </a:r>
            <a:endParaRPr lang="en-US" sz="5400" dirty="0"/>
          </a:p>
        </p:txBody>
      </p:sp>
      <p:sp>
        <p:nvSpPr>
          <p:cNvPr id="6" name="Text 4"/>
          <p:cNvSpPr/>
          <p:nvPr/>
        </p:nvSpPr>
        <p:spPr>
          <a:xfrm>
            <a:off x="640080" y="2505456"/>
            <a:ext cx="3246120" cy="640080"/>
          </a:xfrm>
          <a:prstGeom prst="rect">
            <a:avLst/>
          </a:prstGeom>
          <a:noFill/>
          <a:ln/>
        </p:spPr>
        <p:txBody>
          <a:bodyPr wrap="square" lIns="0" tIns="0" rIns="0" bIns="0" rtlCol="0" anchor="ctr"/>
          <a:lstStyle/>
          <a:p>
            <a:pPr algn="ctr" indent="0" marL="0">
              <a:buNone/>
            </a:pPr>
            <a:r>
              <a:rPr lang="en-US" sz="1200" dirty="0">
                <a:solidFill>
                  <a:srgbClr val="F6D9D4"/>
                </a:solidFill>
                <a:latin typeface="Calibri" pitchFamily="34" charset="0"/>
                <a:ea typeface="Calibri" pitchFamily="34" charset="-122"/>
                <a:cs typeface="Calibri" pitchFamily="34" charset="-120"/>
              </a:rPr>
              <a:t>acierto top-1 sobre un hablante</a:t>
            </a:r>
            <a:endParaRPr lang="en-US" sz="1200" dirty="0"/>
          </a:p>
          <a:p>
            <a:pPr algn="ctr" indent="0" marL="0">
              <a:buNone/>
            </a:pPr>
            <a:r>
              <a:rPr lang="en-US" sz="1200" dirty="0">
                <a:solidFill>
                  <a:srgbClr val="F6D9D4"/>
                </a:solidFill>
                <a:latin typeface="Calibri" pitchFamily="34" charset="0"/>
                <a:ea typeface="Calibri" pitchFamily="34" charset="-122"/>
                <a:cs typeface="Calibri" pitchFamily="34" charset="-120"/>
              </a:rPr>
              <a:t>no visto en entrenamiento</a:t>
            </a:r>
            <a:endParaRPr lang="en-US" sz="1200" dirty="0"/>
          </a:p>
        </p:txBody>
      </p:sp>
      <p:sp>
        <p:nvSpPr>
          <p:cNvPr id="7" name="Shape 5"/>
          <p:cNvSpPr/>
          <p:nvPr/>
        </p:nvSpPr>
        <p:spPr>
          <a:xfrm>
            <a:off x="640080" y="3456432"/>
            <a:ext cx="3246120" cy="676656"/>
          </a:xfrm>
          <a:prstGeom prst="roundRect">
            <a:avLst>
              <a:gd name="adj" fmla="val 10811"/>
            </a:avLst>
          </a:prstGeom>
          <a:solidFill>
            <a:srgbClr val="FFFFFF"/>
          </a:solidFill>
          <a:ln/>
          <a:effectLst>
            <a:outerShdw sx="100000" sy="100000" kx="0" ky="0" algn="bl" rotWithShape="0" blurRad="127000" dist="635" dir="5400000">
              <a:srgbClr val="000000">
                <a:alpha val="18000"/>
              </a:srgbClr>
            </a:outerShdw>
          </a:effectLst>
        </p:spPr>
      </p:sp>
      <p:sp>
        <p:nvSpPr>
          <p:cNvPr id="8" name="Text 6"/>
          <p:cNvSpPr/>
          <p:nvPr/>
        </p:nvSpPr>
        <p:spPr>
          <a:xfrm>
            <a:off x="868680" y="3529584"/>
            <a:ext cx="1188720" cy="530352"/>
          </a:xfrm>
          <a:prstGeom prst="rect">
            <a:avLst/>
          </a:prstGeom>
          <a:noFill/>
          <a:ln/>
        </p:spPr>
        <p:txBody>
          <a:bodyPr wrap="square" lIns="0" tIns="0" rIns="0" bIns="0" rtlCol="0" anchor="ctr"/>
          <a:lstStyle/>
          <a:p>
            <a:pPr indent="0" marL="0">
              <a:buNone/>
            </a:pPr>
            <a:r>
              <a:rPr lang="en-US" sz="2100" b="1" dirty="0">
                <a:solidFill>
                  <a:srgbClr val="B85042"/>
                </a:solidFill>
                <a:latin typeface="Calibri" pitchFamily="34" charset="0"/>
                <a:ea typeface="Calibri" pitchFamily="34" charset="-122"/>
                <a:cs typeface="Calibri" pitchFamily="34" charset="-120"/>
              </a:rPr>
              <a:t>99.8 %</a:t>
            </a:r>
            <a:endParaRPr lang="en-US" sz="2100" dirty="0"/>
          </a:p>
        </p:txBody>
      </p:sp>
      <p:sp>
        <p:nvSpPr>
          <p:cNvPr id="9" name="Text 7"/>
          <p:cNvSpPr/>
          <p:nvPr/>
        </p:nvSpPr>
        <p:spPr>
          <a:xfrm>
            <a:off x="2057400" y="3529584"/>
            <a:ext cx="1691640" cy="530352"/>
          </a:xfrm>
          <a:prstGeom prst="rect">
            <a:avLst/>
          </a:prstGeom>
          <a:noFill/>
          <a:ln/>
        </p:spPr>
        <p:txBody>
          <a:bodyPr wrap="square" lIns="0" tIns="0" rIns="0" bIns="0" rtlCol="0" anchor="ctr"/>
          <a:lstStyle/>
          <a:p>
            <a:pPr indent="0" marL="0">
              <a:buNone/>
            </a:pPr>
            <a:r>
              <a:rPr lang="en-US" sz="1100" dirty="0">
                <a:solidFill>
                  <a:srgbClr val="6B615B"/>
                </a:solidFill>
                <a:latin typeface="Calibri" pitchFamily="34" charset="0"/>
                <a:ea typeface="Calibri" pitchFamily="34" charset="-122"/>
                <a:cs typeface="Calibri" pitchFamily="34" charset="-120"/>
              </a:rPr>
              <a:t>acierto top-3</a:t>
            </a:r>
            <a:endParaRPr lang="en-US" sz="1100" dirty="0"/>
          </a:p>
        </p:txBody>
      </p:sp>
      <p:sp>
        <p:nvSpPr>
          <p:cNvPr id="10" name="Shape 8"/>
          <p:cNvSpPr/>
          <p:nvPr/>
        </p:nvSpPr>
        <p:spPr>
          <a:xfrm>
            <a:off x="640080" y="4242816"/>
            <a:ext cx="3246120" cy="676656"/>
          </a:xfrm>
          <a:prstGeom prst="roundRect">
            <a:avLst>
              <a:gd name="adj" fmla="val 10811"/>
            </a:avLst>
          </a:prstGeom>
          <a:solidFill>
            <a:srgbClr val="FFFFFF"/>
          </a:solidFill>
          <a:ln/>
          <a:effectLst>
            <a:outerShdw sx="100000" sy="100000" kx="0" ky="0" algn="bl" rotWithShape="0" blurRad="127000" dist="635" dir="5400000">
              <a:srgbClr val="000000">
                <a:alpha val="18000"/>
              </a:srgbClr>
            </a:outerShdw>
          </a:effectLst>
        </p:spPr>
      </p:sp>
      <p:sp>
        <p:nvSpPr>
          <p:cNvPr id="11" name="Text 9"/>
          <p:cNvSpPr/>
          <p:nvPr/>
        </p:nvSpPr>
        <p:spPr>
          <a:xfrm>
            <a:off x="868680" y="4315968"/>
            <a:ext cx="1188720" cy="530352"/>
          </a:xfrm>
          <a:prstGeom prst="rect">
            <a:avLst/>
          </a:prstGeom>
          <a:noFill/>
          <a:ln/>
        </p:spPr>
        <p:txBody>
          <a:bodyPr wrap="square" lIns="0" tIns="0" rIns="0" bIns="0" rtlCol="0" anchor="ctr"/>
          <a:lstStyle/>
          <a:p>
            <a:pPr indent="0" marL="0">
              <a:buNone/>
            </a:pPr>
            <a:r>
              <a:rPr lang="en-US" sz="2100" b="1" dirty="0">
                <a:solidFill>
                  <a:srgbClr val="B85042"/>
                </a:solidFill>
                <a:latin typeface="Calibri" pitchFamily="34" charset="0"/>
                <a:ea typeface="Calibri" pitchFamily="34" charset="-122"/>
                <a:cs typeface="Calibri" pitchFamily="34" charset="-120"/>
              </a:rPr>
              <a:t>0.44 %</a:t>
            </a:r>
            <a:endParaRPr lang="en-US" sz="2100" dirty="0"/>
          </a:p>
        </p:txBody>
      </p:sp>
      <p:sp>
        <p:nvSpPr>
          <p:cNvPr id="12" name="Text 10"/>
          <p:cNvSpPr/>
          <p:nvPr/>
        </p:nvSpPr>
        <p:spPr>
          <a:xfrm>
            <a:off x="2057400" y="4315968"/>
            <a:ext cx="1691640" cy="530352"/>
          </a:xfrm>
          <a:prstGeom prst="rect">
            <a:avLst/>
          </a:prstGeom>
          <a:noFill/>
          <a:ln/>
        </p:spPr>
        <p:txBody>
          <a:bodyPr wrap="square" lIns="0" tIns="0" rIns="0" bIns="0" rtlCol="0" anchor="ctr"/>
          <a:lstStyle/>
          <a:p>
            <a:pPr indent="0" marL="0">
              <a:buNone/>
            </a:pPr>
            <a:r>
              <a:rPr lang="en-US" sz="1100" dirty="0">
                <a:solidFill>
                  <a:srgbClr val="6B615B"/>
                </a:solidFill>
                <a:latin typeface="Calibri" pitchFamily="34" charset="0"/>
                <a:ea typeface="Calibri" pitchFamily="34" charset="-122"/>
                <a:cs typeface="Calibri" pitchFamily="34" charset="-120"/>
              </a:rPr>
              <a:t>EER de palabra equivocada</a:t>
            </a:r>
            <a:endParaRPr lang="en-US" sz="1100" dirty="0"/>
          </a:p>
        </p:txBody>
      </p:sp>
      <p:sp>
        <p:nvSpPr>
          <p:cNvPr id="13" name="Shape 11"/>
          <p:cNvSpPr/>
          <p:nvPr/>
        </p:nvSpPr>
        <p:spPr>
          <a:xfrm>
            <a:off x="640080" y="5029200"/>
            <a:ext cx="3246120" cy="676656"/>
          </a:xfrm>
          <a:prstGeom prst="roundRect">
            <a:avLst>
              <a:gd name="adj" fmla="val 10811"/>
            </a:avLst>
          </a:prstGeom>
          <a:solidFill>
            <a:srgbClr val="FFFFFF"/>
          </a:solidFill>
          <a:ln/>
          <a:effectLst>
            <a:outerShdw sx="100000" sy="100000" kx="0" ky="0" algn="bl" rotWithShape="0" blurRad="127000" dist="635" dir="5400000">
              <a:srgbClr val="000000">
                <a:alpha val="18000"/>
              </a:srgbClr>
            </a:outerShdw>
          </a:effectLst>
        </p:spPr>
      </p:sp>
      <p:sp>
        <p:nvSpPr>
          <p:cNvPr id="14" name="Text 12"/>
          <p:cNvSpPr/>
          <p:nvPr/>
        </p:nvSpPr>
        <p:spPr>
          <a:xfrm>
            <a:off x="868680" y="5102352"/>
            <a:ext cx="1188720" cy="530352"/>
          </a:xfrm>
          <a:prstGeom prst="rect">
            <a:avLst/>
          </a:prstGeom>
          <a:noFill/>
          <a:ln/>
        </p:spPr>
        <p:txBody>
          <a:bodyPr wrap="square" lIns="0" tIns="0" rIns="0" bIns="0" rtlCol="0" anchor="ctr"/>
          <a:lstStyle/>
          <a:p>
            <a:pPr indent="0" marL="0">
              <a:buNone/>
            </a:pPr>
            <a:r>
              <a:rPr lang="en-US" sz="2100" b="1" dirty="0">
                <a:solidFill>
                  <a:srgbClr val="B85042"/>
                </a:solidFill>
                <a:latin typeface="Calibri" pitchFamily="34" charset="0"/>
                <a:ea typeface="Calibri" pitchFamily="34" charset="-122"/>
                <a:cs typeface="Calibri" pitchFamily="34" charset="-120"/>
              </a:rPr>
              <a:t>43</a:t>
            </a:r>
            <a:endParaRPr lang="en-US" sz="2100" dirty="0"/>
          </a:p>
        </p:txBody>
      </p:sp>
      <p:sp>
        <p:nvSpPr>
          <p:cNvPr id="15" name="Text 13"/>
          <p:cNvSpPr/>
          <p:nvPr/>
        </p:nvSpPr>
        <p:spPr>
          <a:xfrm>
            <a:off x="2057400" y="5102352"/>
            <a:ext cx="1691640" cy="530352"/>
          </a:xfrm>
          <a:prstGeom prst="rect">
            <a:avLst/>
          </a:prstGeom>
          <a:noFill/>
          <a:ln/>
        </p:spPr>
        <p:txBody>
          <a:bodyPr wrap="square" lIns="0" tIns="0" rIns="0" bIns="0" rtlCol="0" anchor="ctr"/>
          <a:lstStyle/>
          <a:p>
            <a:pPr indent="0" marL="0">
              <a:buNone/>
            </a:pPr>
            <a:r>
              <a:rPr lang="en-US" sz="1100" dirty="0">
                <a:solidFill>
                  <a:srgbClr val="6B615B"/>
                </a:solidFill>
                <a:latin typeface="Calibri" pitchFamily="34" charset="0"/>
                <a:ea typeface="Calibri" pitchFamily="34" charset="-122"/>
                <a:cs typeface="Calibri" pitchFamily="34" charset="-120"/>
              </a:rPr>
              <a:t>palabras en el vocabulario</a:t>
            </a:r>
            <a:endParaRPr lang="en-US" sz="1100" dirty="0"/>
          </a:p>
        </p:txBody>
      </p:sp>
      <p:sp>
        <p:nvSpPr>
          <p:cNvPr id="16" name="Shape 14"/>
          <p:cNvSpPr/>
          <p:nvPr/>
        </p:nvSpPr>
        <p:spPr>
          <a:xfrm>
            <a:off x="4206240" y="1325880"/>
            <a:ext cx="4206240" cy="4379976"/>
          </a:xfrm>
          <a:prstGeom prst="roundRect">
            <a:avLst>
              <a:gd name="adj" fmla="val 1739"/>
            </a:avLst>
          </a:prstGeom>
          <a:solidFill>
            <a:srgbClr val="FFFFFF"/>
          </a:solidFill>
          <a:ln/>
          <a:effectLst>
            <a:outerShdw sx="100000" sy="100000" kx="0" ky="0" algn="bl" rotWithShape="0" blurRad="127000" dist="635" dir="5400000">
              <a:srgbClr val="000000">
                <a:alpha val="18000"/>
              </a:srgbClr>
            </a:outerShdw>
          </a:effectLst>
        </p:spPr>
      </p:sp>
      <p:sp>
        <p:nvSpPr>
          <p:cNvPr id="17" name="Text 15"/>
          <p:cNvSpPr/>
          <p:nvPr/>
        </p:nvSpPr>
        <p:spPr>
          <a:xfrm>
            <a:off x="4480560" y="1481328"/>
            <a:ext cx="3657600" cy="310896"/>
          </a:xfrm>
          <a:prstGeom prst="rect">
            <a:avLst/>
          </a:prstGeom>
          <a:noFill/>
          <a:ln/>
        </p:spPr>
        <p:txBody>
          <a:bodyPr wrap="square" lIns="0" tIns="0" rIns="0" bIns="0" rtlCol="0" anchor="ctr"/>
          <a:lstStyle/>
          <a:p>
            <a:pPr indent="0" marL="0">
              <a:buNone/>
            </a:pPr>
            <a:r>
              <a:rPr lang="en-US" sz="1500" b="1" dirty="0">
                <a:solidFill>
                  <a:srgbClr val="241C18"/>
                </a:solidFill>
                <a:latin typeface="Calibri" pitchFamily="34" charset="0"/>
                <a:ea typeface="Calibri" pitchFamily="34" charset="-122"/>
                <a:cs typeface="Calibri" pitchFamily="34" charset="-120"/>
              </a:rPr>
              <a:t>Acierto top-1 por función de pérdida</a:t>
            </a:r>
            <a:endParaRPr lang="en-US" sz="1500" dirty="0"/>
          </a:p>
        </p:txBody>
      </p:sp>
      <p:graphicFrame>
        <p:nvGraphicFramePr>
          <p:cNvPr id="18" name="Chart 0" descr=""/>
          <p:cNvGraphicFramePr/>
          <p:nvPr/>
        </p:nvGraphicFramePr>
        <p:xfrm>
          <a:off x="4315968" y="1828800"/>
          <a:ext cx="3986784" cy="3703320"/>
        </p:xfrm>
        <a:graphic xmlns:a="http://schemas.openxmlformats.org/drawingml/2006/main">
          <a:graphicData uri="http://schemas.openxmlformats.org/drawingml/2006/chart">
            <c:chart xmlns:c="http://schemas.openxmlformats.org/drawingml/2006/chart" r:id="rId1"/>
          </a:graphicData>
        </a:graphic>
      </p:graphicFrame>
      <p:sp>
        <p:nvSpPr>
          <p:cNvPr id="19" name="Shape 16"/>
          <p:cNvSpPr/>
          <p:nvPr/>
        </p:nvSpPr>
        <p:spPr>
          <a:xfrm>
            <a:off x="8732520" y="1325880"/>
            <a:ext cx="2788920" cy="4379976"/>
          </a:xfrm>
          <a:prstGeom prst="roundRect">
            <a:avLst>
              <a:gd name="adj" fmla="val 2623"/>
            </a:avLst>
          </a:prstGeom>
          <a:solidFill>
            <a:srgbClr val="2B211C"/>
          </a:solidFill>
          <a:ln/>
          <a:effectLst>
            <a:outerShdw sx="100000" sy="100000" kx="0" ky="0" algn="bl" rotWithShape="0" blurRad="127000" dist="635" dir="5400000">
              <a:srgbClr val="000000">
                <a:alpha val="18000"/>
              </a:srgbClr>
            </a:outerShdw>
          </a:effectLst>
        </p:spPr>
      </p:sp>
      <p:sp>
        <p:nvSpPr>
          <p:cNvPr id="20" name="Text 17"/>
          <p:cNvSpPr/>
          <p:nvPr/>
        </p:nvSpPr>
        <p:spPr>
          <a:xfrm>
            <a:off x="8979408" y="1481328"/>
            <a:ext cx="2331720" cy="310896"/>
          </a:xfrm>
          <a:prstGeom prst="rect">
            <a:avLst/>
          </a:prstGeom>
          <a:noFill/>
          <a:ln/>
        </p:spPr>
        <p:txBody>
          <a:bodyPr wrap="square" lIns="0" tIns="0" rIns="0" bIns="0" rtlCol="0" anchor="ctr"/>
          <a:lstStyle/>
          <a:p>
            <a:pPr indent="0" marL="0">
              <a:buNone/>
            </a:pPr>
            <a:r>
              <a:rPr lang="en-US" sz="1500" b="1" dirty="0">
                <a:solidFill>
                  <a:srgbClr val="6E8F7D"/>
                </a:solidFill>
                <a:latin typeface="Calibri" pitchFamily="34" charset="0"/>
                <a:ea typeface="Calibri" pitchFamily="34" charset="-122"/>
                <a:cs typeface="Calibri" pitchFamily="34" charset="-120"/>
              </a:rPr>
              <a:t>Protocolo de evaluación</a:t>
            </a:r>
            <a:endParaRPr lang="en-US" sz="1500" dirty="0"/>
          </a:p>
        </p:txBody>
      </p:sp>
      <p:sp>
        <p:nvSpPr>
          <p:cNvPr id="21" name="Text 18"/>
          <p:cNvSpPr/>
          <p:nvPr/>
        </p:nvSpPr>
        <p:spPr>
          <a:xfrm>
            <a:off x="8979408" y="1847088"/>
            <a:ext cx="2331720" cy="3566160"/>
          </a:xfrm>
          <a:prstGeom prst="rect">
            <a:avLst/>
          </a:prstGeom>
          <a:noFill/>
          <a:ln/>
        </p:spPr>
        <p:txBody>
          <a:bodyPr wrap="square" lIns="0" tIns="0" rIns="0" bIns="0" rtlCol="0" anchor="ctr"/>
          <a:lstStyle/>
          <a:p>
            <a:pPr marL="342900" indent="-342900">
              <a:spcAft>
                <a:spcPts val="800"/>
              </a:spcAft>
              <a:buSzPct val="100000"/>
              <a:buChar char="•"/>
            </a:pPr>
            <a:r>
              <a:rPr lang="en-US" sz="1100" dirty="0">
                <a:solidFill>
                  <a:srgbClr val="D8CFC8"/>
                </a:solidFill>
                <a:latin typeface="Calibri" pitchFamily="34" charset="0"/>
                <a:ea typeface="Calibri" pitchFamily="34" charset="-122"/>
                <a:cs typeface="Calibri" pitchFamily="34" charset="-120"/>
              </a:rPr>
              <a:t>Validación cruzada leave-one-child-out con 14 particiones: se evalúa siempre sobre el niño excluido del entrenamiento.</a:t>
            </a:r>
            <a:endParaRPr lang="en-US" sz="1100" dirty="0"/>
          </a:p>
          <a:p>
            <a:pPr marL="342900" indent="-342900">
              <a:spcAft>
                <a:spcPts val="800"/>
              </a:spcAft>
              <a:buSzPct val="100000"/>
              <a:buChar char="•"/>
            </a:pPr>
            <a:r>
              <a:rPr lang="en-US" sz="1100" dirty="0">
                <a:solidFill>
                  <a:srgbClr val="D8CFC8"/>
                </a:solidFill>
                <a:latin typeface="Calibri" pitchFamily="34" charset="0"/>
                <a:ea typeface="Calibri" pitchFamily="34" charset="-122"/>
                <a:cs typeface="Calibri" pitchFamily="34" charset="-120"/>
              </a:rPr>
              <a:t>Dos semillas aleatorias; desviación de 0.001 entre ellas.</a:t>
            </a:r>
            <a:endParaRPr lang="en-US" sz="1100" dirty="0"/>
          </a:p>
          <a:p>
            <a:pPr marL="342900" indent="-342900">
              <a:spcAft>
                <a:spcPts val="800"/>
              </a:spcAft>
              <a:buSzPct val="100000"/>
              <a:buChar char="•"/>
            </a:pPr>
            <a:r>
              <a:rPr lang="en-US" sz="1100" dirty="0">
                <a:solidFill>
                  <a:srgbClr val="D8CFC8"/>
                </a:solidFill>
                <a:latin typeface="Calibri" pitchFamily="34" charset="0"/>
                <a:ea typeface="Calibri" pitchFamily="34" charset="-122"/>
                <a:cs typeface="Calibri" pitchFamily="34" charset="-120"/>
              </a:rPr>
              <a:t>2674 emisiones bien pronunciadas y 3172 mal pronunciadas.</a:t>
            </a:r>
            <a:endParaRPr lang="en-US" sz="1100" dirty="0"/>
          </a:p>
          <a:p>
            <a:pPr marL="342900" indent="-342900">
              <a:spcAft>
                <a:spcPts val="800"/>
              </a:spcAft>
              <a:buSzPct val="100000"/>
              <a:buChar char="•"/>
            </a:pPr>
            <a:r>
              <a:rPr lang="en-US" sz="1100" dirty="0">
                <a:solidFill>
                  <a:srgbClr val="D8CFC8"/>
                </a:solidFill>
                <a:latin typeface="Calibri" pitchFamily="34" charset="0"/>
                <a:ea typeface="Calibri" pitchFamily="34" charset="-122"/>
                <a:cs typeface="Calibri" pitchFamily="34" charset="-120"/>
              </a:rPr>
              <a:t>Tres palabras excluidas por inconsistencia en el etiquetado.</a:t>
            </a:r>
            <a:endParaRPr lang="en-US" sz="1100" dirty="0"/>
          </a:p>
        </p:txBody>
      </p:sp>
      <p:sp>
        <p:nvSpPr>
          <p:cNvPr id="22" name="Text 19"/>
          <p:cNvSpPr/>
          <p:nvPr/>
        </p:nvSpPr>
        <p:spPr>
          <a:xfrm>
            <a:off x="640080" y="5961888"/>
            <a:ext cx="10881360" cy="548640"/>
          </a:xfrm>
          <a:prstGeom prst="rect">
            <a:avLst/>
          </a:prstGeom>
          <a:noFill/>
          <a:ln/>
        </p:spPr>
        <p:txBody>
          <a:bodyPr wrap="square" lIns="0" tIns="0" rIns="0" bIns="0" rtlCol="0" anchor="ctr"/>
          <a:lstStyle/>
          <a:p>
            <a:pPr indent="0" marL="0">
              <a:buNone/>
            </a:pPr>
            <a:r>
              <a:rPr lang="en-US" sz="1250" dirty="0">
                <a:solidFill>
                  <a:srgbClr val="241C18"/>
                </a:solidFill>
                <a:latin typeface="Calibri" pitchFamily="34" charset="0"/>
                <a:ea typeface="Calibri" pitchFamily="34" charset="-122"/>
                <a:cs typeface="Calibri" pitchFamily="34" charset="-120"/>
              </a:rPr>
              <a:t>La sustitución de Triplet Loss por AM-Softmax incrementó el acierto top-1 en más de 40 puntos y redujo el error de confusión entre palabras en un factor de 32, sin modificar el backbone ni ampliar el conjunto de datos.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B211C"/>
        </a:solidFill>
      </p:bgPr>
    </p:bg>
    <p:spTree>
      <p:nvGrpSpPr>
        <p:cNvPr id="1" name=""/>
        <p:cNvGrpSpPr/>
        <p:nvPr/>
      </p:nvGrpSpPr>
      <p:grpSpPr>
        <a:xfrm>
          <a:off x="0" y="0"/>
          <a:ext cx="0" cy="0"/>
          <a:chOff x="0" y="0"/>
          <a:chExt cx="0" cy="0"/>
        </a:xfrm>
      </p:grpSpPr>
      <p:sp>
        <p:nvSpPr>
          <p:cNvPr id="2" name="Text 0"/>
          <p:cNvSpPr/>
          <p:nvPr/>
        </p:nvSpPr>
        <p:spPr>
          <a:xfrm>
            <a:off x="658368" y="164592"/>
            <a:ext cx="10881360" cy="274320"/>
          </a:xfrm>
          <a:prstGeom prst="rect">
            <a:avLst/>
          </a:prstGeom>
          <a:noFill/>
          <a:ln/>
        </p:spPr>
        <p:txBody>
          <a:bodyPr wrap="square" lIns="0" tIns="0" rIns="0" bIns="0" rtlCol="0" anchor="ctr"/>
          <a:lstStyle/>
          <a:p>
            <a:pPr indent="0" marL="0">
              <a:buNone/>
            </a:pPr>
            <a:r>
              <a:rPr lang="en-US" sz="1100" b="1" spc="200" kern="0" dirty="0">
                <a:solidFill>
                  <a:srgbClr val="B85042"/>
                </a:solidFill>
                <a:latin typeface="Calibri" pitchFamily="34" charset="0"/>
                <a:ea typeface="Calibri" pitchFamily="34" charset="-122"/>
                <a:cs typeface="Calibri" pitchFamily="34" charset="-120"/>
              </a:rPr>
              <a:t>EL MODELO · 3 DE 3</a:t>
            </a:r>
            <a:endParaRPr lang="en-US" sz="1100" dirty="0"/>
          </a:p>
        </p:txBody>
      </p:sp>
      <p:sp>
        <p:nvSpPr>
          <p:cNvPr id="3" name="Text 1"/>
          <p:cNvSpPr/>
          <p:nvPr/>
        </p:nvSpPr>
        <p:spPr>
          <a:xfrm>
            <a:off x="640080" y="402336"/>
            <a:ext cx="10881360" cy="713232"/>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Resultados: evaluación de pronunciación</a:t>
            </a:r>
            <a:endParaRPr lang="en-US" sz="3400" dirty="0"/>
          </a:p>
        </p:txBody>
      </p:sp>
      <p:sp>
        <p:nvSpPr>
          <p:cNvPr id="4" name="Shape 2"/>
          <p:cNvSpPr/>
          <p:nvPr/>
        </p:nvSpPr>
        <p:spPr>
          <a:xfrm>
            <a:off x="640080" y="1316736"/>
            <a:ext cx="5120640" cy="1481328"/>
          </a:xfrm>
          <a:prstGeom prst="roundRect">
            <a:avLst>
              <a:gd name="adj" fmla="val 4938"/>
            </a:avLst>
          </a:prstGeom>
          <a:solidFill>
            <a:srgbClr val="3A2D26"/>
          </a:solidFill>
          <a:ln/>
          <a:effectLst>
            <a:outerShdw sx="100000" sy="100000" kx="0" ky="0" algn="bl" rotWithShape="0" blurRad="127000" dist="635" dir="5400000">
              <a:srgbClr val="000000">
                <a:alpha val="18000"/>
              </a:srgbClr>
            </a:outerShdw>
          </a:effectLst>
        </p:spPr>
      </p:sp>
      <p:sp>
        <p:nvSpPr>
          <p:cNvPr id="5" name="Text 3"/>
          <p:cNvSpPr/>
          <p:nvPr/>
        </p:nvSpPr>
        <p:spPr>
          <a:xfrm>
            <a:off x="868680" y="1426464"/>
            <a:ext cx="2194560" cy="640080"/>
          </a:xfrm>
          <a:prstGeom prst="rect">
            <a:avLst/>
          </a:prstGeom>
          <a:noFill/>
          <a:ln/>
        </p:spPr>
        <p:txBody>
          <a:bodyPr wrap="square" lIns="0" tIns="0" rIns="0" bIns="0" rtlCol="0" anchor="ctr"/>
          <a:lstStyle/>
          <a:p>
            <a:pPr indent="0" marL="0">
              <a:buNone/>
            </a:pPr>
            <a:r>
              <a:rPr lang="en-US" sz="3200" b="1" dirty="0">
                <a:solidFill>
                  <a:srgbClr val="6E8F7D"/>
                </a:solidFill>
                <a:latin typeface="Calibri" pitchFamily="34" charset="0"/>
                <a:ea typeface="Calibri" pitchFamily="34" charset="-122"/>
                <a:cs typeface="Calibri" pitchFamily="34" charset="-120"/>
              </a:rPr>
              <a:t>0.44 %</a:t>
            </a:r>
            <a:endParaRPr lang="en-US" sz="3200" dirty="0"/>
          </a:p>
        </p:txBody>
      </p:sp>
      <p:sp>
        <p:nvSpPr>
          <p:cNvPr id="6" name="Text 4"/>
          <p:cNvSpPr/>
          <p:nvPr/>
        </p:nvSpPr>
        <p:spPr>
          <a:xfrm>
            <a:off x="868680" y="2066544"/>
            <a:ext cx="2286000" cy="274320"/>
          </a:xfrm>
          <a:prstGeom prst="rect">
            <a:avLst/>
          </a:prstGeom>
          <a:noFill/>
          <a:ln/>
        </p:spPr>
        <p:txBody>
          <a:bodyPr wrap="square" lIns="0" tIns="0" rIns="0" bIns="0" rtlCol="0" anchor="ctr"/>
          <a:lstStyle/>
          <a:p>
            <a:pPr indent="0" marL="0">
              <a:buNone/>
            </a:pPr>
            <a:r>
              <a:rPr lang="en-US" sz="1050" dirty="0">
                <a:solidFill>
                  <a:srgbClr val="9AA79E"/>
                </a:solidFill>
                <a:latin typeface="Calibri" pitchFamily="34" charset="0"/>
                <a:ea typeface="Calibri" pitchFamily="34" charset="-122"/>
                <a:cs typeface="Calibri" pitchFamily="34" charset="-120"/>
              </a:rPr>
              <a:t>EER de identificación de palabra</a:t>
            </a:r>
            <a:endParaRPr lang="en-US" sz="1050" dirty="0"/>
          </a:p>
        </p:txBody>
      </p:sp>
      <p:sp>
        <p:nvSpPr>
          <p:cNvPr id="7" name="Text 5"/>
          <p:cNvSpPr/>
          <p:nvPr/>
        </p:nvSpPr>
        <p:spPr>
          <a:xfrm>
            <a:off x="3291840" y="1426464"/>
            <a:ext cx="2286000" cy="640080"/>
          </a:xfrm>
          <a:prstGeom prst="rect">
            <a:avLst/>
          </a:prstGeom>
          <a:noFill/>
          <a:ln/>
        </p:spPr>
        <p:txBody>
          <a:bodyPr wrap="square" lIns="0" tIns="0" rIns="0" bIns="0" rtlCol="0" anchor="ctr"/>
          <a:lstStyle/>
          <a:p>
            <a:pPr indent="0" marL="0">
              <a:buNone/>
            </a:pPr>
            <a:r>
              <a:rPr lang="en-US" sz="3200" b="1" dirty="0">
                <a:solidFill>
                  <a:srgbClr val="B85042"/>
                </a:solidFill>
                <a:latin typeface="Calibri" pitchFamily="34" charset="0"/>
                <a:ea typeface="Calibri" pitchFamily="34" charset="-122"/>
                <a:cs typeface="Calibri" pitchFamily="34" charset="-120"/>
              </a:rPr>
              <a:t>34.6 %</a:t>
            </a:r>
            <a:endParaRPr lang="en-US" sz="3200" dirty="0"/>
          </a:p>
        </p:txBody>
      </p:sp>
      <p:sp>
        <p:nvSpPr>
          <p:cNvPr id="8" name="Text 6"/>
          <p:cNvSpPr/>
          <p:nvPr/>
        </p:nvSpPr>
        <p:spPr>
          <a:xfrm>
            <a:off x="3291840" y="2066544"/>
            <a:ext cx="2331720" cy="274320"/>
          </a:xfrm>
          <a:prstGeom prst="rect">
            <a:avLst/>
          </a:prstGeom>
          <a:noFill/>
          <a:ln/>
        </p:spPr>
        <p:txBody>
          <a:bodyPr wrap="square" lIns="0" tIns="0" rIns="0" bIns="0" rtlCol="0" anchor="ctr"/>
          <a:lstStyle/>
          <a:p>
            <a:pPr indent="0" marL="0">
              <a:buNone/>
            </a:pPr>
            <a:r>
              <a:rPr lang="en-US" sz="1050" dirty="0">
                <a:solidFill>
                  <a:srgbClr val="E0B4AC"/>
                </a:solidFill>
                <a:latin typeface="Calibri" pitchFamily="34" charset="0"/>
                <a:ea typeface="Calibri" pitchFamily="34" charset="-122"/>
                <a:cs typeface="Calibri" pitchFamily="34" charset="-120"/>
              </a:rPr>
              <a:t>EER de evaluación de pronunciación</a:t>
            </a:r>
            <a:endParaRPr lang="en-US" sz="1050" dirty="0"/>
          </a:p>
        </p:txBody>
      </p:sp>
      <p:sp>
        <p:nvSpPr>
          <p:cNvPr id="9" name="Text 7"/>
          <p:cNvSpPr/>
          <p:nvPr/>
        </p:nvSpPr>
        <p:spPr>
          <a:xfrm>
            <a:off x="868680" y="2377440"/>
            <a:ext cx="4663440" cy="310896"/>
          </a:xfrm>
          <a:prstGeom prst="rect">
            <a:avLst/>
          </a:prstGeom>
          <a:noFill/>
          <a:ln/>
        </p:spPr>
        <p:txBody>
          <a:bodyPr wrap="square" lIns="0" tIns="0" rIns="0" bIns="0" rtlCol="0" anchor="ctr"/>
          <a:lstStyle/>
          <a:p>
            <a:pPr indent="0" marL="0">
              <a:buNone/>
            </a:pPr>
            <a:r>
              <a:rPr lang="en-US" sz="1150" dirty="0">
                <a:solidFill>
                  <a:srgbClr val="C0B4AC"/>
                </a:solidFill>
                <a:latin typeface="Calibri" pitchFamily="34" charset="0"/>
                <a:ea typeface="Calibri" pitchFamily="34" charset="-122"/>
                <a:cs typeface="Calibri" pitchFamily="34" charset="-120"/>
              </a:rPr>
              <a:t>Diferencia de casi dos órdenes de magnitud entre ambas tareas.</a:t>
            </a:r>
            <a:endParaRPr lang="en-US" sz="1150" dirty="0"/>
          </a:p>
        </p:txBody>
      </p:sp>
      <p:sp>
        <p:nvSpPr>
          <p:cNvPr id="10" name="Text 8"/>
          <p:cNvSpPr/>
          <p:nvPr/>
        </p:nvSpPr>
        <p:spPr>
          <a:xfrm>
            <a:off x="640080" y="2962656"/>
            <a:ext cx="5120640" cy="310896"/>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Factores que limitan el desempeño</a:t>
            </a:r>
            <a:endParaRPr lang="en-US" sz="1600" dirty="0"/>
          </a:p>
        </p:txBody>
      </p:sp>
      <p:sp>
        <p:nvSpPr>
          <p:cNvPr id="11" name="Shape 9"/>
          <p:cNvSpPr/>
          <p:nvPr/>
        </p:nvSpPr>
        <p:spPr>
          <a:xfrm>
            <a:off x="658368" y="3364992"/>
            <a:ext cx="475488" cy="475488"/>
          </a:xfrm>
          <a:prstGeom prst="ellipse">
            <a:avLst/>
          </a:prstGeom>
          <a:solidFill>
            <a:srgbClr val="B85042"/>
          </a:solidFill>
          <a:ln/>
        </p:spPr>
      </p:sp>
      <p:sp>
        <p:nvSpPr>
          <p:cNvPr id="12" name="Text 10"/>
          <p:cNvSpPr/>
          <p:nvPr/>
        </p:nvSpPr>
        <p:spPr>
          <a:xfrm>
            <a:off x="658368" y="3364992"/>
            <a:ext cx="475488" cy="475488"/>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13" name="Text 11"/>
          <p:cNvSpPr/>
          <p:nvPr/>
        </p:nvSpPr>
        <p:spPr>
          <a:xfrm>
            <a:off x="1243584" y="3337560"/>
            <a:ext cx="4526280" cy="585216"/>
          </a:xfrm>
          <a:prstGeom prst="rect">
            <a:avLst/>
          </a:prstGeom>
          <a:noFill/>
          <a:ln/>
        </p:spPr>
        <p:txBody>
          <a:bodyPr wrap="square" lIns="0" tIns="0" rIns="0" bIns="0" rtlCol="0" anchor="ctr"/>
          <a:lstStyle/>
          <a:p>
            <a:pPr indent="0" marL="0">
              <a:buNone/>
            </a:pPr>
            <a:r>
              <a:rPr lang="en-US" sz="1100" dirty="0">
                <a:solidFill>
                  <a:srgbClr val="D8CFC8"/>
                </a:solidFill>
                <a:latin typeface="Calibri" pitchFamily="34" charset="0"/>
                <a:ea typeface="Calibri" pitchFamily="34" charset="-122"/>
                <a:cs typeface="Calibri" pitchFamily="34" charset="-120"/>
              </a:rPr>
              <a:t>El etiquetado humano no es unánime: el juicio de pronunciación no se reproduce de forma consistente entre evaluadores.</a:t>
            </a:r>
            <a:endParaRPr lang="en-US" sz="1100" dirty="0"/>
          </a:p>
        </p:txBody>
      </p:sp>
      <p:sp>
        <p:nvSpPr>
          <p:cNvPr id="14" name="Shape 12"/>
          <p:cNvSpPr/>
          <p:nvPr/>
        </p:nvSpPr>
        <p:spPr>
          <a:xfrm>
            <a:off x="658368" y="4041648"/>
            <a:ext cx="475488" cy="475488"/>
          </a:xfrm>
          <a:prstGeom prst="ellipse">
            <a:avLst/>
          </a:prstGeom>
          <a:solidFill>
            <a:srgbClr val="3A2D26"/>
          </a:solidFill>
          <a:ln/>
        </p:spPr>
      </p:sp>
      <p:sp>
        <p:nvSpPr>
          <p:cNvPr id="15" name="Text 13"/>
          <p:cNvSpPr/>
          <p:nvPr/>
        </p:nvSpPr>
        <p:spPr>
          <a:xfrm>
            <a:off x="658368" y="4041648"/>
            <a:ext cx="475488" cy="475488"/>
          </a:xfrm>
          <a:prstGeom prst="rect">
            <a:avLst/>
          </a:prstGeom>
          <a:noFill/>
          <a:ln/>
        </p:spPr>
        <p:txBody>
          <a:bodyPr wrap="square" lIns="0" tIns="0" rIns="0" bIns="0" rtlCol="0" anchor="ctr"/>
          <a:lstStyle/>
          <a:p>
            <a:pPr algn="ctr" indent="0" marL="0">
              <a:buNone/>
            </a:pPr>
            <a:r>
              <a:rPr lang="en-US" sz="1900" b="1" dirty="0">
                <a:solidFill>
                  <a:srgbClr val="C0B4AC"/>
                </a:solidFill>
                <a:latin typeface="Calibri" pitchFamily="34" charset="0"/>
                <a:ea typeface="Calibri" pitchFamily="34" charset="-122"/>
                <a:cs typeface="Calibri" pitchFamily="34" charset="-120"/>
              </a:rPr>
              <a:t>2</a:t>
            </a:r>
            <a:endParaRPr lang="en-US" sz="1900" dirty="0"/>
          </a:p>
        </p:txBody>
      </p:sp>
      <p:sp>
        <p:nvSpPr>
          <p:cNvPr id="16" name="Text 14"/>
          <p:cNvSpPr/>
          <p:nvPr/>
        </p:nvSpPr>
        <p:spPr>
          <a:xfrm>
            <a:off x="1243584" y="4014216"/>
            <a:ext cx="4526280" cy="585216"/>
          </a:xfrm>
          <a:prstGeom prst="rect">
            <a:avLst/>
          </a:prstGeom>
          <a:noFill/>
          <a:ln/>
        </p:spPr>
        <p:txBody>
          <a:bodyPr wrap="square" lIns="0" tIns="0" rIns="0" bIns="0" rtlCol="0" anchor="ctr"/>
          <a:lstStyle/>
          <a:p>
            <a:pPr indent="0" marL="0">
              <a:buNone/>
            </a:pPr>
            <a:r>
              <a:rPr lang="en-US" sz="1100" dirty="0">
                <a:solidFill>
                  <a:srgbClr val="D8CFC8"/>
                </a:solidFill>
                <a:latin typeface="Calibri" pitchFamily="34" charset="0"/>
                <a:ea typeface="Calibri" pitchFamily="34" charset="-122"/>
                <a:cs typeface="Calibri" pitchFamily="34" charset="-120"/>
              </a:rPr>
              <a:t>La variabilidad entre hablantes de 6 a 12 años supera la diferencia acústica entre pronunciación correcta e incorrecta.</a:t>
            </a:r>
            <a:endParaRPr lang="en-US" sz="1100" dirty="0"/>
          </a:p>
        </p:txBody>
      </p:sp>
      <p:sp>
        <p:nvSpPr>
          <p:cNvPr id="17" name="Shape 15"/>
          <p:cNvSpPr/>
          <p:nvPr/>
        </p:nvSpPr>
        <p:spPr>
          <a:xfrm>
            <a:off x="658368" y="4718304"/>
            <a:ext cx="475488" cy="475488"/>
          </a:xfrm>
          <a:prstGeom prst="ellipse">
            <a:avLst/>
          </a:prstGeom>
          <a:solidFill>
            <a:srgbClr val="3A2D26"/>
          </a:solidFill>
          <a:ln/>
        </p:spPr>
      </p:sp>
      <p:sp>
        <p:nvSpPr>
          <p:cNvPr id="18" name="Text 16"/>
          <p:cNvSpPr/>
          <p:nvPr/>
        </p:nvSpPr>
        <p:spPr>
          <a:xfrm>
            <a:off x="658368" y="4718304"/>
            <a:ext cx="475488" cy="475488"/>
          </a:xfrm>
          <a:prstGeom prst="rect">
            <a:avLst/>
          </a:prstGeom>
          <a:noFill/>
          <a:ln/>
        </p:spPr>
        <p:txBody>
          <a:bodyPr wrap="square" lIns="0" tIns="0" rIns="0" bIns="0" rtlCol="0" anchor="ctr"/>
          <a:lstStyle/>
          <a:p>
            <a:pPr algn="ctr" indent="0" marL="0">
              <a:buNone/>
            </a:pPr>
            <a:r>
              <a:rPr lang="en-US" sz="1900" b="1" dirty="0">
                <a:solidFill>
                  <a:srgbClr val="C0B4AC"/>
                </a:solidFill>
                <a:latin typeface="Calibri" pitchFamily="34" charset="0"/>
                <a:ea typeface="Calibri" pitchFamily="34" charset="-122"/>
                <a:cs typeface="Calibri" pitchFamily="34" charset="-120"/>
              </a:rPr>
              <a:t>3</a:t>
            </a:r>
            <a:endParaRPr lang="en-US" sz="1900" dirty="0"/>
          </a:p>
        </p:txBody>
      </p:sp>
      <p:sp>
        <p:nvSpPr>
          <p:cNvPr id="19" name="Text 17"/>
          <p:cNvSpPr/>
          <p:nvPr/>
        </p:nvSpPr>
        <p:spPr>
          <a:xfrm>
            <a:off x="1243584" y="4690872"/>
            <a:ext cx="4526280" cy="585216"/>
          </a:xfrm>
          <a:prstGeom prst="rect">
            <a:avLst/>
          </a:prstGeom>
          <a:noFill/>
          <a:ln/>
        </p:spPr>
        <p:txBody>
          <a:bodyPr wrap="square" lIns="0" tIns="0" rIns="0" bIns="0" rtlCol="0" anchor="ctr"/>
          <a:lstStyle/>
          <a:p>
            <a:pPr indent="0" marL="0">
              <a:buNone/>
            </a:pPr>
            <a:r>
              <a:rPr lang="en-US" sz="1100" dirty="0">
                <a:solidFill>
                  <a:srgbClr val="D8CFC8"/>
                </a:solidFill>
                <a:latin typeface="Calibri" pitchFamily="34" charset="0"/>
                <a:ea typeface="Calibri" pitchFamily="34" charset="-122"/>
                <a:cs typeface="Calibri" pitchFamily="34" charset="-120"/>
              </a:rPr>
              <a:t>El backbone fue preentrenado para ser invariante justo al atributo que se pretende medir.</a:t>
            </a:r>
            <a:endParaRPr lang="en-US" sz="1100" dirty="0"/>
          </a:p>
        </p:txBody>
      </p:sp>
      <p:sp>
        <p:nvSpPr>
          <p:cNvPr id="20" name="Shape 18"/>
          <p:cNvSpPr/>
          <p:nvPr/>
        </p:nvSpPr>
        <p:spPr>
          <a:xfrm>
            <a:off x="658368" y="5394960"/>
            <a:ext cx="475488" cy="475488"/>
          </a:xfrm>
          <a:prstGeom prst="ellipse">
            <a:avLst/>
          </a:prstGeom>
          <a:solidFill>
            <a:srgbClr val="3A2D26"/>
          </a:solidFill>
          <a:ln/>
        </p:spPr>
      </p:sp>
      <p:sp>
        <p:nvSpPr>
          <p:cNvPr id="21" name="Text 19"/>
          <p:cNvSpPr/>
          <p:nvPr/>
        </p:nvSpPr>
        <p:spPr>
          <a:xfrm>
            <a:off x="658368" y="5394960"/>
            <a:ext cx="475488" cy="475488"/>
          </a:xfrm>
          <a:prstGeom prst="rect">
            <a:avLst/>
          </a:prstGeom>
          <a:noFill/>
          <a:ln/>
        </p:spPr>
        <p:txBody>
          <a:bodyPr wrap="square" lIns="0" tIns="0" rIns="0" bIns="0" rtlCol="0" anchor="ctr"/>
          <a:lstStyle/>
          <a:p>
            <a:pPr algn="ctr" indent="0" marL="0">
              <a:buNone/>
            </a:pPr>
            <a:r>
              <a:rPr lang="en-US" sz="1900" b="1" dirty="0">
                <a:solidFill>
                  <a:srgbClr val="C0B4AC"/>
                </a:solidFill>
                <a:latin typeface="Calibri" pitchFamily="34" charset="0"/>
                <a:ea typeface="Calibri" pitchFamily="34" charset="-122"/>
                <a:cs typeface="Calibri" pitchFamily="34" charset="-120"/>
              </a:rPr>
              <a:t>4</a:t>
            </a:r>
            <a:endParaRPr lang="en-US" sz="1900" dirty="0"/>
          </a:p>
        </p:txBody>
      </p:sp>
      <p:sp>
        <p:nvSpPr>
          <p:cNvPr id="22" name="Text 20"/>
          <p:cNvSpPr/>
          <p:nvPr/>
        </p:nvSpPr>
        <p:spPr>
          <a:xfrm>
            <a:off x="1243584" y="5367528"/>
            <a:ext cx="4526280" cy="585216"/>
          </a:xfrm>
          <a:prstGeom prst="rect">
            <a:avLst/>
          </a:prstGeom>
          <a:noFill/>
          <a:ln/>
        </p:spPr>
        <p:txBody>
          <a:bodyPr wrap="square" lIns="0" tIns="0" rIns="0" bIns="0" rtlCol="0" anchor="ctr"/>
          <a:lstStyle/>
          <a:p>
            <a:pPr indent="0" marL="0">
              <a:buNone/>
            </a:pPr>
            <a:r>
              <a:rPr lang="en-US" sz="1100" dirty="0">
                <a:solidFill>
                  <a:srgbClr val="D8CFC8"/>
                </a:solidFill>
                <a:latin typeface="Calibri" pitchFamily="34" charset="0"/>
                <a:ea typeface="Calibri" pitchFamily="34" charset="-122"/>
                <a:cs typeface="Calibri" pitchFamily="34" charset="-120"/>
              </a:rPr>
              <a:t>Se dispone de una única referencia nativa por palabra.</a:t>
            </a:r>
            <a:endParaRPr lang="en-US" sz="1100" dirty="0"/>
          </a:p>
        </p:txBody>
      </p:sp>
      <p:sp>
        <p:nvSpPr>
          <p:cNvPr id="23" name="Shape 21"/>
          <p:cNvSpPr/>
          <p:nvPr/>
        </p:nvSpPr>
        <p:spPr>
          <a:xfrm>
            <a:off x="6126480" y="1316736"/>
            <a:ext cx="5394960" cy="2926080"/>
          </a:xfrm>
          <a:prstGeom prst="roundRect">
            <a:avLst>
              <a:gd name="adj" fmla="val 2500"/>
            </a:avLst>
          </a:prstGeom>
          <a:solidFill>
            <a:srgbClr val="3A2D26"/>
          </a:solidFill>
          <a:ln/>
          <a:effectLst>
            <a:outerShdw sx="100000" sy="100000" kx="0" ky="0" algn="bl" rotWithShape="0" blurRad="127000" dist="635" dir="5400000">
              <a:srgbClr val="000000">
                <a:alpha val="18000"/>
              </a:srgbClr>
            </a:outerShdw>
          </a:effectLst>
        </p:spPr>
      </p:sp>
      <p:sp>
        <p:nvSpPr>
          <p:cNvPr id="24" name="Text 22"/>
          <p:cNvSpPr/>
          <p:nvPr/>
        </p:nvSpPr>
        <p:spPr>
          <a:xfrm>
            <a:off x="6382512" y="1444752"/>
            <a:ext cx="4846320" cy="310896"/>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Alternativas evaluadas</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382512" y="1828800"/>
          <a:ext cx="4892040" cy="914400"/>
        </p:xfrm>
        <a:graphic>
          <a:graphicData uri="http://schemas.openxmlformats.org/drawingml/2006/table">
            <a:tbl>
              <a:tblPr/>
              <a:tblGrid>
                <a:gridCol w="3611880"/>
                <a:gridCol w="1280160"/>
              </a:tblGrid>
              <a:tr h="292608">
                <a:tc>
                  <a:txBody>
                    <a:bodyPr/>
                    <a:lstStyle/>
                    <a:p>
                      <a:pPr indent="0" marL="0">
                        <a:buNone/>
                      </a:pPr>
                      <a:r>
                        <a:rPr lang="en-US" sz="1100" b="1" dirty="0">
                          <a:solidFill>
                            <a:srgbClr val="6E8F7D"/>
                          </a:solidFill>
                          <a:latin typeface="Calibri" pitchFamily="34" charset="0"/>
                          <a:ea typeface="Calibri" pitchFamily="34" charset="-122"/>
                          <a:cs typeface="Calibri" pitchFamily="34" charset="-120"/>
                        </a:rPr>
                        <a:t>Enfoque</a:t>
                      </a:r>
                      <a:endParaRPr lang="en-US" sz="1100" dirty="0">
                        <a:latin typeface="Calibri" charset="0"/>
                        <a:ea typeface="Calibri" charset="0"/>
                        <a:cs typeface="Calibri" charset="0"/>
                      </a:endParaRPr>
                    </a:p>
                  </a:txBody>
                  <a:tcPr marL="50800" marR="50800" marT="50800" marB="50800">
                    <a:lnL w="6350" cap="flat" cmpd="sng" algn="ctr">
                      <a:solidFill>
                        <a:srgbClr val="50403A"/>
                      </a:solidFill>
                      <a:prstDash val="solid"/>
                      <a:round/>
                      <a:headEnd type="none" w="med" len="med"/>
                      <a:tailEnd type="none" w="med" len="med"/>
                    </a:lnL>
                    <a:lnR w="6350" cap="flat" cmpd="sng" algn="ctr">
                      <a:solidFill>
                        <a:srgbClr val="50403A"/>
                      </a:solidFill>
                      <a:prstDash val="solid"/>
                      <a:round/>
                      <a:headEnd type="none" w="med" len="med"/>
                      <a:tailEnd type="none" w="med" len="med"/>
                    </a:lnR>
                    <a:lnT w="6350" cap="flat" cmpd="sng" algn="ctr">
                      <a:solidFill>
                        <a:srgbClr val="50403A"/>
                      </a:solidFill>
                      <a:prstDash val="solid"/>
                      <a:round/>
                      <a:headEnd type="none" w="med" len="med"/>
                      <a:tailEnd type="none" w="med" len="med"/>
                    </a:lnT>
                    <a:lnB w="6350" cap="flat" cmpd="sng" algn="ctr">
                      <a:solidFill>
                        <a:srgbClr val="50403A"/>
                      </a:solidFill>
                      <a:prstDash val="solid"/>
                      <a:round/>
                      <a:headEnd type="none" w="med" len="med"/>
                      <a:tailEnd type="none" w="med" len="med"/>
                    </a:lnB>
                  </a:tcPr>
                </a:tc>
                <a:tc>
                  <a:txBody>
                    <a:bodyPr/>
                    <a:lstStyle/>
                    <a:p>
                      <a:pPr algn="r" indent="0" marL="0">
                        <a:buNone/>
                      </a:pPr>
                      <a:r>
                        <a:rPr lang="en-US" sz="1100" b="1" dirty="0">
                          <a:solidFill>
                            <a:srgbClr val="6E8F7D"/>
                          </a:solidFill>
                          <a:latin typeface="Calibri" pitchFamily="34" charset="0"/>
                          <a:ea typeface="Calibri" pitchFamily="34" charset="-122"/>
                          <a:cs typeface="Calibri" pitchFamily="34" charset="-120"/>
                        </a:rPr>
                        <a:t>EER</a:t>
                      </a:r>
                      <a:endParaRPr lang="en-US" sz="1100" dirty="0">
                        <a:latin typeface="Calibri" charset="0"/>
                        <a:ea typeface="Calibri" charset="0"/>
                        <a:cs typeface="Calibri" charset="0"/>
                      </a:endParaRPr>
                    </a:p>
                  </a:txBody>
                  <a:tcPr marL="50800" marR="50800" marT="50800" marB="50800">
                    <a:lnL w="6350" cap="flat" cmpd="sng" algn="ctr">
                      <a:solidFill>
                        <a:srgbClr val="50403A"/>
                      </a:solidFill>
                      <a:prstDash val="solid"/>
                      <a:round/>
                      <a:headEnd type="none" w="med" len="med"/>
                      <a:tailEnd type="none" w="med" len="med"/>
                    </a:lnL>
                    <a:lnR w="6350" cap="flat" cmpd="sng" algn="ctr">
                      <a:solidFill>
                        <a:srgbClr val="50403A"/>
                      </a:solidFill>
                      <a:prstDash val="solid"/>
                      <a:round/>
                      <a:headEnd type="none" w="med" len="med"/>
                      <a:tailEnd type="none" w="med" len="med"/>
                    </a:lnR>
                    <a:lnT w="6350" cap="flat" cmpd="sng" algn="ctr">
                      <a:solidFill>
                        <a:srgbClr val="50403A"/>
                      </a:solidFill>
                      <a:prstDash val="solid"/>
                      <a:round/>
                      <a:headEnd type="none" w="med" len="med"/>
                      <a:tailEnd type="none" w="med" len="med"/>
                    </a:lnT>
                    <a:lnB w="6350" cap="flat" cmpd="sng" algn="ctr">
                      <a:solidFill>
                        <a:srgbClr val="50403A"/>
                      </a:solidFill>
                      <a:prstDash val="solid"/>
                      <a:round/>
                      <a:headEnd type="none" w="med" len="med"/>
                      <a:tailEnd type="none" w="med" len="med"/>
                    </a:lnB>
                  </a:tcPr>
                </a:tc>
              </a:tr>
              <a:tr h="292608">
                <a:tc>
                  <a:txBody>
                    <a:bodyPr/>
                    <a:lstStyle/>
                    <a:p>
                      <a:pPr indent="0" marL="0">
                        <a:buNone/>
                      </a:pPr>
                      <a:r>
                        <a:rPr lang="en-US" sz="1100" dirty="0">
                          <a:solidFill>
                            <a:srgbClr val="D8CFC8"/>
                          </a:solidFill>
                          <a:latin typeface="Calibri" pitchFamily="34" charset="0"/>
                          <a:ea typeface="Calibri" pitchFamily="34" charset="-122"/>
                          <a:cs typeface="Calibri" pitchFamily="34" charset="-120"/>
                        </a:rPr>
                        <a:t>Prototipo AM-Softmax (desplegado)</a:t>
                      </a:r>
                      <a:endParaRPr lang="en-US" sz="1100" dirty="0">
                        <a:latin typeface="Calibri" charset="0"/>
                        <a:ea typeface="Calibri" charset="0"/>
                        <a:cs typeface="Calibri" charset="0"/>
                      </a:endParaRPr>
                    </a:p>
                  </a:txBody>
                  <a:tcPr marL="50800" marR="50800" marT="50800" marB="50800">
                    <a:lnL w="6350" cap="flat" cmpd="sng" algn="ctr">
                      <a:solidFill>
                        <a:srgbClr val="50403A"/>
                      </a:solidFill>
                      <a:prstDash val="solid"/>
                      <a:round/>
                      <a:headEnd type="none" w="med" len="med"/>
                      <a:tailEnd type="none" w="med" len="med"/>
                    </a:lnL>
                    <a:lnR w="6350" cap="flat" cmpd="sng" algn="ctr">
                      <a:solidFill>
                        <a:srgbClr val="50403A"/>
                      </a:solidFill>
                      <a:prstDash val="solid"/>
                      <a:round/>
                      <a:headEnd type="none" w="med" len="med"/>
                      <a:tailEnd type="none" w="med" len="med"/>
                    </a:lnR>
                    <a:lnT w="6350" cap="flat" cmpd="sng" algn="ctr">
                      <a:solidFill>
                        <a:srgbClr val="50403A"/>
                      </a:solidFill>
                      <a:prstDash val="solid"/>
                      <a:round/>
                      <a:headEnd type="none" w="med" len="med"/>
                      <a:tailEnd type="none" w="med" len="med"/>
                    </a:lnT>
                    <a:lnB w="6350" cap="flat" cmpd="sng" algn="ctr">
                      <a:solidFill>
                        <a:srgbClr val="50403A"/>
                      </a:solidFill>
                      <a:prstDash val="solid"/>
                      <a:round/>
                      <a:headEnd type="none" w="med" len="med"/>
                      <a:tailEnd type="none" w="med" len="med"/>
                    </a:lnB>
                  </a:tcPr>
                </a:tc>
                <a:tc>
                  <a:txBody>
                    <a:bodyPr/>
                    <a:lstStyle/>
                    <a:p>
                      <a:pPr algn="r" indent="0" marL="0">
                        <a:buNone/>
                      </a:pPr>
                      <a:r>
                        <a:rPr lang="en-US" sz="1100" dirty="0">
                          <a:solidFill>
                            <a:srgbClr val="D8CFC8"/>
                          </a:solidFill>
                          <a:latin typeface="Calibri" pitchFamily="34" charset="0"/>
                          <a:ea typeface="Calibri" pitchFamily="34" charset="-122"/>
                          <a:cs typeface="Calibri" pitchFamily="34" charset="-120"/>
                        </a:rPr>
                        <a:t>0.346</a:t>
                      </a:r>
                      <a:endParaRPr lang="en-US" sz="1100" dirty="0">
                        <a:latin typeface="Calibri" charset="0"/>
                        <a:ea typeface="Calibri" charset="0"/>
                        <a:cs typeface="Calibri" charset="0"/>
                      </a:endParaRPr>
                    </a:p>
                  </a:txBody>
                  <a:tcPr marL="50800" marR="50800" marT="50800" marB="50800">
                    <a:lnL w="6350" cap="flat" cmpd="sng" algn="ctr">
                      <a:solidFill>
                        <a:srgbClr val="50403A"/>
                      </a:solidFill>
                      <a:prstDash val="solid"/>
                      <a:round/>
                      <a:headEnd type="none" w="med" len="med"/>
                      <a:tailEnd type="none" w="med" len="med"/>
                    </a:lnL>
                    <a:lnR w="6350" cap="flat" cmpd="sng" algn="ctr">
                      <a:solidFill>
                        <a:srgbClr val="50403A"/>
                      </a:solidFill>
                      <a:prstDash val="solid"/>
                      <a:round/>
                      <a:headEnd type="none" w="med" len="med"/>
                      <a:tailEnd type="none" w="med" len="med"/>
                    </a:lnR>
                    <a:lnT w="6350" cap="flat" cmpd="sng" algn="ctr">
                      <a:solidFill>
                        <a:srgbClr val="50403A"/>
                      </a:solidFill>
                      <a:prstDash val="solid"/>
                      <a:round/>
                      <a:headEnd type="none" w="med" len="med"/>
                      <a:tailEnd type="none" w="med" len="med"/>
                    </a:lnT>
                    <a:lnB w="6350" cap="flat" cmpd="sng" algn="ctr">
                      <a:solidFill>
                        <a:srgbClr val="50403A"/>
                      </a:solidFill>
                      <a:prstDash val="solid"/>
                      <a:round/>
                      <a:headEnd type="none" w="med" len="med"/>
                      <a:tailEnd type="none" w="med" len="med"/>
                    </a:lnB>
                  </a:tcPr>
                </a:tc>
              </a:tr>
              <a:tr h="292608">
                <a:tc>
                  <a:txBody>
                    <a:bodyPr/>
                    <a:lstStyle/>
                    <a:p>
                      <a:pPr indent="0" marL="0">
                        <a:buNone/>
                      </a:pPr>
                      <a:r>
                        <a:rPr lang="en-US" sz="1100" dirty="0">
                          <a:solidFill>
                            <a:srgbClr val="D8CFC8"/>
                          </a:solidFill>
                          <a:latin typeface="Calibri" pitchFamily="34" charset="0"/>
                          <a:ea typeface="Calibri" pitchFamily="34" charset="-122"/>
                          <a:cs typeface="Calibri" pitchFamily="34" charset="-120"/>
                        </a:rPr>
                        <a:t>DTW sobre representación cruda</a:t>
                      </a:r>
                      <a:endParaRPr lang="en-US" sz="1100" dirty="0">
                        <a:latin typeface="Calibri" charset="0"/>
                        <a:ea typeface="Calibri" charset="0"/>
                        <a:cs typeface="Calibri" charset="0"/>
                      </a:endParaRPr>
                    </a:p>
                  </a:txBody>
                  <a:tcPr marL="50800" marR="50800" marT="50800" marB="50800">
                    <a:lnL w="6350" cap="flat" cmpd="sng" algn="ctr">
                      <a:solidFill>
                        <a:srgbClr val="50403A"/>
                      </a:solidFill>
                      <a:prstDash val="solid"/>
                      <a:round/>
                      <a:headEnd type="none" w="med" len="med"/>
                      <a:tailEnd type="none" w="med" len="med"/>
                    </a:lnL>
                    <a:lnR w="6350" cap="flat" cmpd="sng" algn="ctr">
                      <a:solidFill>
                        <a:srgbClr val="50403A"/>
                      </a:solidFill>
                      <a:prstDash val="solid"/>
                      <a:round/>
                      <a:headEnd type="none" w="med" len="med"/>
                      <a:tailEnd type="none" w="med" len="med"/>
                    </a:lnR>
                    <a:lnT w="6350" cap="flat" cmpd="sng" algn="ctr">
                      <a:solidFill>
                        <a:srgbClr val="50403A"/>
                      </a:solidFill>
                      <a:prstDash val="solid"/>
                      <a:round/>
                      <a:headEnd type="none" w="med" len="med"/>
                      <a:tailEnd type="none" w="med" len="med"/>
                    </a:lnT>
                    <a:lnB w="6350" cap="flat" cmpd="sng" algn="ctr">
                      <a:solidFill>
                        <a:srgbClr val="50403A"/>
                      </a:solidFill>
                      <a:prstDash val="solid"/>
                      <a:round/>
                      <a:headEnd type="none" w="med" len="med"/>
                      <a:tailEnd type="none" w="med" len="med"/>
                    </a:lnB>
                  </a:tcPr>
                </a:tc>
                <a:tc>
                  <a:txBody>
                    <a:bodyPr/>
                    <a:lstStyle/>
                    <a:p>
                      <a:pPr algn="r" indent="0" marL="0">
                        <a:buNone/>
                      </a:pPr>
                      <a:r>
                        <a:rPr lang="en-US" sz="1100" dirty="0">
                          <a:solidFill>
                            <a:srgbClr val="D8CFC8"/>
                          </a:solidFill>
                          <a:latin typeface="Calibri" pitchFamily="34" charset="0"/>
                          <a:ea typeface="Calibri" pitchFamily="34" charset="-122"/>
                          <a:cs typeface="Calibri" pitchFamily="34" charset="-120"/>
                        </a:rPr>
                        <a:t>0.371</a:t>
                      </a:r>
                      <a:endParaRPr lang="en-US" sz="1100" dirty="0">
                        <a:latin typeface="Calibri" charset="0"/>
                        <a:ea typeface="Calibri" charset="0"/>
                        <a:cs typeface="Calibri" charset="0"/>
                      </a:endParaRPr>
                    </a:p>
                  </a:txBody>
                  <a:tcPr marL="50800" marR="50800" marT="50800" marB="50800">
                    <a:lnL w="6350" cap="flat" cmpd="sng" algn="ctr">
                      <a:solidFill>
                        <a:srgbClr val="50403A"/>
                      </a:solidFill>
                      <a:prstDash val="solid"/>
                      <a:round/>
                      <a:headEnd type="none" w="med" len="med"/>
                      <a:tailEnd type="none" w="med" len="med"/>
                    </a:lnL>
                    <a:lnR w="6350" cap="flat" cmpd="sng" algn="ctr">
                      <a:solidFill>
                        <a:srgbClr val="50403A"/>
                      </a:solidFill>
                      <a:prstDash val="solid"/>
                      <a:round/>
                      <a:headEnd type="none" w="med" len="med"/>
                      <a:tailEnd type="none" w="med" len="med"/>
                    </a:lnR>
                    <a:lnT w="6350" cap="flat" cmpd="sng" algn="ctr">
                      <a:solidFill>
                        <a:srgbClr val="50403A"/>
                      </a:solidFill>
                      <a:prstDash val="solid"/>
                      <a:round/>
                      <a:headEnd type="none" w="med" len="med"/>
                      <a:tailEnd type="none" w="med" len="med"/>
                    </a:lnT>
                    <a:lnB w="6350" cap="flat" cmpd="sng" algn="ctr">
                      <a:solidFill>
                        <a:srgbClr val="50403A"/>
                      </a:solidFill>
                      <a:prstDash val="solid"/>
                      <a:round/>
                      <a:headEnd type="none" w="med" len="med"/>
                      <a:tailEnd type="none" w="med" len="med"/>
                    </a:lnB>
                  </a:tcPr>
                </a:tc>
              </a:tr>
              <a:tr h="292608">
                <a:tc>
                  <a:txBody>
                    <a:bodyPr/>
                    <a:lstStyle/>
                    <a:p>
                      <a:pPr indent="0" marL="0">
                        <a:buNone/>
                      </a:pPr>
                      <a:r>
                        <a:rPr lang="en-US" sz="1100" dirty="0">
                          <a:solidFill>
                            <a:srgbClr val="D8CFC8"/>
                          </a:solidFill>
                          <a:latin typeface="Calibri" pitchFamily="34" charset="0"/>
                          <a:ea typeface="Calibri" pitchFamily="34" charset="-122"/>
                          <a:cs typeface="Calibri" pitchFamily="34" charset="-120"/>
                        </a:rPr>
                        <a:t>DTW sobre la cabeza de proyección</a:t>
                      </a:r>
                      <a:endParaRPr lang="en-US" sz="1100" dirty="0">
                        <a:latin typeface="Calibri" charset="0"/>
                        <a:ea typeface="Calibri" charset="0"/>
                        <a:cs typeface="Calibri" charset="0"/>
                      </a:endParaRPr>
                    </a:p>
                  </a:txBody>
                  <a:tcPr marL="50800" marR="50800" marT="50800" marB="50800">
                    <a:lnL w="6350" cap="flat" cmpd="sng" algn="ctr">
                      <a:solidFill>
                        <a:srgbClr val="50403A"/>
                      </a:solidFill>
                      <a:prstDash val="solid"/>
                      <a:round/>
                      <a:headEnd type="none" w="med" len="med"/>
                      <a:tailEnd type="none" w="med" len="med"/>
                    </a:lnL>
                    <a:lnR w="6350" cap="flat" cmpd="sng" algn="ctr">
                      <a:solidFill>
                        <a:srgbClr val="50403A"/>
                      </a:solidFill>
                      <a:prstDash val="solid"/>
                      <a:round/>
                      <a:headEnd type="none" w="med" len="med"/>
                      <a:tailEnd type="none" w="med" len="med"/>
                    </a:lnR>
                    <a:lnT w="6350" cap="flat" cmpd="sng" algn="ctr">
                      <a:solidFill>
                        <a:srgbClr val="50403A"/>
                      </a:solidFill>
                      <a:prstDash val="solid"/>
                      <a:round/>
                      <a:headEnd type="none" w="med" len="med"/>
                      <a:tailEnd type="none" w="med" len="med"/>
                    </a:lnT>
                    <a:lnB w="6350" cap="flat" cmpd="sng" algn="ctr">
                      <a:solidFill>
                        <a:srgbClr val="50403A"/>
                      </a:solidFill>
                      <a:prstDash val="solid"/>
                      <a:round/>
                      <a:headEnd type="none" w="med" len="med"/>
                      <a:tailEnd type="none" w="med" len="med"/>
                    </a:lnB>
                  </a:tcPr>
                </a:tc>
                <a:tc>
                  <a:txBody>
                    <a:bodyPr/>
                    <a:lstStyle/>
                    <a:p>
                      <a:pPr algn="r" indent="0" marL="0">
                        <a:buNone/>
                      </a:pPr>
                      <a:r>
                        <a:rPr lang="en-US" sz="1100" dirty="0">
                          <a:solidFill>
                            <a:srgbClr val="D8CFC8"/>
                          </a:solidFill>
                          <a:latin typeface="Calibri" pitchFamily="34" charset="0"/>
                          <a:ea typeface="Calibri" pitchFamily="34" charset="-122"/>
                          <a:cs typeface="Calibri" pitchFamily="34" charset="-120"/>
                        </a:rPr>
                        <a:t>0.365</a:t>
                      </a:r>
                      <a:endParaRPr lang="en-US" sz="1100" dirty="0">
                        <a:latin typeface="Calibri" charset="0"/>
                        <a:ea typeface="Calibri" charset="0"/>
                        <a:cs typeface="Calibri" charset="0"/>
                      </a:endParaRPr>
                    </a:p>
                  </a:txBody>
                  <a:tcPr marL="50800" marR="50800" marT="50800" marB="50800">
                    <a:lnL w="6350" cap="flat" cmpd="sng" algn="ctr">
                      <a:solidFill>
                        <a:srgbClr val="50403A"/>
                      </a:solidFill>
                      <a:prstDash val="solid"/>
                      <a:round/>
                      <a:headEnd type="none" w="med" len="med"/>
                      <a:tailEnd type="none" w="med" len="med"/>
                    </a:lnL>
                    <a:lnR w="6350" cap="flat" cmpd="sng" algn="ctr">
                      <a:solidFill>
                        <a:srgbClr val="50403A"/>
                      </a:solidFill>
                      <a:prstDash val="solid"/>
                      <a:round/>
                      <a:headEnd type="none" w="med" len="med"/>
                      <a:tailEnd type="none" w="med" len="med"/>
                    </a:lnR>
                    <a:lnT w="6350" cap="flat" cmpd="sng" algn="ctr">
                      <a:solidFill>
                        <a:srgbClr val="50403A"/>
                      </a:solidFill>
                      <a:prstDash val="solid"/>
                      <a:round/>
                      <a:headEnd type="none" w="med" len="med"/>
                      <a:tailEnd type="none" w="med" len="med"/>
                    </a:lnT>
                    <a:lnB w="6350" cap="flat" cmpd="sng" algn="ctr">
                      <a:solidFill>
                        <a:srgbClr val="50403A"/>
                      </a:solidFill>
                      <a:prstDash val="solid"/>
                      <a:round/>
                      <a:headEnd type="none" w="med" len="med"/>
                      <a:tailEnd type="none" w="med" len="med"/>
                    </a:lnB>
                  </a:tcPr>
                </a:tc>
              </a:tr>
              <a:tr h="292608">
                <a:tc>
                  <a:txBody>
                    <a:bodyPr/>
                    <a:lstStyle/>
                    <a:p>
                      <a:pPr indent="0" marL="0">
                        <a:buNone/>
                      </a:pPr>
                      <a:r>
                        <a:rPr lang="en-US" sz="1100" b="1" dirty="0">
                          <a:solidFill>
                            <a:srgbClr val="D8CFC8"/>
                          </a:solidFill>
                          <a:latin typeface="Calibri" pitchFamily="34" charset="0"/>
                          <a:ea typeface="Calibri" pitchFamily="34" charset="-122"/>
                          <a:cs typeface="Calibri" pitchFamily="34" charset="-120"/>
                        </a:rPr>
                        <a:t>Fusión prototipo + DTW</a:t>
                      </a:r>
                      <a:endParaRPr lang="en-US" sz="1100" dirty="0">
                        <a:latin typeface="Calibri" charset="0"/>
                        <a:ea typeface="Calibri" charset="0"/>
                        <a:cs typeface="Calibri" charset="0"/>
                      </a:endParaRPr>
                    </a:p>
                  </a:txBody>
                  <a:tcPr marL="50800" marR="50800" marT="50800" marB="50800">
                    <a:lnL w="6350" cap="flat" cmpd="sng" algn="ctr">
                      <a:solidFill>
                        <a:srgbClr val="50403A"/>
                      </a:solidFill>
                      <a:prstDash val="solid"/>
                      <a:round/>
                      <a:headEnd type="none" w="med" len="med"/>
                      <a:tailEnd type="none" w="med" len="med"/>
                    </a:lnL>
                    <a:lnR w="6350" cap="flat" cmpd="sng" algn="ctr">
                      <a:solidFill>
                        <a:srgbClr val="50403A"/>
                      </a:solidFill>
                      <a:prstDash val="solid"/>
                      <a:round/>
                      <a:headEnd type="none" w="med" len="med"/>
                      <a:tailEnd type="none" w="med" len="med"/>
                    </a:lnR>
                    <a:lnT w="6350" cap="flat" cmpd="sng" algn="ctr">
                      <a:solidFill>
                        <a:srgbClr val="50403A"/>
                      </a:solidFill>
                      <a:prstDash val="solid"/>
                      <a:round/>
                      <a:headEnd type="none" w="med" len="med"/>
                      <a:tailEnd type="none" w="med" len="med"/>
                    </a:lnT>
                    <a:lnB w="6350" cap="flat" cmpd="sng" algn="ctr">
                      <a:solidFill>
                        <a:srgbClr val="50403A"/>
                      </a:solidFill>
                      <a:prstDash val="solid"/>
                      <a:round/>
                      <a:headEnd type="none" w="med" len="med"/>
                      <a:tailEnd type="none" w="med" len="med"/>
                    </a:lnB>
                  </a:tcPr>
                </a:tc>
                <a:tc>
                  <a:txBody>
                    <a:bodyPr/>
                    <a:lstStyle/>
                    <a:p>
                      <a:pPr algn="r" indent="0" marL="0">
                        <a:buNone/>
                      </a:pPr>
                      <a:r>
                        <a:rPr lang="en-US" sz="1100" b="1" dirty="0">
                          <a:solidFill>
                            <a:srgbClr val="D8CFC8"/>
                          </a:solidFill>
                          <a:latin typeface="Calibri" pitchFamily="34" charset="0"/>
                          <a:ea typeface="Calibri" pitchFamily="34" charset="-122"/>
                          <a:cs typeface="Calibri" pitchFamily="34" charset="-120"/>
                        </a:rPr>
                        <a:t>0.339</a:t>
                      </a:r>
                      <a:endParaRPr lang="en-US" sz="1100" dirty="0">
                        <a:latin typeface="Calibri" charset="0"/>
                        <a:ea typeface="Calibri" charset="0"/>
                        <a:cs typeface="Calibri" charset="0"/>
                      </a:endParaRPr>
                    </a:p>
                  </a:txBody>
                  <a:tcPr marL="50800" marR="50800" marT="50800" marB="50800">
                    <a:lnL w="6350" cap="flat" cmpd="sng" algn="ctr">
                      <a:solidFill>
                        <a:srgbClr val="50403A"/>
                      </a:solidFill>
                      <a:prstDash val="solid"/>
                      <a:round/>
                      <a:headEnd type="none" w="med" len="med"/>
                      <a:tailEnd type="none" w="med" len="med"/>
                    </a:lnL>
                    <a:lnR w="6350" cap="flat" cmpd="sng" algn="ctr">
                      <a:solidFill>
                        <a:srgbClr val="50403A"/>
                      </a:solidFill>
                      <a:prstDash val="solid"/>
                      <a:round/>
                      <a:headEnd type="none" w="med" len="med"/>
                      <a:tailEnd type="none" w="med" len="med"/>
                    </a:lnR>
                    <a:lnT w="6350" cap="flat" cmpd="sng" algn="ctr">
                      <a:solidFill>
                        <a:srgbClr val="50403A"/>
                      </a:solidFill>
                      <a:prstDash val="solid"/>
                      <a:round/>
                      <a:headEnd type="none" w="med" len="med"/>
                      <a:tailEnd type="none" w="med" len="med"/>
                    </a:lnT>
                    <a:lnB w="6350" cap="flat" cmpd="sng" algn="ctr">
                      <a:solidFill>
                        <a:srgbClr val="50403A"/>
                      </a:solidFill>
                      <a:prstDash val="solid"/>
                      <a:round/>
                      <a:headEnd type="none" w="med" len="med"/>
                      <a:tailEnd type="none" w="med" len="med"/>
                    </a:lnB>
                  </a:tcPr>
                </a:tc>
              </a:tr>
              <a:tr h="292608">
                <a:tc>
                  <a:txBody>
                    <a:bodyPr/>
                    <a:lstStyle/>
                    <a:p>
                      <a:pPr indent="0" marL="0">
                        <a:buNone/>
                      </a:pPr>
                      <a:r>
                        <a:rPr lang="en-US" sz="1100" dirty="0">
                          <a:solidFill>
                            <a:srgbClr val="D8CFC8"/>
                          </a:solidFill>
                          <a:latin typeface="Calibri" pitchFamily="34" charset="0"/>
                          <a:ea typeface="Calibri" pitchFamily="34" charset="-122"/>
                          <a:cs typeface="Calibri" pitchFamily="34" charset="-120"/>
                        </a:rPr>
                        <a:t>Regresión ordinal CORAL (top-1: 85 %)</a:t>
                      </a:r>
                      <a:endParaRPr lang="en-US" sz="1100" dirty="0">
                        <a:latin typeface="Calibri" charset="0"/>
                        <a:ea typeface="Calibri" charset="0"/>
                        <a:cs typeface="Calibri" charset="0"/>
                      </a:endParaRPr>
                    </a:p>
                  </a:txBody>
                  <a:tcPr marL="50800" marR="50800" marT="50800" marB="50800">
                    <a:lnL w="6350" cap="flat" cmpd="sng" algn="ctr">
                      <a:solidFill>
                        <a:srgbClr val="50403A"/>
                      </a:solidFill>
                      <a:prstDash val="solid"/>
                      <a:round/>
                      <a:headEnd type="none" w="med" len="med"/>
                      <a:tailEnd type="none" w="med" len="med"/>
                    </a:lnL>
                    <a:lnR w="6350" cap="flat" cmpd="sng" algn="ctr">
                      <a:solidFill>
                        <a:srgbClr val="50403A"/>
                      </a:solidFill>
                      <a:prstDash val="solid"/>
                      <a:round/>
                      <a:headEnd type="none" w="med" len="med"/>
                      <a:tailEnd type="none" w="med" len="med"/>
                    </a:lnR>
                    <a:lnT w="6350" cap="flat" cmpd="sng" algn="ctr">
                      <a:solidFill>
                        <a:srgbClr val="50403A"/>
                      </a:solidFill>
                      <a:prstDash val="solid"/>
                      <a:round/>
                      <a:headEnd type="none" w="med" len="med"/>
                      <a:tailEnd type="none" w="med" len="med"/>
                    </a:lnT>
                    <a:lnB w="6350" cap="flat" cmpd="sng" algn="ctr">
                      <a:solidFill>
                        <a:srgbClr val="50403A"/>
                      </a:solidFill>
                      <a:prstDash val="solid"/>
                      <a:round/>
                      <a:headEnd type="none" w="med" len="med"/>
                      <a:tailEnd type="none" w="med" len="med"/>
                    </a:lnB>
                  </a:tcPr>
                </a:tc>
                <a:tc>
                  <a:txBody>
                    <a:bodyPr/>
                    <a:lstStyle/>
                    <a:p>
                      <a:pPr algn="r" indent="0" marL="0">
                        <a:buNone/>
                      </a:pPr>
                      <a:r>
                        <a:rPr lang="en-US" sz="1100" dirty="0">
                          <a:solidFill>
                            <a:srgbClr val="D8CFC8"/>
                          </a:solidFill>
                          <a:latin typeface="Calibri" pitchFamily="34" charset="0"/>
                          <a:ea typeface="Calibri" pitchFamily="34" charset="-122"/>
                          <a:cs typeface="Calibri" pitchFamily="34" charset="-120"/>
                        </a:rPr>
                        <a:t>0.330</a:t>
                      </a:r>
                      <a:endParaRPr lang="en-US" sz="1100" dirty="0">
                        <a:latin typeface="Calibri" charset="0"/>
                        <a:ea typeface="Calibri" charset="0"/>
                        <a:cs typeface="Calibri" charset="0"/>
                      </a:endParaRPr>
                    </a:p>
                  </a:txBody>
                  <a:tcPr marL="50800" marR="50800" marT="50800" marB="50800">
                    <a:lnL w="6350" cap="flat" cmpd="sng" algn="ctr">
                      <a:solidFill>
                        <a:srgbClr val="50403A"/>
                      </a:solidFill>
                      <a:prstDash val="solid"/>
                      <a:round/>
                      <a:headEnd type="none" w="med" len="med"/>
                      <a:tailEnd type="none" w="med" len="med"/>
                    </a:lnL>
                    <a:lnR w="6350" cap="flat" cmpd="sng" algn="ctr">
                      <a:solidFill>
                        <a:srgbClr val="50403A"/>
                      </a:solidFill>
                      <a:prstDash val="solid"/>
                      <a:round/>
                      <a:headEnd type="none" w="med" len="med"/>
                      <a:tailEnd type="none" w="med" len="med"/>
                    </a:lnR>
                    <a:lnT w="6350" cap="flat" cmpd="sng" algn="ctr">
                      <a:solidFill>
                        <a:srgbClr val="50403A"/>
                      </a:solidFill>
                      <a:prstDash val="solid"/>
                      <a:round/>
                      <a:headEnd type="none" w="med" len="med"/>
                      <a:tailEnd type="none" w="med" len="med"/>
                    </a:lnT>
                    <a:lnB w="6350" cap="flat" cmpd="sng" algn="ctr">
                      <a:solidFill>
                        <a:srgbClr val="50403A"/>
                      </a:solidFill>
                      <a:prstDash val="solid"/>
                      <a:round/>
                      <a:headEnd type="none" w="med" len="med"/>
                      <a:tailEnd type="none" w="med" len="med"/>
                    </a:lnB>
                  </a:tcPr>
                </a:tc>
              </a:tr>
            </a:tbl>
          </a:graphicData>
        </a:graphic>
      </p:graphicFrame>
      <p:sp>
        <p:nvSpPr>
          <p:cNvPr id="26" name="Text 23"/>
          <p:cNvSpPr/>
          <p:nvPr/>
        </p:nvSpPr>
        <p:spPr>
          <a:xfrm>
            <a:off x="6382512" y="3785616"/>
            <a:ext cx="4892040" cy="365760"/>
          </a:xfrm>
          <a:prstGeom prst="rect">
            <a:avLst/>
          </a:prstGeom>
          <a:noFill/>
          <a:ln/>
        </p:spPr>
        <p:txBody>
          <a:bodyPr wrap="square" lIns="0" tIns="0" rIns="0" bIns="0" rtlCol="0" anchor="ctr"/>
          <a:lstStyle/>
          <a:p>
            <a:pPr indent="0" marL="0">
              <a:buNone/>
            </a:pPr>
            <a:r>
              <a:rPr lang="en-US" sz="1050" dirty="0">
                <a:solidFill>
                  <a:srgbClr val="9AA79E"/>
                </a:solidFill>
                <a:latin typeface="Calibri" pitchFamily="34" charset="0"/>
                <a:ea typeface="Calibri" pitchFamily="34" charset="-122"/>
                <a:cs typeface="Calibri" pitchFamily="34" charset="-120"/>
              </a:rPr>
              <a:t>Ninguna alternativa modifica el resultado de forma sustantiva: la limitación proviene de los datos y de la definición de la etiqueta, no de la arquitectura.</a:t>
            </a:r>
            <a:endParaRPr lang="en-US" sz="1050" dirty="0"/>
          </a:p>
        </p:txBody>
      </p:sp>
      <p:sp>
        <p:nvSpPr>
          <p:cNvPr id="27" name="Shape 24"/>
          <p:cNvSpPr/>
          <p:nvPr/>
        </p:nvSpPr>
        <p:spPr>
          <a:xfrm>
            <a:off x="6126480" y="4343400"/>
            <a:ext cx="5394960" cy="2148840"/>
          </a:xfrm>
          <a:prstGeom prst="roundRect">
            <a:avLst>
              <a:gd name="adj" fmla="val 3404"/>
            </a:avLst>
          </a:prstGeom>
          <a:solidFill>
            <a:srgbClr val="B85042"/>
          </a:solidFill>
          <a:ln/>
          <a:effectLst>
            <a:outerShdw sx="100000" sy="100000" kx="0" ky="0" algn="bl" rotWithShape="0" blurRad="127000" dist="635" dir="5400000">
              <a:srgbClr val="000000">
                <a:alpha val="18000"/>
              </a:srgbClr>
            </a:outerShdw>
          </a:effectLst>
        </p:spPr>
      </p:sp>
      <p:sp>
        <p:nvSpPr>
          <p:cNvPr id="28" name="Text 25"/>
          <p:cNvSpPr/>
          <p:nvPr/>
        </p:nvSpPr>
        <p:spPr>
          <a:xfrm>
            <a:off x="6382512" y="4480560"/>
            <a:ext cx="4846320" cy="310896"/>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Implicaciones para la aplicación</a:t>
            </a:r>
            <a:endParaRPr lang="en-US" sz="1600" dirty="0"/>
          </a:p>
        </p:txBody>
      </p:sp>
      <p:sp>
        <p:nvSpPr>
          <p:cNvPr id="29" name="Text 26"/>
          <p:cNvSpPr/>
          <p:nvPr/>
        </p:nvSpPr>
        <p:spPr>
          <a:xfrm>
            <a:off x="6382512" y="4846320"/>
            <a:ext cx="4937760" cy="155448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El veredicto se presenta como refuerzo ("Correcto" / "Intenta de nuevo"), no como calificación.</a:t>
            </a:r>
            <a:endParaRPr lang="en-US" sz="1150" dirty="0"/>
          </a:p>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Evaluación de extremo a extremo sobre 200 clips: 77 % de acierto binario y 83 % de sensibilidad en emisiones correctas.</a:t>
            </a:r>
            <a:endParaRPr lang="en-US" sz="1150" dirty="0"/>
          </a:p>
          <a:p>
            <a:pPr marL="342900" indent="-3429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Cero activaciones falsas sobre 24 grabaciones de ruido; sin el gate de voz eran 23 de 24.</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Validador de pronunciación mazahua</dc:title>
  <dc:subject>PptxGenJS Presentation</dc:subject>
  <dc:creator>Proyecto Ntsi Fiyo</dc:creator>
  <cp:lastModifiedBy>Proyecto Ntsi Fiyo</cp:lastModifiedBy>
  <cp:revision>1</cp:revision>
  <dcterms:created xsi:type="dcterms:W3CDTF">2026-08-20T17:29:05Z</dcterms:created>
  <dcterms:modified xsi:type="dcterms:W3CDTF">2026-08-20T17:29:05Z</dcterms:modified>
</cp:coreProperties>
</file>