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presProps.xml" ContentType="application/vnd.openxmlformats-officedocument.presentationml.presProps+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5.xml" ContentType="application/vnd.openxmlformats-officedocument.presentationml.notesSlide+xml"/>
  <Override PartName="/ppt/notesSlides/notesSlide4.xml" ContentType="application/vnd.openxmlformats-officedocument.presentationml.notesSlide+xml"/>
  <Override PartName="/ppt/notesSlides/notesSlide6.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Lst>
  <p:sldSz cx="12192000" cy="6858000"/>
  <p:notesSz cx="6858000" cy="12192000"/>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presProps" Target="presProps.xml"/>
</Relationships>
</file>

<file path=ppt/charts/_rels/chart1.xml.rels><?xml version="1.0" encoding="UTF-8"?>
<Relationships xmlns="http://schemas.openxmlformats.org/package/2006/relationships"><Relationship Id="rId1" Type="http://schemas.microsoft.com/office/2011/relationships/chartStyle" Target="style1.xml"/><Relationship Id="rId2" Type="http://schemas.microsoft.com/office/2011/relationships/chartColorStyle" Target="colors1.xml"/>
</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en-US"/>
  <c:roundedCorners val="0"/>
  <c:chart>
    <c:autoTitleDeleted val="1"/>
    <c:plotArea>
      <c:barChart>
        <c:barDir val="col"/>
        <c:grouping val="clustered"/>
        <c:varyColors val="0"/>
        <c:ser>
          <c:idx val="0"/>
          <c:order val="0"/>
          <c:tx>
            <c:strRef>
              <c:f>label 0</c:f>
              <c:strCache>
                <c:ptCount val="1"/>
                <c:pt idx="0">
                  <c:v>Top-1</c:v>
                </c:pt>
              </c:strCache>
            </c:strRef>
          </c:tx>
          <c:spPr>
            <a:solidFill>
              <a:srgbClr val="C9BEB4"/>
            </a:solidFill>
            <a:ln w="0">
              <a:noFill/>
            </a:ln>
          </c:spPr>
          <c:invertIfNegative val="0"/>
          <c:dPt>
            <c:idx val="0"/>
            <c:invertIfNegative val="0"/>
            <c:spPr>
              <a:solidFill>
                <a:srgbClr val="C9BEB4"/>
              </a:solidFill>
              <a:ln w="0">
                <a:noFill/>
              </a:ln>
            </c:spPr>
          </c:dPt>
          <c:dPt>
            <c:idx val="1"/>
            <c:invertIfNegative val="0"/>
            <c:spPr>
              <a:solidFill>
                <a:srgbClr val="6E8F7D"/>
              </a:solidFill>
              <a:ln w="0">
                <a:noFill/>
              </a:ln>
            </c:spPr>
          </c:dPt>
          <c:dPt>
            <c:idx val="2"/>
            <c:invertIfNegative val="0"/>
            <c:spPr>
              <a:solidFill>
                <a:srgbClr val="B85042"/>
              </a:solidFill>
              <a:ln w="0">
                <a:noFill/>
              </a:ln>
            </c:spPr>
          </c:dPt>
          <c:dLbls>
            <c:dLbl>
              <c:idx val="0"/>
              <c:numFmt formatCode="0.0\%" sourceLinked="0"/>
              <c:txPr>
                <a:bodyPr wrap="square"/>
                <a:lstStyle/>
                <a:p>
                  <a:pPr>
                    <a:defRPr sz="1100" b="0" u="none" strike="noStrike">
                      <a:solidFill>
                        <a:srgbClr val="241C18"/>
                      </a:solidFill>
                      <a:uFillTx/>
                      <a:latin typeface="Calibri"/>
                    </a:defRPr>
                  </a:pPr>
                </a:p>
              </c:txPr>
              <c:dLblPos val="outEnd"/>
              <c:showLegendKey val="0"/>
              <c:showVal val="1"/>
              <c:showCatName val="0"/>
              <c:showSerName val="0"/>
              <c:showPercent val="0"/>
              <c:separator>; </c:separator>
            </c:dLbl>
            <c:dLbl>
              <c:idx val="1"/>
              <c:numFmt formatCode="0.0\%" sourceLinked="0"/>
              <c:txPr>
                <a:bodyPr wrap="square"/>
                <a:lstStyle/>
                <a:p>
                  <a:pPr>
                    <a:defRPr sz="1100" b="0" u="none" strike="noStrike">
                      <a:solidFill>
                        <a:srgbClr val="241C18"/>
                      </a:solidFill>
                      <a:uFillTx/>
                      <a:latin typeface="Calibri"/>
                    </a:defRPr>
                  </a:pPr>
                </a:p>
              </c:txPr>
              <c:dLblPos val="outEnd"/>
              <c:showLegendKey val="0"/>
              <c:showVal val="1"/>
              <c:showCatName val="0"/>
              <c:showSerName val="0"/>
              <c:showPercent val="0"/>
              <c:separator>; </c:separator>
            </c:dLbl>
            <c:dLbl>
              <c:idx val="2"/>
              <c:numFmt formatCode="0.0\%" sourceLinked="0"/>
              <c:txPr>
                <a:bodyPr wrap="square"/>
                <a:lstStyle/>
                <a:p>
                  <a:pPr>
                    <a:defRPr sz="1100" b="0" u="none" strike="noStrike">
                      <a:solidFill>
                        <a:srgbClr val="241C18"/>
                      </a:solidFill>
                      <a:uFillTx/>
                      <a:latin typeface="Calibri"/>
                    </a:defRPr>
                  </a:pPr>
                </a:p>
              </c:txPr>
              <c:dLblPos val="outEnd"/>
              <c:showLegendKey val="0"/>
              <c:showVal val="1"/>
              <c:showCatName val="0"/>
              <c:showSerName val="0"/>
              <c:showPercent val="0"/>
              <c:separator>; </c:separator>
            </c:dLbl>
            <c:numFmt formatCode="0.0\%" sourceLinked="0"/>
            <c:txPr>
              <a:bodyPr wrap="square"/>
              <a:lstStyle/>
              <a:p>
                <a:pPr>
                  <a:defRPr sz="1100" b="0" u="none" strike="noStrike">
                    <a:solidFill>
                      <a:srgbClr val="241C18"/>
                    </a:solidFill>
                    <a:uFillTx/>
                    <a:latin typeface="Calibri"/>
                  </a:defRPr>
                </a:pPr>
              </a:p>
            </c:txPr>
            <c:dLblPos val="outEnd"/>
            <c:showLegendKey val="0"/>
            <c:showVal val="1"/>
            <c:showCatName val="0"/>
            <c:showSerName val="0"/>
            <c:showPercent val="0"/>
            <c:separator>; </c:separator>
            <c:showLeaderLines val="0"/>
            <c:extLst>
              <c:ext xmlns:c15="http://schemas.microsoft.com/office/drawing/2012/chart" uri="{CE6537A1-D6FC-4f65-9D91-7224C49458BB}">
                <c15:showLeaderLines val="0"/>
              </c:ext>
            </c:extLst>
          </c:dLbls>
          <c:cat>
            <c:strRef>
              <c:f>categories</c:f>
              <c:strCache>
                <c:ptCount val="3"/>
                <c:pt idx="0">
                  <c:v>Triplet Loss</c:v>
                </c:pt>
                <c:pt idx="1">
                  <c:v>AM + centroides</c:v>
                </c:pt>
                <c:pt idx="2">
                  <c:v>AM + prototipos</c:v>
                </c:pt>
              </c:strCache>
            </c:strRef>
          </c:cat>
          <c:val>
            <c:numRef>
              <c:f>0</c:f>
              <c:numCache>
                <c:formatCode>General</c:formatCode>
                <c:ptCount val="3"/>
                <c:pt idx="0">
                  <c:v>57.9</c:v>
                </c:pt>
                <c:pt idx="1">
                  <c:v>97.6</c:v>
                </c:pt>
                <c:pt idx="2">
                  <c:v>98.5</c:v>
                </c:pt>
              </c:numCache>
            </c:numRef>
          </c:val>
        </c:ser>
        <c:gapWidth val="60"/>
        <c:overlap val="0"/>
        <c:axId val="62842125"/>
        <c:axId val="40727564"/>
      </c:barChart>
      <c:catAx>
        <c:axId val="62842125"/>
        <c:scaling>
          <c:orientation val="minMax"/>
        </c:scaling>
        <c:delete val="0"/>
        <c:axPos val="b"/>
        <c:numFmt formatCode="General" sourceLinked="0"/>
        <c:majorTickMark val="out"/>
        <c:minorTickMark val="none"/>
        <c:tickLblPos val="low"/>
        <c:spPr>
          <a:ln w="12600">
            <a:solidFill>
              <a:srgbClr val="888888"/>
            </a:solidFill>
            <a:round/>
          </a:ln>
        </c:spPr>
        <c:txPr>
          <a:bodyPr/>
          <a:lstStyle/>
          <a:p>
            <a:pPr>
              <a:defRPr sz="1000" b="0" u="none" strike="noStrike">
                <a:solidFill>
                  <a:srgbClr val="6B615B"/>
                </a:solidFill>
                <a:uFillTx/>
                <a:latin typeface="Calibri"/>
              </a:defRPr>
            </a:pPr>
          </a:p>
        </c:txPr>
        <c:crossAx val="40727564"/>
        <c:crosses val="autoZero"/>
        <c:auto val="1"/>
        <c:lblAlgn val="ctr"/>
        <c:lblOffset val="100"/>
        <c:noMultiLvlLbl val="0"/>
      </c:catAx>
      <c:valAx>
        <c:axId val="40727564"/>
        <c:scaling>
          <c:orientation val="minMax"/>
          <c:max val="110"/>
          <c:min val="0"/>
        </c:scaling>
        <c:delete val="1"/>
        <c:axPos val="l"/>
        <c:numFmt formatCode="General" sourceLinked="1"/>
        <c:majorTickMark val="out"/>
        <c:minorTickMark val="none"/>
        <c:tickLblPos val="nextTo"/>
        <c:spPr>
          <a:ln w="12600">
            <a:solidFill>
              <a:srgbClr val="888888"/>
            </a:solidFill>
            <a:round/>
          </a:ln>
        </c:spPr>
        <c:txPr>
          <a:bodyPr/>
          <a:lstStyle/>
          <a:p>
            <a:pPr>
              <a:defRPr sz="1200" b="0" u="none" strike="noStrike">
                <a:solidFill>
                  <a:srgbClr val="000000"/>
                </a:solidFill>
                <a:uFillTx/>
                <a:latin typeface="Arial"/>
              </a:defRPr>
            </a:pPr>
          </a:p>
        </c:txPr>
        <c:crossAx val="62842125"/>
        <c:crossBetween val="between"/>
      </c:valAx>
      <c:spPr>
        <a:noFill/>
        <a:ln w="0">
          <a:noFill/>
        </a:ln>
      </c:spPr>
    </c:plotArea>
    <c:plotVisOnly val="1"/>
    <c:dispBlanksAs val="span"/>
  </c:chart>
  <c:spPr>
    <a:noFill/>
    <a:ln w="0">
      <a:noFill/>
    </a:ln>
  </c:spPr>
</c:chartSpace>
</file>

<file path=ppt/charts/colors1.xml><?xml version="1.0" encoding="utf-8"?>
<cs:colorStyle xmlns:cs="http://schemas.microsoft.com/office/drawing/2012/chartStyle" xmlns:a="http://schemas.openxmlformats.org/drawingml/2006/main" meth="cycle" id="10">
  <a:schemeClr val="accent1"/>
</cs:colorStyle>
</file>

<file path=ppt/charts/style1.xml><?xml version="1.0" encoding="utf-8"?>
<cs:chartStyle xmlns:cs="http://schemas.microsoft.com/office/drawing/2012/chartStyle" xmlns:a="http://schemas.openxmlformats.org/drawingml/2006/main" id="419">
  <cs:axisTitle>
    <cs:lnRef idx="0"/>
    <cs:lineWidthScale>1</cs:lineWidthScale>
    <cs:fillRef idx="0"/>
    <cs:effectRef idx="0"/>
    <cs:fontRef idx="minor"/>
    <a:defRPr sz="1800" b="0"/>
  </cs:axisTitle>
  <cs:categoryAxis>
    <cs:lnRef idx="0"/>
    <cs:fillRef idx="0"/>
    <cs:effectRef idx="0"/>
    <cs:fontRef idx="minor"/>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chartArea>
  <cs:dataLabel>
    <cs:lnRef idx="0"/>
    <cs:fillRef idx="0"/>
    <cs:effectRef idx="0"/>
    <cs:fontRef idx="minor"/>
  </cs:dataLabel>
  <cs:dataPoint>
    <cs:lnRef idx="0"/>
    <cs:fillRef idx="0">
      <cs:styleClr val="auto"/>
    </cs:fillRef>
    <cs:effectRef idx="0"/>
    <cs:fontRef idx="minor">
      <cs:schemeClr val="tx1"/>
    </cs:fontRef>
    <cs:spPr>
      <a:solidFill>
        <a:schemeClr val="phClr"/>
      </a:solidFill>
    </cs:spPr>
  </cs:dataPoint>
  <cs:dataPoint3D>
    <cs:lnRef idx="0"/>
    <cs:fillRef idx="0"/>
    <cs:effectRef idx="0"/>
    <cs:fontRef idx="minor"/>
  </cs:dataPoint3D>
  <cs:dataPointLine>
    <cs:lnRef idx="0"/>
    <cs:fillRef idx="0"/>
    <cs:effectRef idx="0"/>
    <cs:fontRef idx="minor"/>
  </cs:dataPointLine>
  <cs:dataPointMarker>
    <cs:lnRef idx="0"/>
    <cs:fillRef idx="0"/>
    <cs:effectRef idx="0"/>
    <cs:fontRef idx="minor"/>
  </cs:dataPointMarker>
  <cs:dataPointMarkerLayout>
    <cs:lnRef idx="0"/>
    <cs:fillRef idx="0"/>
    <cs:effectRef idx="0"/>
    <cs:fontRef idx="minor"/>
  </cs:dataPointMarkerLayout>
  <cs:dataPointWireframe>
    <cs:lnRef idx="0"/>
    <cs:fillRef idx="0"/>
    <cs:effectRef idx="0"/>
    <cs:fontRef idx="minor"/>
  </cs:dataPointWireframe>
  <cs:dataTable>
    <cs:lnRef idx="0"/>
    <cs:fillRef idx="0"/>
    <cs:effectRef idx="0"/>
    <cs:fontRef idx="minor"/>
  </cs:dataTable>
  <cs:downBar>
    <cs:lnRef idx="0"/>
    <cs:fillRef idx="0"/>
    <cs:effectRef idx="0"/>
    <cs:fontRef idx="minor"/>
  </cs:downBar>
  <cs:dropLine>
    <cs:lnRef idx="0"/>
    <cs:fillRef idx="0"/>
    <cs:effectRef idx="0"/>
    <cs:fontRef idx="minor"/>
  </cs:dropLine>
  <cs:errorBar>
    <cs:lnRef idx="0"/>
    <cs:fillRef idx="0"/>
    <cs:effectRef idx="0"/>
    <cs:fontRef idx="minor"/>
  </cs:errorBar>
  <cs:floor>
    <cs:lnRef idx="0"/>
    <cs:fillRef idx="0"/>
    <cs:effectRef idx="0"/>
    <cs:fontRef idx="minor"/>
  </cs:floor>
  <cs:gridlineMajor>
    <cs:lnRef idx="0"/>
    <cs:fillRef idx="0"/>
    <cs:effectRef idx="0"/>
    <cs:fontRef idx="minor"/>
  </cs:gridlineMajor>
  <cs:gridlineMinor>
    <cs:lnRef idx="0"/>
    <cs:fillRef idx="0"/>
    <cs:effectRef idx="0"/>
    <cs:fontRef idx="minor"/>
  </cs:gridlineMinor>
  <cs:hiLoLine>
    <cs:lnRef idx="0"/>
    <cs:fillRef idx="0"/>
    <cs:effectRef idx="0"/>
    <cs:fontRef idx="minor"/>
  </cs:hiLoLine>
  <cs:leaderLine>
    <cs:lnRef idx="0"/>
    <cs:fillRef idx="0"/>
    <cs:effectRef idx="0"/>
    <cs:fontRef idx="minor"/>
  </cs:leaderLine>
  <cs:legend>
    <cs:lnRef idx="0"/>
    <cs:fillRef idx="0"/>
    <cs:effectRef idx="0"/>
    <cs:fontRef idx="minor"/>
  </cs:legend>
  <cs:plotArea>
    <cs:lnRef idx="0"/>
    <cs:fillRef idx="0"/>
    <cs:effectRef idx="0"/>
    <cs:fontRef idx="minor"/>
  </cs:plotArea>
  <cs:plotArea3D>
    <cs:lnRef idx="0"/>
    <cs:fillRef idx="0"/>
    <cs:effectRef idx="0"/>
    <cs:fontRef idx="minor"/>
  </cs:plotArea3D>
  <cs:seriesAxis>
    <cs:lnRef idx="0"/>
    <cs:fillRef idx="0"/>
    <cs:effectRef idx="0"/>
    <cs:fontRef idx="minor"/>
  </cs:seriesAxis>
  <cs:seriesLine>
    <cs:lnRef idx="0"/>
    <cs:fillRef idx="0"/>
    <cs:effectRef idx="0"/>
    <cs:fontRef idx="minor"/>
  </cs:seriesLine>
  <cs:title>
    <cs:lnRef idx="0"/>
    <cs:fillRef idx="0"/>
    <cs:effectRef idx="0"/>
    <cs:fontRef idx="minor"/>
  </cs:title>
  <cs:trendline>
    <cs:lnRef idx="0"/>
    <cs:fillRef idx="0"/>
    <cs:effectRef idx="0"/>
    <cs:fontRef idx="minor"/>
  </cs:trendline>
  <cs:trendlineLabel>
    <cs:lnRef idx="0"/>
    <cs:fillRef idx="0"/>
    <cs:effectRef idx="0"/>
    <cs:fontRef idx="minor"/>
  </cs:trendlineLabel>
  <cs:upBar>
    <cs:lnRef idx="0"/>
    <cs:fillRef idx="0"/>
    <cs:effectRef idx="0"/>
    <cs:fontRef idx="minor"/>
  </cs:upBar>
  <cs:valueAxis>
    <cs:lnRef idx="0"/>
    <cs:fillRef idx="0"/>
    <cs:effectRef idx="0"/>
    <cs:fontRef idx="minor"/>
  </cs:valueAxis>
  <cs:wall>
    <cs:lnRef idx="0"/>
    <cs:fillRef idx="0"/>
    <cs:effectRef idx="0"/>
    <cs:fontRef idx="minor"/>
  </cs:wall>
</cs:chartStyle>
</file>

<file path=ppt/notesMasters/_rels/notesMaster1.xml.rels><?xml version="1.0" encoding="UTF-8"?>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 name="PlaceHolder 1"/>
          <p:cNvSpPr>
            <a:spLocks noGrp="1"/>
          </p:cNvSpPr>
          <p:nvPr>
            <p:ph type="sldImg"/>
          </p:nvPr>
        </p:nvSpPr>
        <p:spPr>
          <a:xfrm>
            <a:off x="533520" y="764280"/>
            <a:ext cx="6704640" cy="3771360"/>
          </a:xfrm>
          <a:prstGeom prst="rect">
            <a:avLst/>
          </a:prstGeom>
          <a:noFill/>
          <a:ln w="0">
            <a:noFill/>
          </a:ln>
        </p:spPr>
        <p:txBody>
          <a:bodyPr lIns="0" tIns="0" rIns="0" bIns="0" anchor="ctr">
            <a:noAutofit/>
          </a:bodyPr>
          <a:p>
            <a:r>
              <a:rPr lang="en-US" sz="1800" b="0" u="none" strike="noStrike">
                <a:solidFill>
                  <a:schemeClr val="dk1"/>
                </a:solidFill>
                <a:effectLst/>
                <a:uFillTx/>
                <a:latin typeface="Calibri"/>
              </a:rPr>
              <a:t>Click to move the slide</a:t>
            </a:r>
            <a:endParaRPr lang="en-US" sz="1800" b="0" u="none" strike="noStrike">
              <a:solidFill>
                <a:schemeClr val="dk1"/>
              </a:solidFill>
              <a:effectLst/>
              <a:uFillTx/>
              <a:latin typeface="Calibri"/>
            </a:endParaRPr>
          </a:p>
        </p:txBody>
      </p:sp>
      <p:sp>
        <p:nvSpPr>
          <p:cNvPr id="5" name="PlaceHolder 2"/>
          <p:cNvSpPr>
            <a:spLocks noGrp="1"/>
          </p:cNvSpPr>
          <p:nvPr>
            <p:ph type="body"/>
          </p:nvPr>
        </p:nvSpPr>
        <p:spPr>
          <a:xfrm>
            <a:off x="777240" y="4777560"/>
            <a:ext cx="6217560" cy="4525920"/>
          </a:xfrm>
          <a:prstGeom prst="rect">
            <a:avLst/>
          </a:prstGeom>
          <a:noFill/>
          <a:ln w="0">
            <a:noFill/>
          </a:ln>
        </p:spPr>
        <p:txBody>
          <a:bodyPr lIns="0" tIns="0" rIns="0" bIns="0" anchor="t">
            <a:noAutofit/>
          </a:bodyPr>
          <a:p>
            <a:pPr indent="0" algn="l">
              <a:buNone/>
            </a:pPr>
            <a:r>
              <a:rPr lang="en-US" sz="2000" b="0" u="none" strike="noStrike">
                <a:solidFill>
                  <a:srgbClr val="000000"/>
                </a:solidFill>
                <a:effectLst/>
                <a:uFillTx/>
                <a:latin typeface="Arial"/>
              </a:rPr>
              <a:t>Click to edit the notes format</a:t>
            </a:r>
            <a:endParaRPr lang="en-US" sz="2000" b="0" u="none" strike="noStrike">
              <a:solidFill>
                <a:srgbClr val="000000"/>
              </a:solidFill>
              <a:effectLst/>
              <a:uFillTx/>
              <a:latin typeface="Arial"/>
            </a:endParaRPr>
          </a:p>
        </p:txBody>
      </p:sp>
      <p:sp>
        <p:nvSpPr>
          <p:cNvPr id="6" name="PlaceHolder 3"/>
          <p:cNvSpPr>
            <a:spLocks noGrp="1"/>
          </p:cNvSpPr>
          <p:nvPr>
            <p:ph type="hdr"/>
          </p:nvPr>
        </p:nvSpPr>
        <p:spPr>
          <a:xfrm>
            <a:off x="0" y="0"/>
            <a:ext cx="3372840" cy="502560"/>
          </a:xfrm>
          <a:prstGeom prst="rect">
            <a:avLst/>
          </a:prstGeom>
          <a:noFill/>
          <a:ln w="0">
            <a:noFill/>
          </a:ln>
        </p:spPr>
        <p:txBody>
          <a:bodyPr lIns="0" tIns="0" rIns="0" bIns="0" anchor="t">
            <a:noAutofit/>
          </a:bodyPr>
          <a:p>
            <a:pPr indent="0" algn="l">
              <a:buNone/>
            </a:pPr>
            <a:r>
              <a:rPr lang="en-US" sz="1400" b="0" u="none" strike="noStrike">
                <a:solidFill>
                  <a:srgbClr val="000000"/>
                </a:solidFill>
                <a:effectLst/>
                <a:uFillTx/>
                <a:latin typeface="Times New Roman"/>
              </a:rPr>
              <a:t> </a:t>
            </a:r>
            <a:endParaRPr lang="en-US" sz="1400" b="0" u="none" strike="noStrike">
              <a:solidFill>
                <a:srgbClr val="000000"/>
              </a:solidFill>
              <a:effectLst/>
              <a:uFillTx/>
              <a:latin typeface="Times New Roman"/>
            </a:endParaRPr>
          </a:p>
        </p:txBody>
      </p:sp>
      <p:sp>
        <p:nvSpPr>
          <p:cNvPr id="7" name="PlaceHolder 4"/>
          <p:cNvSpPr>
            <a:spLocks noGrp="1"/>
          </p:cNvSpPr>
          <p:nvPr>
            <p:ph type="dt" idx="1"/>
          </p:nvPr>
        </p:nvSpPr>
        <p:spPr>
          <a:xfrm>
            <a:off x="4399200" y="0"/>
            <a:ext cx="3372840" cy="502560"/>
          </a:xfrm>
          <a:prstGeom prst="rect">
            <a:avLst/>
          </a:prstGeom>
          <a:noFill/>
          <a:ln w="0">
            <a:noFill/>
          </a:ln>
        </p:spPr>
        <p:txBody>
          <a:bodyPr lIns="0" tIns="0" rIns="0" bIns="0" anchor="t">
            <a:noAutofit/>
          </a:bodyPr>
          <a:lstStyle>
            <a:lvl1pPr indent="0" algn="r">
              <a:buNone/>
              <a:defRPr lang="en-US" sz="1400" b="0" u="none" strike="noStrike">
                <a:solidFill>
                  <a:srgbClr val="000000"/>
                </a:solidFill>
                <a:effectLst/>
                <a:uFillTx/>
                <a:latin typeface="Times New Roman"/>
              </a:defRPr>
            </a:lvl1pPr>
          </a:lstStyle>
          <a:p>
            <a:pPr indent="0" algn="r">
              <a:buNone/>
            </a:pPr>
            <a:r>
              <a:rPr lang="en-US" sz="1400" b="0" u="none" strike="noStrike">
                <a:solidFill>
                  <a:srgbClr val="000000"/>
                </a:solidFill>
                <a:effectLst/>
                <a:uFillTx/>
                <a:latin typeface="Times New Roman"/>
              </a:rPr>
              <a:t> </a:t>
            </a:r>
            <a:endParaRPr lang="en-US" sz="1400" b="0" u="none" strike="noStrike">
              <a:solidFill>
                <a:srgbClr val="000000"/>
              </a:solidFill>
              <a:effectLst/>
              <a:uFillTx/>
              <a:latin typeface="Times New Roman"/>
            </a:endParaRPr>
          </a:p>
        </p:txBody>
      </p:sp>
      <p:sp>
        <p:nvSpPr>
          <p:cNvPr id="8" name="PlaceHolder 5"/>
          <p:cNvSpPr>
            <a:spLocks noGrp="1"/>
          </p:cNvSpPr>
          <p:nvPr>
            <p:ph type="ftr" idx="2"/>
          </p:nvPr>
        </p:nvSpPr>
        <p:spPr>
          <a:xfrm>
            <a:off x="0" y="9555480"/>
            <a:ext cx="3372840" cy="502560"/>
          </a:xfrm>
          <a:prstGeom prst="rect">
            <a:avLst/>
          </a:prstGeom>
          <a:noFill/>
          <a:ln w="0">
            <a:noFill/>
          </a:ln>
        </p:spPr>
        <p:txBody>
          <a:bodyPr lIns="0" tIns="0" rIns="0" bIns="0" anchor="b">
            <a:noAutofit/>
          </a:bodyPr>
          <a:lstStyle>
            <a:lvl1pPr indent="0" algn="l">
              <a:buNone/>
              <a:defRPr lang="en-US" sz="1400" b="0" u="none" strike="noStrike">
                <a:solidFill>
                  <a:srgbClr val="000000"/>
                </a:solidFill>
                <a:effectLst/>
                <a:uFillTx/>
                <a:latin typeface="Times New Roman"/>
              </a:defRPr>
            </a:lvl1pPr>
          </a:lstStyle>
          <a:p>
            <a:pPr indent="0" algn="l">
              <a:buNone/>
            </a:pPr>
            <a:r>
              <a:rPr lang="en-US" sz="1400" b="0" u="none" strike="noStrike">
                <a:solidFill>
                  <a:srgbClr val="000000"/>
                </a:solidFill>
                <a:effectLst/>
                <a:uFillTx/>
                <a:latin typeface="Times New Roman"/>
              </a:rPr>
              <a:t> </a:t>
            </a:r>
            <a:endParaRPr lang="en-US" sz="1400" b="0" u="none" strike="noStrike">
              <a:solidFill>
                <a:srgbClr val="000000"/>
              </a:solidFill>
              <a:effectLst/>
              <a:uFillTx/>
              <a:latin typeface="Times New Roman"/>
            </a:endParaRPr>
          </a:p>
        </p:txBody>
      </p:sp>
      <p:sp>
        <p:nvSpPr>
          <p:cNvPr id="9" name="PlaceHolder 6"/>
          <p:cNvSpPr>
            <a:spLocks noGrp="1"/>
          </p:cNvSpPr>
          <p:nvPr>
            <p:ph type="sldNum" idx="3"/>
          </p:nvPr>
        </p:nvSpPr>
        <p:spPr>
          <a:xfrm>
            <a:off x="4399200" y="9555480"/>
            <a:ext cx="3372840" cy="502560"/>
          </a:xfrm>
          <a:prstGeom prst="rect">
            <a:avLst/>
          </a:prstGeom>
          <a:noFill/>
          <a:ln w="0">
            <a:noFill/>
          </a:ln>
        </p:spPr>
        <p:txBody>
          <a:bodyPr lIns="0" tIns="0" rIns="0" bIns="0" anchor="b">
            <a:noAutofit/>
          </a:bodyPr>
          <a:lstStyle>
            <a:lvl1pPr indent="0" algn="r">
              <a:buNone/>
              <a:defRPr lang="en-US" sz="1400" b="0" u="none" strike="noStrike">
                <a:solidFill>
                  <a:srgbClr val="000000"/>
                </a:solidFill>
                <a:effectLst/>
                <a:uFillTx/>
                <a:latin typeface="Times New Roman"/>
              </a:defRPr>
            </a:lvl1pPr>
          </a:lstStyle>
          <a:p>
            <a:pPr indent="0" algn="r">
              <a:buNone/>
            </a:pPr>
            <a:fld id="{B5AC5E84-9262-4E7A-82A8-C20601657AD8}" type="slidenum">
              <a:rPr lang="en-US" sz="1400" b="0" u="none" strike="noStrike">
                <a:solidFill>
                  <a:srgbClr val="000000"/>
                </a:solidFill>
                <a:effectLst/>
                <a:uFillTx/>
                <a:latin typeface="Times New Roman"/>
              </a:rPr>
              <a:t>1</a:t>
            </a:fld>
            <a:endParaRPr lang="en-US" sz="1400" b="0" u="none" strike="noStrik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5" name="PlaceHolder 1"/>
          <p:cNvSpPr>
            <a:spLocks noGrp="1"/>
          </p:cNvSpPr>
          <p:nvPr>
            <p:ph type="sldImg"/>
          </p:nvPr>
        </p:nvSpPr>
        <p:spPr>
          <a:xfrm>
            <a:off x="685800" y="1143000"/>
            <a:ext cx="5485680" cy="3085560"/>
          </a:xfrm>
          <a:prstGeom prst="rect">
            <a:avLst/>
          </a:prstGeom>
          <a:ln w="0">
            <a:noFill/>
          </a:ln>
        </p:spPr>
      </p:sp>
      <p:sp>
        <p:nvSpPr>
          <p:cNvPr id="116"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Diapositiva de portada. Pendiente de completar.</a:t>
            </a:r>
            <a:endParaRPr lang="en-US" sz="2000" b="0" u="none" strike="noStrike">
              <a:solidFill>
                <a:srgbClr val="000000"/>
              </a:solidFill>
              <a:effectLst/>
              <a:uFillTx/>
              <a:latin typeface="Arial"/>
            </a:endParaRPr>
          </a:p>
        </p:txBody>
      </p:sp>
      <p:sp>
        <p:nvSpPr>
          <p:cNvPr id="117" name="PlaceHolder 3"/>
          <p:cNvSpPr>
            <a:spLocks noGrp="1"/>
          </p:cNvSpPr>
          <p:nvPr>
            <p:ph type="sldNum" idx="4"/>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E527D292-CA2F-4219-9F79-618C2A5F8C13}"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8" name="PlaceHolder 1"/>
          <p:cNvSpPr>
            <a:spLocks noGrp="1"/>
          </p:cNvSpPr>
          <p:nvPr>
            <p:ph type="sldImg"/>
          </p:nvPr>
        </p:nvSpPr>
        <p:spPr>
          <a:xfrm>
            <a:off x="685800" y="1143000"/>
            <a:ext cx="5485680" cy="3085560"/>
          </a:xfrm>
          <a:prstGeom prst="rect">
            <a:avLst/>
          </a:prstGeom>
          <a:ln w="0">
            <a:noFill/>
          </a:ln>
        </p:spPr>
      </p:sp>
      <p:sp>
        <p:nvSpPr>
          <p:cNvPr id="119"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Primera diapositiva de la aplicación móvil. Pendiente de completar.</a:t>
            </a:r>
            <a:endParaRPr lang="en-US" sz="2000" b="0" u="none" strike="noStrike">
              <a:solidFill>
                <a:srgbClr val="000000"/>
              </a:solidFill>
              <a:effectLst/>
              <a:uFillTx/>
              <a:latin typeface="Arial"/>
            </a:endParaRPr>
          </a:p>
        </p:txBody>
      </p:sp>
      <p:sp>
        <p:nvSpPr>
          <p:cNvPr id="120" name="PlaceHolder 3"/>
          <p:cNvSpPr>
            <a:spLocks noGrp="1"/>
          </p:cNvSpPr>
          <p:nvPr>
            <p:ph type="sldNum" idx="5"/>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A6A9A853-B530-4ACD-816B-71B2D488B30C}"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1" name="PlaceHolder 1"/>
          <p:cNvSpPr>
            <a:spLocks noGrp="1"/>
          </p:cNvSpPr>
          <p:nvPr>
            <p:ph type="sldImg"/>
          </p:nvPr>
        </p:nvSpPr>
        <p:spPr>
          <a:xfrm>
            <a:off x="685800" y="1143000"/>
            <a:ext cx="5485680" cy="3085560"/>
          </a:xfrm>
          <a:prstGeom prst="rect">
            <a:avLst/>
          </a:prstGeom>
          <a:ln w="0">
            <a:noFill/>
          </a:ln>
        </p:spPr>
      </p:sp>
      <p:sp>
        <p:nvSpPr>
          <p:cNvPr id="122"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Segunda diapositiva de la aplicación móvil. Pendiente de completar.</a:t>
            </a:r>
            <a:endParaRPr lang="en-US" sz="2000" b="0" u="none" strike="noStrike">
              <a:solidFill>
                <a:srgbClr val="000000"/>
              </a:solidFill>
              <a:effectLst/>
              <a:uFillTx/>
              <a:latin typeface="Arial"/>
            </a:endParaRPr>
          </a:p>
        </p:txBody>
      </p:sp>
      <p:sp>
        <p:nvSpPr>
          <p:cNvPr id="123" name="PlaceHolder 3"/>
          <p:cNvSpPr>
            <a:spLocks noGrp="1"/>
          </p:cNvSpPr>
          <p:nvPr>
            <p:ph type="sldNum" idx="6"/>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6F4F4D11-0023-40B0-8E13-E3A511F68492}"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4" name="PlaceHolder 1"/>
          <p:cNvSpPr>
            <a:spLocks noGrp="1"/>
          </p:cNvSpPr>
          <p:nvPr>
            <p:ph type="sldImg"/>
          </p:nvPr>
        </p:nvSpPr>
        <p:spPr>
          <a:xfrm>
            <a:off x="685800" y="1143000"/>
            <a:ext cx="5485680" cy="3085560"/>
          </a:xfrm>
          <a:prstGeom prst="rect">
            <a:avLst/>
          </a:prstGeom>
          <a:ln w="0">
            <a:noFill/>
          </a:ln>
        </p:spPr>
      </p:sp>
      <p:sp>
        <p:nvSpPr>
          <p:cNvPr id="125"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El sistema es un comparador, no un transcriptor. Tres bloques: backbone congelado de 300 millones de parámetros que aporta la representación general del habla; cabeza de proyección de 1.2 MB entrenada con audio mazahua; y una regla de decisión basada en distancia coseno. AM-Softmax interviene únicamente durante el entrenamiento: el margen aditivo de 0.35 obliga a separar las clases y deja el espacio ordenado. En inferencia no hay softmax, solo el producto punto contra el prototipo y el umbral 0.2406. Al estar los vectores normalizados, el volumen y el timbre quedan excluidos de la medida por construcción.</a:t>
            </a:r>
            <a:endParaRPr lang="en-US" sz="2000" b="0" u="none" strike="noStrike">
              <a:solidFill>
                <a:srgbClr val="000000"/>
              </a:solidFill>
              <a:effectLst/>
              <a:uFillTx/>
              <a:latin typeface="Arial"/>
            </a:endParaRPr>
          </a:p>
        </p:txBody>
      </p:sp>
      <p:sp>
        <p:nvSpPr>
          <p:cNvPr id="126" name="PlaceHolder 3"/>
          <p:cNvSpPr>
            <a:spLocks noGrp="1"/>
          </p:cNvSpPr>
          <p:nvPr>
            <p:ph type="sldNum" idx="7"/>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FC7E9F90-1223-46C4-AE0F-C3E1B6602567}"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7" name="PlaceHolder 1"/>
          <p:cNvSpPr>
            <a:spLocks noGrp="1"/>
          </p:cNvSpPr>
          <p:nvPr>
            <p:ph type="sldImg"/>
          </p:nvPr>
        </p:nvSpPr>
        <p:spPr>
          <a:xfrm>
            <a:off x="685800" y="1143000"/>
            <a:ext cx="5485680" cy="3085560"/>
          </a:xfrm>
          <a:prstGeom prst="rect">
            <a:avLst/>
          </a:prstGeom>
          <a:ln w="0">
            <a:noFill/>
          </a:ln>
        </p:spPr>
      </p:sp>
      <p:sp>
        <p:nvSpPr>
          <p:cNvPr id="128"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El protocolo se enuncia antes que la cifra: validación cruzada leave-one-child-out con 14 niños, evaluando siempre sobre el hablante excluido del entrenamiento. El resultado es 98.5 por ciento de acierto top-1 y 0.44 por ciento de EER de palabra equivocada. La línea base con Triplet Loss alcanzaba 57.9 por ciento: la mejora proviene exclusivamente del cambio de función de pérdida. Se evaluó además la fusión con DTW, que aporta unos dos puntos en un experimento independiente pero requiere 9.7 MB de referencias y un alineamiento por consulta; quedó documentada y no desplegada.</a:t>
            </a:r>
            <a:endParaRPr lang="en-US" sz="2000" b="0" u="none" strike="noStrike">
              <a:solidFill>
                <a:srgbClr val="000000"/>
              </a:solidFill>
              <a:effectLst/>
              <a:uFillTx/>
              <a:latin typeface="Arial"/>
            </a:endParaRPr>
          </a:p>
        </p:txBody>
      </p:sp>
      <p:sp>
        <p:nvSpPr>
          <p:cNvPr id="129" name="PlaceHolder 3"/>
          <p:cNvSpPr>
            <a:spLocks noGrp="1"/>
          </p:cNvSpPr>
          <p:nvPr>
            <p:ph type="sldNum" idx="8"/>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AB274667-9F36-4C9E-89C6-78AC0B17FE0D}"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0" name="PlaceHolder 1"/>
          <p:cNvSpPr>
            <a:spLocks noGrp="1"/>
          </p:cNvSpPr>
          <p:nvPr>
            <p:ph type="sldImg"/>
          </p:nvPr>
        </p:nvSpPr>
        <p:spPr>
          <a:xfrm>
            <a:off x="685800" y="1143000"/>
            <a:ext cx="5485680" cy="3085560"/>
          </a:xfrm>
          <a:prstGeom prst="rect">
            <a:avLst/>
          </a:prstGeom>
          <a:ln w="0">
            <a:noFill/>
          </a:ln>
        </p:spPr>
      </p:sp>
      <p:sp>
        <p:nvSpPr>
          <p:cNvPr id="131"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El EER de pronunciación es 34.6 por ciento. Las distribuciones se solapan: distancia media de 0.224 en emisiones correctas frente a 0.334 en incorrectas. El barrido de umbrales confirma que ningún punto de operación reduce el error total por debajo del 34 por ciento. Frente al 0.44 por ciento de identificación de palabra, la diferencia es de casi dos órdenes de magnitud. El factor determinante es la consistencia del etiquetado humano. Se evaluaron cinco alternativas y la mejor mejora es de siete décimas de punto, insuficiente para justificar el costo de DTW en el dispositivo. El error se concentra además en palabras específicas: arroz con 57 por ciento y laBoca con 56 por ciento, lo que orienta el próximo esfuerzo de etiquetado. La aplicación está diseñada en consecuencia: el veredicto invita a repetir y no califica.</a:t>
            </a:r>
            <a:endParaRPr lang="en-US" sz="2000" b="0" u="none" strike="noStrike">
              <a:solidFill>
                <a:srgbClr val="000000"/>
              </a:solidFill>
              <a:effectLst/>
              <a:uFillTx/>
              <a:latin typeface="Arial"/>
            </a:endParaRPr>
          </a:p>
        </p:txBody>
      </p:sp>
      <p:sp>
        <p:nvSpPr>
          <p:cNvPr id="132" name="PlaceHolder 3"/>
          <p:cNvSpPr>
            <a:spLocks noGrp="1"/>
          </p:cNvSpPr>
          <p:nvPr>
            <p:ph type="sldNum" idx="9"/>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2C197AB3-55FF-4725-8409-423541CEC77F}"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p:spTree>
      <p:nvGrpSpPr>
        <p:cNvPr id="1" name=""/>
        <p:cNvGrpSpPr/>
        <p:nvPr/>
      </p:nvGrpSpPr>
      <p:grpSpPr>
        <a:xfrm>
          <a:off x="0" y="0"/>
          <a:ext cx="0" cy="0"/>
          <a:chOff x="0" y="0"/>
          <a:chExt cx="0" cy="0"/>
        </a:xfrm>
      </p:grpSpPr>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lvl1pPr indent="0" algn="l">
              <a:buNone/>
              <a:tabLst>
                <a:tab pos="0" algn="l"/>
              </a:tabLst>
              <a:defRPr lang="en-US" sz="1800" b="0" u="none" strike="noStrike">
                <a:solidFill>
                  <a:schemeClr val="dk1"/>
                </a:solidFill>
                <a:effectLst/>
                <a:uFillTx/>
                <a:latin typeface="Calibri"/>
              </a:defRPr>
            </a:lvl1pPr>
          </a:lstStyle>
          <a:p>
            <a:pPr indent="0" algn="l">
              <a:buNone/>
              <a:tabLst>
                <a:tab pos="0" algn="l"/>
              </a:tabLst>
            </a:pPr>
            <a:r>
              <a:rPr lang="en-US" sz="1800" b="0" u="none" strike="noStrike">
                <a:solidFill>
                  <a:schemeClr val="dk1"/>
                </a:solidFill>
                <a:effectLst/>
                <a:uFillTx/>
                <a:latin typeface="Calibri"/>
              </a:rPr>
              <a:t>Click to edit the title text format</a:t>
            </a:r>
            <a:endParaRPr lang="en-US" sz="1800" b="0" u="none" strike="noStrike">
              <a:solidFill>
                <a:schemeClr val="dk1"/>
              </a:solidFill>
              <a:effectLst/>
              <a:uFillTx/>
              <a:latin typeface="Calibri"/>
            </a:endParaRPr>
          </a:p>
        </p:txBody>
      </p:sp>
      <p:sp>
        <p:nvSpPr>
          <p:cNvPr id="3" name="PlaceHolder 2"/>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lvl1pPr algn="l">
              <a:spcBef>
                <a:spcPts val="1417"/>
              </a:spcBef>
              <a:buClr>
                <a:srgbClr val="000000"/>
              </a:buClr>
              <a:buSzPct val="45000"/>
              <a:buFont typeface="Wingdings" charset="2"/>
              <a:buChar char=""/>
              <a:defRPr lang="en-US" sz="3200" b="0" u="none" strike="noStrike">
                <a:solidFill>
                  <a:schemeClr val="dk1"/>
                </a:solidFill>
                <a:effectLst/>
                <a:uFillTx/>
                <a:latin typeface="Calibri"/>
              </a:defRPr>
            </a:lvl1pPr>
            <a:lvl2pPr lvl="1" algn="l">
              <a:spcBef>
                <a:spcPts val="1134"/>
              </a:spcBef>
              <a:buClr>
                <a:srgbClr val="000000"/>
              </a:buClr>
              <a:buSzPct val="75000"/>
              <a:buFont typeface="Symbol" charset="2"/>
              <a:buChar char=""/>
              <a:defRPr lang="en-US" sz="2400" b="0" u="none" strike="noStrike">
                <a:solidFill>
                  <a:schemeClr val="dk1"/>
                </a:solidFill>
                <a:effectLst/>
                <a:uFillTx/>
                <a:latin typeface="Calibri"/>
              </a:defRPr>
            </a:lvl2pPr>
            <a:lvl3pPr lvl="2" algn="l">
              <a:spcBef>
                <a:spcPts val="850"/>
              </a:spcBef>
              <a:buClr>
                <a:srgbClr val="000000"/>
              </a:buClr>
              <a:buSzPct val="45000"/>
              <a:buFont typeface="Wingdings" charset="2"/>
              <a:buChar char=""/>
              <a:defRPr lang="en-US" sz="2000" b="0" u="none" strike="noStrike">
                <a:solidFill>
                  <a:schemeClr val="dk1"/>
                </a:solidFill>
                <a:effectLst/>
                <a:uFillTx/>
                <a:latin typeface="Calibri"/>
              </a:defRPr>
            </a:lvl3pPr>
            <a:lvl4pPr lvl="3" algn="l">
              <a:spcBef>
                <a:spcPts val="567"/>
              </a:spcBef>
              <a:buClr>
                <a:srgbClr val="000000"/>
              </a:buClr>
              <a:buSzPct val="75000"/>
              <a:buFont typeface="Symbol" charset="2"/>
              <a:buChar char=""/>
              <a:defRPr lang="en-US" sz="2000" b="0" u="none" strike="noStrike">
                <a:solidFill>
                  <a:schemeClr val="dk1"/>
                </a:solidFill>
                <a:effectLst/>
                <a:uFillTx/>
                <a:latin typeface="Calibri"/>
              </a:defRPr>
            </a:lvl4pPr>
            <a:lvl5pPr lvl="4" algn="l">
              <a:spcBef>
                <a:spcPts val="283"/>
              </a:spcBef>
              <a:buClr>
                <a:srgbClr val="000000"/>
              </a:buClr>
              <a:buSzPct val="45000"/>
              <a:buFont typeface="Wingdings" charset="2"/>
              <a:buChar char=""/>
              <a:defRPr lang="en-US" sz="2000" b="0" u="none" strike="noStrike">
                <a:solidFill>
                  <a:schemeClr val="dk1"/>
                </a:solidFill>
                <a:effectLst/>
                <a:uFillTx/>
                <a:latin typeface="Calibri"/>
              </a:defRPr>
            </a:lvl5pPr>
            <a:lvl6pPr lvl="5" algn="l">
              <a:spcBef>
                <a:spcPts val="283"/>
              </a:spcBef>
              <a:buClr>
                <a:srgbClr val="000000"/>
              </a:buClr>
              <a:buSzPct val="45000"/>
              <a:buFont typeface="Wingdings" charset="2"/>
              <a:buChar char=""/>
              <a:defRPr lang="en-US" sz="2000" b="0" u="none" strike="noStrike">
                <a:solidFill>
                  <a:schemeClr val="dk1"/>
                </a:solidFill>
                <a:effectLst/>
                <a:uFillTx/>
                <a:latin typeface="Calibri"/>
              </a:defRPr>
            </a:lvl6pPr>
            <a:lvl7pPr lvl="6" algn="l">
              <a:spcBef>
                <a:spcPts val="283"/>
              </a:spcBef>
              <a:buClr>
                <a:srgbClr val="000000"/>
              </a:buClr>
              <a:buSzPct val="45000"/>
              <a:buFont typeface="Wingdings" charset="2"/>
              <a:buChar char=""/>
              <a:defRPr lang="en-US" sz="2000" b="0" u="none" strike="noStrike">
                <a:solidFill>
                  <a:schemeClr val="dk1"/>
                </a:solidFill>
                <a:effectLst/>
                <a:uFillTx/>
                <a:latin typeface="Calibri"/>
              </a:defRPr>
            </a:lvl7pPr>
          </a:lstStyle>
          <a:p>
            <a:pPr indent="-324000" algn="l">
              <a:spcBef>
                <a:spcPts val="1417"/>
              </a:spcBef>
              <a:buClr>
                <a:srgbClr val="000000"/>
              </a:buClr>
              <a:buSzPct val="45000"/>
              <a:buFont typeface="Wingdings" charset="2"/>
              <a:buChar char=""/>
            </a:pPr>
            <a:r>
              <a:rPr lang="en-US" sz="3200" b="0" u="none" strike="noStrike">
                <a:solidFill>
                  <a:schemeClr val="dk1"/>
                </a:solidFill>
                <a:effectLst/>
                <a:uFillTx/>
                <a:latin typeface="Calibri"/>
              </a:rPr>
              <a:t>Click to edit the outline text format</a:t>
            </a:r>
            <a:endParaRPr lang="en-US" sz="3200" b="0" u="none" strike="noStrike">
              <a:solidFill>
                <a:schemeClr val="dk1"/>
              </a:solidFill>
              <a:effectLst/>
              <a:uFillTx/>
              <a:latin typeface="Calibri"/>
            </a:endParaRPr>
          </a:p>
          <a:p>
            <a:pPr marL="864000" lvl="1" indent="-324000" algn="l">
              <a:spcBef>
                <a:spcPts val="1134"/>
              </a:spcBef>
              <a:buClr>
                <a:srgbClr val="000000"/>
              </a:buClr>
              <a:buSzPct val="75000"/>
              <a:buFont typeface="Symbol" charset="2"/>
              <a:buChar char=""/>
            </a:pPr>
            <a:r>
              <a:rPr lang="en-US" sz="2400" b="0" u="none" strike="noStrike">
                <a:solidFill>
                  <a:schemeClr val="dk1"/>
                </a:solidFill>
                <a:effectLst/>
                <a:uFillTx/>
                <a:latin typeface="Calibri"/>
              </a:rPr>
              <a:t>Second Outline Level</a:t>
            </a:r>
            <a:endParaRPr lang="en-US" sz="2400" b="0" u="none" strike="noStrike">
              <a:solidFill>
                <a:schemeClr val="dk1"/>
              </a:solidFill>
              <a:effectLst/>
              <a:uFillTx/>
              <a:latin typeface="Calibri"/>
            </a:endParaRPr>
          </a:p>
          <a:p>
            <a:pPr marL="1296000" lvl="2" indent="-288000" algn="l">
              <a:spcBef>
                <a:spcPts val="850"/>
              </a:spcBef>
              <a:buClr>
                <a:srgbClr val="000000"/>
              </a:buClr>
              <a:buSzPct val="45000"/>
              <a:buFont typeface="Wingdings" charset="2"/>
              <a:buChar char=""/>
            </a:pPr>
            <a:r>
              <a:rPr lang="en-US" sz="2000" b="0" u="none" strike="noStrike">
                <a:solidFill>
                  <a:schemeClr val="dk1"/>
                </a:solidFill>
                <a:effectLst/>
                <a:uFillTx/>
                <a:latin typeface="Calibri"/>
              </a:rPr>
              <a:t>Third Outline Level</a:t>
            </a:r>
            <a:endParaRPr lang="en-US" sz="2000" b="0" u="none" strike="noStrike">
              <a:solidFill>
                <a:schemeClr val="dk1"/>
              </a:solidFill>
              <a:effectLst/>
              <a:uFillTx/>
              <a:latin typeface="Calibri"/>
            </a:endParaRPr>
          </a:p>
          <a:p>
            <a:pPr marL="1728000" lvl="3" indent="-216000" algn="l">
              <a:spcBef>
                <a:spcPts val="567"/>
              </a:spcBef>
              <a:buClr>
                <a:srgbClr val="000000"/>
              </a:buClr>
              <a:buSzPct val="75000"/>
              <a:buFont typeface="Symbol" charset="2"/>
              <a:buChar char=""/>
            </a:pPr>
            <a:r>
              <a:rPr lang="en-US" sz="2000" b="0" u="none" strike="noStrike">
                <a:solidFill>
                  <a:schemeClr val="dk1"/>
                </a:solidFill>
                <a:effectLst/>
                <a:uFillTx/>
                <a:latin typeface="Calibri"/>
              </a:rPr>
              <a:t>Fourth Outline Level</a:t>
            </a:r>
            <a:endParaRPr lang="en-US" sz="2000" b="0" u="none" strike="noStrike">
              <a:solidFill>
                <a:schemeClr val="dk1"/>
              </a:solidFill>
              <a:effectLst/>
              <a:uFillTx/>
              <a:latin typeface="Calibri"/>
            </a:endParaRPr>
          </a:p>
          <a:p>
            <a:pPr marL="2160000" lvl="4" indent="-216000" algn="l">
              <a:spcBef>
                <a:spcPts val="283"/>
              </a:spcBef>
              <a:buClr>
                <a:srgbClr val="000000"/>
              </a:buClr>
              <a:buSzPct val="45000"/>
              <a:buFont typeface="Wingdings" charset="2"/>
              <a:buChar char=""/>
            </a:pPr>
            <a:r>
              <a:rPr lang="en-US" sz="2000" b="0" u="none" strike="noStrike">
                <a:solidFill>
                  <a:schemeClr val="dk1"/>
                </a:solidFill>
                <a:effectLst/>
                <a:uFillTx/>
                <a:latin typeface="Calibri"/>
              </a:rPr>
              <a:t>Fifth Outline Level</a:t>
            </a:r>
            <a:endParaRPr lang="en-US" sz="2000" b="0" u="none" strike="noStrike">
              <a:solidFill>
                <a:schemeClr val="dk1"/>
              </a:solidFill>
              <a:effectLst/>
              <a:uFillTx/>
              <a:latin typeface="Calibri"/>
            </a:endParaRPr>
          </a:p>
          <a:p>
            <a:pPr marL="2592000" lvl="5" indent="-216000" algn="l">
              <a:spcBef>
                <a:spcPts val="283"/>
              </a:spcBef>
              <a:buClr>
                <a:srgbClr val="000000"/>
              </a:buClr>
              <a:buSzPct val="45000"/>
              <a:buFont typeface="Wingdings" charset="2"/>
              <a:buChar char=""/>
            </a:pPr>
            <a:r>
              <a:rPr lang="en-US" sz="2000" b="0" u="none" strike="noStrike">
                <a:solidFill>
                  <a:schemeClr val="dk1"/>
                </a:solidFill>
                <a:effectLst/>
                <a:uFillTx/>
                <a:latin typeface="Calibri"/>
              </a:rPr>
              <a:t>Sixth Outline Level</a:t>
            </a:r>
            <a:endParaRPr lang="en-US" sz="2000" b="0" u="none" strike="noStrike">
              <a:solidFill>
                <a:schemeClr val="dk1"/>
              </a:solidFill>
              <a:effectLst/>
              <a:uFillTx/>
              <a:latin typeface="Calibri"/>
            </a:endParaRPr>
          </a:p>
          <a:p>
            <a:pPr marL="3024000" lvl="6" indent="-216000" algn="l">
              <a:spcBef>
                <a:spcPts val="283"/>
              </a:spcBef>
              <a:buClr>
                <a:srgbClr val="000000"/>
              </a:buClr>
              <a:buSzPct val="45000"/>
              <a:buFont typeface="Wingdings" charset="2"/>
              <a:buChar char=""/>
            </a:pPr>
            <a:r>
              <a:rPr lang="en-US" sz="2000" b="0" u="none" strike="noStrike">
                <a:solidFill>
                  <a:schemeClr val="dk1"/>
                </a:solidFill>
                <a:effectLst/>
                <a:uFillTx/>
                <a:latin typeface="Calibri"/>
              </a:rPr>
              <a:t>Seventh Outline Level</a:t>
            </a:r>
            <a:endParaRPr lang="en-US" sz="2000" b="0" u="none" strike="noStrike">
              <a:solidFill>
                <a:schemeClr val="dk1"/>
              </a:solidFill>
              <a:effectLst/>
              <a:uFillTx/>
              <a:latin typeface="Calibri"/>
            </a:endParaRPr>
          </a:p>
        </p:txBody>
      </p:sp>
    </p:spTree>
  </p:cSld>
  <p:clrMap bg1="lt1" tx1="dk1" bg2="lt2" tx2="dk2" accent1="accent1" accent2="accent2" accent3="accent3" accent4="accent4" accent5="accent5" accent6="accent6" hlink="hlink" folHlink="folHlink"/>
  <p:sldLayoutIdLst>
    <p:sldLayoutId id="2147483649" r:id="rId2"/>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slideLayout" Target="../slideLayouts/slideLayout1.xml"/><Relationship Id="rId5"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image" Target="../media/image5.png"/><Relationship Id="rId3" Type="http://schemas.openxmlformats.org/officeDocument/2006/relationships/slideLayout" Target="../slideLayouts/slideLayout1.xml"/><Relationship Id="rId4"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chart" Target="../charts/chart1.xml"/><Relationship Id="rId2" Type="http://schemas.openxmlformats.org/officeDocument/2006/relationships/slideLayout" Target="../slideLayouts/slideLayout1.xml"/><Relationship Id="rId3"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2B211C"/>
        </a:solidFill>
      </p:bgPr>
    </p:bg>
    <p:spTree>
      <p:nvGrpSpPr>
        <p:cNvPr id="1" name=""/>
        <p:cNvGrpSpPr/>
        <p:nvPr/>
      </p:nvGrpSpPr>
      <p:grpSpPr>
        <a:xfrm>
          <a:off x="0" y="0"/>
          <a:ext cx="0" cy="0"/>
          <a:chOff x="0" y="0"/>
          <a:chExt cx="0" cy="0"/>
        </a:xfrm>
      </p:grpSpPr>
      <p:sp>
        <p:nvSpPr>
          <p:cNvPr id="10" name="Shape 0"/>
          <p:cNvSpPr/>
          <p:nvPr/>
        </p:nvSpPr>
        <p:spPr>
          <a:xfrm>
            <a:off x="8778240" y="-1371600"/>
            <a:ext cx="4937040" cy="4937040"/>
          </a:xfrm>
          <a:prstGeom prst="ellipse">
            <a:avLst/>
          </a:prstGeom>
          <a:solidFill>
            <a:srgbClr val="B85042"/>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1" name="Shape 1"/>
          <p:cNvSpPr/>
          <p:nvPr/>
        </p:nvSpPr>
        <p:spPr>
          <a:xfrm>
            <a:off x="10241280" y="4206240"/>
            <a:ext cx="2925360" cy="2925360"/>
          </a:xfrm>
          <a:prstGeom prst="ellipse">
            <a:avLst/>
          </a:prstGeom>
          <a:solidFill>
            <a:srgbClr val="6E8F7D"/>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2" name="Text 2"/>
          <p:cNvSpPr/>
          <p:nvPr/>
        </p:nvSpPr>
        <p:spPr>
          <a:xfrm>
            <a:off x="822960" y="1828800"/>
            <a:ext cx="8228880" cy="365040"/>
          </a:xfrm>
          <a:prstGeom prst="rect">
            <a:avLst/>
          </a:prstGeom>
          <a:noFill/>
          <a:ln w="0">
            <a:noFill/>
          </a:ln>
        </p:spPr>
        <p:style>
          <a:lnRef idx="0"/>
          <a:fillRef idx="0"/>
          <a:effectRef idx="0"/>
          <a:fontRef idx="minor"/>
        </p:style>
        <p:txBody>
          <a:bodyPr lIns="0" tIns="0" rIns="0" bIns="0" anchor="ctr">
            <a:noAutofit/>
          </a:bodyPr>
          <a:p>
            <a:endParaRPr lang="en-US" sz="1800" b="0" u="none" strike="noStrike">
              <a:solidFill>
                <a:srgbClr val="FFFFFF"/>
              </a:solidFill>
              <a:effectLst/>
              <a:uFillTx/>
              <a:latin typeface="Arial"/>
            </a:endParaRPr>
          </a:p>
        </p:txBody>
      </p:sp>
      <p:sp>
        <p:nvSpPr>
          <p:cNvPr id="13" name="Text 3"/>
          <p:cNvSpPr/>
          <p:nvPr/>
        </p:nvSpPr>
        <p:spPr>
          <a:xfrm>
            <a:off x="822960" y="2286000"/>
            <a:ext cx="8411760" cy="959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4200" b="1" u="none" strike="noStrike">
                <a:solidFill>
                  <a:srgbClr val="FFFFFF"/>
                </a:solidFill>
                <a:effectLst/>
                <a:uFillTx/>
                <a:latin typeface="Calibri"/>
                <a:ea typeface="Calibri"/>
              </a:rPr>
              <a:t>Nts’i Fiyo</a:t>
            </a:r>
            <a:endParaRPr lang="en-US" sz="4200" b="0" u="none" strike="noStrike">
              <a:solidFill>
                <a:srgbClr val="FFFFFF"/>
              </a:solidFill>
              <a:effectLst/>
              <a:uFillTx/>
              <a:latin typeface="Arial"/>
            </a:endParaRPr>
          </a:p>
        </p:txBody>
      </p:sp>
      <p:sp>
        <p:nvSpPr>
          <p:cNvPr id="14" name="Text 4"/>
          <p:cNvSpPr/>
          <p:nvPr/>
        </p:nvSpPr>
        <p:spPr>
          <a:xfrm>
            <a:off x="822960" y="3273480"/>
            <a:ext cx="7863120" cy="4564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800" b="0" u="none" strike="noStrike">
                <a:solidFill>
                  <a:srgbClr val="C9BEB4"/>
                </a:solidFill>
                <a:effectLst/>
                <a:uFillTx/>
                <a:latin typeface="Calibri"/>
                <a:ea typeface="Calibri"/>
              </a:rPr>
              <a:t>Avances App Movil | Modelo IA</a:t>
            </a:r>
            <a:endParaRPr lang="en-US" sz="1800" b="0" u="none" strike="noStrike">
              <a:solidFill>
                <a:srgbClr val="FFFFFF"/>
              </a:solidFill>
              <a:effectLst/>
              <a:uFillTx/>
              <a:latin typeface="Arial"/>
            </a:endParaRPr>
          </a:p>
        </p:txBody>
      </p:sp>
      <p:sp>
        <p:nvSpPr>
          <p:cNvPr id="15" name="Text 5"/>
          <p:cNvSpPr/>
          <p:nvPr/>
        </p:nvSpPr>
        <p:spPr>
          <a:xfrm>
            <a:off x="822960" y="5394960"/>
            <a:ext cx="7863120" cy="365040"/>
          </a:xfrm>
          <a:prstGeom prst="rect">
            <a:avLst/>
          </a:prstGeom>
          <a:noFill/>
          <a:ln w="0">
            <a:noFill/>
          </a:ln>
        </p:spPr>
        <p:style>
          <a:lnRef idx="0"/>
          <a:fillRef idx="0"/>
          <a:effectRef idx="0"/>
          <a:fontRef idx="minor"/>
        </p:style>
        <p:txBody>
          <a:bodyPr lIns="0" tIns="0" rIns="0" bIns="0" anchor="ctr">
            <a:noAutofit/>
          </a:bodyPr>
          <a:p>
            <a:endParaRPr lang="en-US" sz="18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3EFE4"/>
        </a:solidFill>
      </p:bgPr>
    </p:bg>
    <p:spTree>
      <p:nvGrpSpPr>
        <p:cNvPr id="1" name=""/>
        <p:cNvGrpSpPr/>
        <p:nvPr/>
      </p:nvGrpSpPr>
      <p:grpSpPr>
        <a:xfrm>
          <a:off x="0" y="0"/>
          <a:ext cx="0" cy="0"/>
          <a:chOff x="0" y="0"/>
          <a:chExt cx="0" cy="0"/>
        </a:xfrm>
      </p:grpSpPr>
      <p:sp>
        <p:nvSpPr>
          <p:cNvPr id="16" name="Eyebrow"/>
          <p:cNvSpPr/>
          <p:nvPr/>
        </p:nvSpPr>
        <p:spPr>
          <a:xfrm>
            <a:off x="658440" y="274320"/>
            <a:ext cx="10880640" cy="227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1" u="none" spc="201" strike="noStrike">
                <a:solidFill>
                  <a:srgbClr val="B85042"/>
                </a:solidFill>
                <a:effectLst/>
                <a:uFillTx/>
                <a:latin typeface="Calibri"/>
                <a:ea typeface="Calibri"/>
              </a:rPr>
              <a:t>APLICACIÓN MÓVIL</a:t>
            </a:r>
            <a:endParaRPr lang="en-US" sz="1100" b="0" u="none" strike="noStrike">
              <a:solidFill>
                <a:srgbClr val="000000"/>
              </a:solidFill>
              <a:effectLst/>
              <a:uFillTx/>
              <a:latin typeface="Arial"/>
            </a:endParaRPr>
          </a:p>
        </p:txBody>
      </p:sp>
      <p:sp>
        <p:nvSpPr>
          <p:cNvPr id="17" name="Title"/>
          <p:cNvSpPr/>
          <p:nvPr/>
        </p:nvSpPr>
        <p:spPr>
          <a:xfrm>
            <a:off x="640080" y="502920"/>
            <a:ext cx="10911240" cy="6850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800" b="1" u="none" strike="noStrike">
                <a:solidFill>
                  <a:srgbClr val="241C18"/>
                </a:solidFill>
                <a:effectLst/>
                <a:uFillTx/>
                <a:latin typeface="Calibri"/>
                <a:ea typeface="Calibri"/>
              </a:rPr>
              <a:t>Práctica de pronunciación, </a:t>
            </a:r>
            <a:r>
              <a:rPr lang="en-US" sz="2800" b="1" u="none" strike="noStrike">
                <a:solidFill>
                  <a:srgbClr val="241C18"/>
                </a:solidFill>
                <a:effectLst/>
                <a:uFillTx/>
                <a:latin typeface="Calibri"/>
                <a:ea typeface="Calibri"/>
              </a:rPr>
              <a:t>de punta a punta</a:t>
            </a:r>
            <a:endParaRPr lang="en-US" sz="2800" b="0" u="none" strike="noStrike">
              <a:solidFill>
                <a:srgbClr val="000000"/>
              </a:solidFill>
              <a:effectLst/>
              <a:uFillTx/>
              <a:latin typeface="Arial"/>
            </a:endParaRPr>
          </a:p>
        </p:txBody>
      </p:sp>
      <p:sp>
        <p:nvSpPr>
          <p:cNvPr id="18" name="Subtitle"/>
          <p:cNvSpPr/>
          <p:nvPr/>
        </p:nvSpPr>
        <p:spPr>
          <a:xfrm>
            <a:off x="640080" y="1188720"/>
            <a:ext cx="10911240" cy="34920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400" b="0" u="none" strike="noStrike">
                <a:solidFill>
                  <a:srgbClr val="6E635C"/>
                </a:solidFill>
                <a:effectLst/>
                <a:uFillTx/>
                <a:latin typeface="Calibri"/>
                <a:ea typeface="Calibri"/>
              </a:rPr>
              <a:t>El </a:t>
            </a:r>
            <a:r>
              <a:rPr lang="en-US" sz="1400" b="0" u="none" strike="noStrike">
                <a:solidFill>
                  <a:srgbClr val="6E635C"/>
                </a:solidFill>
                <a:effectLst/>
                <a:uFillTx/>
                <a:latin typeface="Calibri"/>
                <a:ea typeface="Calibri"/>
              </a:rPr>
              <a:t>niño </a:t>
            </a:r>
            <a:r>
              <a:rPr lang="en-US" sz="1400" b="0" u="none" strike="noStrike">
                <a:solidFill>
                  <a:srgbClr val="6E635C"/>
                </a:solidFill>
                <a:effectLst/>
                <a:uFillTx/>
                <a:latin typeface="Calibri"/>
                <a:ea typeface="Calibri"/>
              </a:rPr>
              <a:t>elige </a:t>
            </a:r>
            <a:r>
              <a:rPr lang="en-US" sz="1400" b="0" u="none" strike="noStrike">
                <a:solidFill>
                  <a:srgbClr val="6E635C"/>
                </a:solidFill>
                <a:effectLst/>
                <a:uFillTx/>
                <a:latin typeface="Calibri"/>
                <a:ea typeface="Calibri"/>
              </a:rPr>
              <a:t>una </a:t>
            </a:r>
            <a:r>
              <a:rPr lang="en-US" sz="1400" b="0" u="none" strike="noStrike">
                <a:solidFill>
                  <a:srgbClr val="6E635C"/>
                </a:solidFill>
                <a:effectLst/>
                <a:uFillTx/>
                <a:latin typeface="Calibri"/>
                <a:ea typeface="Calibri"/>
              </a:rPr>
              <a:t>palab</a:t>
            </a:r>
            <a:r>
              <a:rPr lang="en-US" sz="1400" b="0" u="none" strike="noStrike">
                <a:solidFill>
                  <a:srgbClr val="6E635C"/>
                </a:solidFill>
                <a:effectLst/>
                <a:uFillTx/>
                <a:latin typeface="Calibri"/>
                <a:ea typeface="Calibri"/>
              </a:rPr>
              <a:t>ra, </a:t>
            </a:r>
            <a:r>
              <a:rPr lang="en-US" sz="1400" b="0" u="none" strike="noStrike">
                <a:solidFill>
                  <a:srgbClr val="6E635C"/>
                </a:solidFill>
                <a:effectLst/>
                <a:uFillTx/>
                <a:latin typeface="Calibri"/>
                <a:ea typeface="Calibri"/>
              </a:rPr>
              <a:t>escuc</a:t>
            </a:r>
            <a:r>
              <a:rPr lang="en-US" sz="1400" b="0" u="none" strike="noStrike">
                <a:solidFill>
                  <a:srgbClr val="6E635C"/>
                </a:solidFill>
                <a:effectLst/>
                <a:uFillTx/>
                <a:latin typeface="Calibri"/>
                <a:ea typeface="Calibri"/>
              </a:rPr>
              <a:t>ha la </a:t>
            </a:r>
            <a:r>
              <a:rPr lang="en-US" sz="1400" b="0" u="none" strike="noStrike">
                <a:solidFill>
                  <a:srgbClr val="6E635C"/>
                </a:solidFill>
                <a:effectLst/>
                <a:uFillTx/>
                <a:latin typeface="Calibri"/>
                <a:ea typeface="Calibri"/>
              </a:rPr>
              <a:t>refere</a:t>
            </a:r>
            <a:r>
              <a:rPr lang="en-US" sz="1400" b="0" u="none" strike="noStrike">
                <a:solidFill>
                  <a:srgbClr val="6E635C"/>
                </a:solidFill>
                <a:effectLst/>
                <a:uFillTx/>
                <a:latin typeface="Calibri"/>
                <a:ea typeface="Calibri"/>
              </a:rPr>
              <a:t>ncia </a:t>
            </a:r>
            <a:r>
              <a:rPr lang="en-US" sz="1400" b="0" u="none" strike="noStrike">
                <a:solidFill>
                  <a:srgbClr val="6E635C"/>
                </a:solidFill>
                <a:effectLst/>
                <a:uFillTx/>
                <a:latin typeface="Calibri"/>
                <a:ea typeface="Calibri"/>
              </a:rPr>
              <a:t>graba</a:t>
            </a:r>
            <a:r>
              <a:rPr lang="en-US" sz="1400" b="0" u="none" strike="noStrike">
                <a:solidFill>
                  <a:srgbClr val="6E635C"/>
                </a:solidFill>
                <a:effectLst/>
                <a:uFillTx/>
                <a:latin typeface="Calibri"/>
                <a:ea typeface="Calibri"/>
              </a:rPr>
              <a:t>da </a:t>
            </a:r>
            <a:r>
              <a:rPr lang="en-US" sz="1400" b="0" u="none" strike="noStrike">
                <a:solidFill>
                  <a:srgbClr val="6E635C"/>
                </a:solidFill>
                <a:effectLst/>
                <a:uFillTx/>
                <a:latin typeface="Calibri"/>
                <a:ea typeface="Calibri"/>
              </a:rPr>
              <a:t>por </a:t>
            </a:r>
            <a:r>
              <a:rPr lang="en-US" sz="1400" b="0" u="none" strike="noStrike">
                <a:solidFill>
                  <a:srgbClr val="6E635C"/>
                </a:solidFill>
                <a:effectLst/>
                <a:uFillTx/>
                <a:latin typeface="Calibri"/>
                <a:ea typeface="Calibri"/>
              </a:rPr>
              <a:t>un </a:t>
            </a:r>
            <a:r>
              <a:rPr lang="en-US" sz="1400" b="0" u="none" strike="noStrike">
                <a:solidFill>
                  <a:srgbClr val="6E635C"/>
                </a:solidFill>
                <a:effectLst/>
                <a:uFillTx/>
                <a:latin typeface="Calibri"/>
                <a:ea typeface="Calibri"/>
              </a:rPr>
              <a:t>habla</a:t>
            </a:r>
            <a:r>
              <a:rPr lang="en-US" sz="1400" b="0" u="none" strike="noStrike">
                <a:solidFill>
                  <a:srgbClr val="6E635C"/>
                </a:solidFill>
                <a:effectLst/>
                <a:uFillTx/>
                <a:latin typeface="Calibri"/>
                <a:ea typeface="Calibri"/>
              </a:rPr>
              <a:t>nte </a:t>
            </a:r>
            <a:r>
              <a:rPr lang="en-US" sz="1400" b="0" u="none" strike="noStrike">
                <a:solidFill>
                  <a:srgbClr val="6E635C"/>
                </a:solidFill>
                <a:effectLst/>
                <a:uFillTx/>
                <a:latin typeface="Calibri"/>
                <a:ea typeface="Calibri"/>
              </a:rPr>
              <a:t>nativ</a:t>
            </a:r>
            <a:r>
              <a:rPr lang="en-US" sz="1400" b="0" u="none" strike="noStrike">
                <a:solidFill>
                  <a:srgbClr val="6E635C"/>
                </a:solidFill>
                <a:effectLst/>
                <a:uFillTx/>
                <a:latin typeface="Calibri"/>
                <a:ea typeface="Calibri"/>
              </a:rPr>
              <a:t>o, </a:t>
            </a:r>
            <a:r>
              <a:rPr lang="en-US" sz="1400" b="0" u="none" strike="noStrike">
                <a:solidFill>
                  <a:srgbClr val="6E635C"/>
                </a:solidFill>
                <a:effectLst/>
                <a:uFillTx/>
                <a:latin typeface="Calibri"/>
                <a:ea typeface="Calibri"/>
              </a:rPr>
              <a:t>graba </a:t>
            </a:r>
            <a:r>
              <a:rPr lang="en-US" sz="1400" b="0" u="none" strike="noStrike">
                <a:solidFill>
                  <a:srgbClr val="6E635C"/>
                </a:solidFill>
                <a:effectLst/>
                <a:uFillTx/>
                <a:latin typeface="Calibri"/>
                <a:ea typeface="Calibri"/>
              </a:rPr>
              <a:t>su </a:t>
            </a:r>
            <a:r>
              <a:rPr lang="en-US" sz="1400" b="0" u="none" strike="noStrike">
                <a:solidFill>
                  <a:srgbClr val="6E635C"/>
                </a:solidFill>
                <a:effectLst/>
                <a:uFillTx/>
                <a:latin typeface="Calibri"/>
                <a:ea typeface="Calibri"/>
              </a:rPr>
              <a:t>propi</a:t>
            </a:r>
            <a:r>
              <a:rPr lang="en-US" sz="1400" b="0" u="none" strike="noStrike">
                <a:solidFill>
                  <a:srgbClr val="6E635C"/>
                </a:solidFill>
                <a:effectLst/>
                <a:uFillTx/>
                <a:latin typeface="Calibri"/>
                <a:ea typeface="Calibri"/>
              </a:rPr>
              <a:t>o </a:t>
            </a:r>
            <a:r>
              <a:rPr lang="en-US" sz="1400" b="0" u="none" strike="noStrike">
                <a:solidFill>
                  <a:srgbClr val="6E635C"/>
                </a:solidFill>
                <a:effectLst/>
                <a:uFillTx/>
                <a:latin typeface="Calibri"/>
                <a:ea typeface="Calibri"/>
              </a:rPr>
              <a:t>intent</a:t>
            </a:r>
            <a:r>
              <a:rPr lang="en-US" sz="1400" b="0" u="none" strike="noStrike">
                <a:solidFill>
                  <a:srgbClr val="6E635C"/>
                </a:solidFill>
                <a:effectLst/>
                <a:uFillTx/>
                <a:latin typeface="Calibri"/>
                <a:ea typeface="Calibri"/>
              </a:rPr>
              <a:t>o y </a:t>
            </a:r>
            <a:r>
              <a:rPr lang="en-US" sz="1400" b="0" u="none" strike="noStrike">
                <a:solidFill>
                  <a:srgbClr val="6E635C"/>
                </a:solidFill>
                <a:effectLst/>
                <a:uFillTx/>
                <a:latin typeface="Calibri"/>
                <a:ea typeface="Calibri"/>
              </a:rPr>
              <a:t>recib</a:t>
            </a:r>
            <a:r>
              <a:rPr lang="en-US" sz="1400" b="0" u="none" strike="noStrike">
                <a:solidFill>
                  <a:srgbClr val="6E635C"/>
                </a:solidFill>
                <a:effectLst/>
                <a:uFillTx/>
                <a:latin typeface="Calibri"/>
                <a:ea typeface="Calibri"/>
              </a:rPr>
              <a:t>e un </a:t>
            </a:r>
            <a:r>
              <a:rPr lang="en-US" sz="1400" b="0" u="none" strike="noStrike">
                <a:solidFill>
                  <a:srgbClr val="6E635C"/>
                </a:solidFill>
                <a:effectLst/>
                <a:uFillTx/>
                <a:latin typeface="Calibri"/>
                <a:ea typeface="Calibri"/>
              </a:rPr>
              <a:t>vered</a:t>
            </a:r>
            <a:r>
              <a:rPr lang="en-US" sz="1400" b="0" u="none" strike="noStrike">
                <a:solidFill>
                  <a:srgbClr val="6E635C"/>
                </a:solidFill>
                <a:effectLst/>
                <a:uFillTx/>
                <a:latin typeface="Calibri"/>
                <a:ea typeface="Calibri"/>
              </a:rPr>
              <a:t>icto al </a:t>
            </a:r>
            <a:r>
              <a:rPr lang="en-US" sz="1400" b="0" u="none" strike="noStrike">
                <a:solidFill>
                  <a:srgbClr val="6E635C"/>
                </a:solidFill>
                <a:effectLst/>
                <a:uFillTx/>
                <a:latin typeface="Calibri"/>
                <a:ea typeface="Calibri"/>
              </a:rPr>
              <a:t>insta</a:t>
            </a:r>
            <a:r>
              <a:rPr lang="en-US" sz="1400" b="0" u="none" strike="noStrike">
                <a:solidFill>
                  <a:srgbClr val="6E635C"/>
                </a:solidFill>
                <a:effectLst/>
                <a:uFillTx/>
                <a:latin typeface="Calibri"/>
                <a:ea typeface="Calibri"/>
              </a:rPr>
              <a:t>nte, </a:t>
            </a:r>
            <a:r>
              <a:rPr lang="en-US" sz="1400" b="0" u="none" strike="noStrike">
                <a:solidFill>
                  <a:srgbClr val="6E635C"/>
                </a:solidFill>
                <a:effectLst/>
                <a:uFillTx/>
                <a:latin typeface="Calibri"/>
                <a:ea typeface="Calibri"/>
              </a:rPr>
              <a:t>todo </a:t>
            </a:r>
            <a:r>
              <a:rPr lang="en-US" sz="1400" b="0" u="none" strike="noStrike">
                <a:solidFill>
                  <a:srgbClr val="6E635C"/>
                </a:solidFill>
                <a:effectLst/>
                <a:uFillTx/>
                <a:latin typeface="Calibri"/>
                <a:ea typeface="Calibri"/>
              </a:rPr>
              <a:t>en el </a:t>
            </a:r>
            <a:r>
              <a:rPr lang="en-US" sz="1400" b="0" u="none" strike="noStrike">
                <a:solidFill>
                  <a:srgbClr val="6E635C"/>
                </a:solidFill>
                <a:effectLst/>
                <a:uFillTx/>
                <a:latin typeface="Calibri"/>
                <a:ea typeface="Calibri"/>
              </a:rPr>
              <a:t>teléfo</a:t>
            </a:r>
            <a:r>
              <a:rPr lang="en-US" sz="1400" b="0" u="none" strike="noStrike">
                <a:solidFill>
                  <a:srgbClr val="6E635C"/>
                </a:solidFill>
                <a:effectLst/>
                <a:uFillTx/>
                <a:latin typeface="Calibri"/>
                <a:ea typeface="Calibri"/>
              </a:rPr>
              <a:t>no.</a:t>
            </a:r>
            <a:endParaRPr lang="en-US" sz="1400" b="0" u="none" strike="noStrike">
              <a:solidFill>
                <a:srgbClr val="000000"/>
              </a:solidFill>
              <a:effectLst/>
              <a:uFillTx/>
              <a:latin typeface="Arial"/>
            </a:endParaRPr>
          </a:p>
        </p:txBody>
      </p:sp>
      <p:sp>
        <p:nvSpPr>
          <p:cNvPr id="19" name="Card0"/>
          <p:cNvSpPr/>
          <p:nvPr/>
        </p:nvSpPr>
        <p:spPr>
          <a:xfrm>
            <a:off x="640080" y="1649880"/>
            <a:ext cx="3383280" cy="4549320"/>
          </a:xfrm>
          <a:prstGeom prst="roundRect">
            <a:avLst>
              <a:gd name="adj" fmla="val 3000"/>
            </a:avLst>
          </a:prstGeom>
          <a:solidFill>
            <a:srgbClr val="FFFFFF"/>
          </a:solidFill>
          <a:ln w="0">
            <a:noFill/>
          </a:ln>
          <a:effectLst>
            <a:outerShdw algn="bl" blurRad="127080" dir="5400000" dist="720" kx="0" ky="0" rotWithShape="0" sx="100000" sy="100000">
              <a:srgbClr val="000000">
                <a:alpha val="18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0" name="Caption"/>
          <p:cNvSpPr/>
          <p:nvPr/>
        </p:nvSpPr>
        <p:spPr>
          <a:xfrm>
            <a:off x="640080" y="1789920"/>
            <a:ext cx="3383280" cy="3193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400" b="1" u="none" strike="noStrike">
                <a:solidFill>
                  <a:srgbClr val="B85042"/>
                </a:solidFill>
                <a:effectLst/>
                <a:uFillTx/>
                <a:latin typeface="Calibri"/>
                <a:ea typeface="Calibri"/>
              </a:rPr>
              <a:t>1  ·  </a:t>
            </a:r>
            <a:r>
              <a:rPr lang="en-US" sz="1400" b="1" u="none" strike="noStrike">
                <a:solidFill>
                  <a:srgbClr val="B85042"/>
                </a:solidFill>
                <a:effectLst/>
                <a:uFillTx/>
                <a:latin typeface="Calibri"/>
                <a:ea typeface="Calibri"/>
              </a:rPr>
              <a:t>Elige </a:t>
            </a:r>
            <a:r>
              <a:rPr lang="en-US" sz="1400" b="1" u="none" strike="noStrike">
                <a:solidFill>
                  <a:srgbClr val="B85042"/>
                </a:solidFill>
                <a:effectLst/>
                <a:uFillTx/>
                <a:latin typeface="Calibri"/>
                <a:ea typeface="Calibri"/>
              </a:rPr>
              <a:t>una </a:t>
            </a:r>
            <a:r>
              <a:rPr lang="en-US" sz="1400" b="1" u="none" strike="noStrike">
                <a:solidFill>
                  <a:srgbClr val="B85042"/>
                </a:solidFill>
                <a:effectLst/>
                <a:uFillTx/>
                <a:latin typeface="Calibri"/>
                <a:ea typeface="Calibri"/>
              </a:rPr>
              <a:t>palab</a:t>
            </a:r>
            <a:r>
              <a:rPr lang="en-US" sz="1400" b="1" u="none" strike="noStrike">
                <a:solidFill>
                  <a:srgbClr val="B85042"/>
                </a:solidFill>
                <a:effectLst/>
                <a:uFillTx/>
                <a:latin typeface="Calibri"/>
                <a:ea typeface="Calibri"/>
              </a:rPr>
              <a:t>ra</a:t>
            </a:r>
            <a:endParaRPr lang="en-US" sz="1400" b="0" u="none" strike="noStrike">
              <a:solidFill>
                <a:srgbClr val="000000"/>
              </a:solidFill>
              <a:effectLst/>
              <a:uFillTx/>
              <a:latin typeface="Arial"/>
            </a:endParaRPr>
          </a:p>
        </p:txBody>
      </p:sp>
      <p:sp>
        <p:nvSpPr>
          <p:cNvPr id="21" name="Img0"/>
          <p:cNvSpPr/>
          <p:nvPr/>
        </p:nvSpPr>
        <p:spPr>
          <a:xfrm>
            <a:off x="1380600" y="2130120"/>
            <a:ext cx="1902240" cy="3999240"/>
          </a:xfrm>
          <a:prstGeom prst="roundRect">
            <a:avLst>
              <a:gd name="adj" fmla="val 3000"/>
            </a:avLst>
          </a:prstGeom>
          <a:blipFill rotWithShape="0">
            <a:blip r:embed="rId1"/>
            <a:srcRect/>
            <a:stretch/>
          </a:blipFill>
          <a:ln w="9525">
            <a:solidFill>
              <a:srgbClr val="E3DCC9"/>
            </a:solidFill>
            <a:round/>
          </a:ln>
          <a:effectLst>
            <a:outerShdw algn="bl" blurRad="127080" dir="5400000" dist="720" kx="0" ky="0" rotWithShape="0" sx="100000" sy="100000">
              <a:srgbClr val="000000">
                <a:alpha val="20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2" name="Card1"/>
          <p:cNvSpPr/>
          <p:nvPr/>
        </p:nvSpPr>
        <p:spPr>
          <a:xfrm>
            <a:off x="4403880" y="1649880"/>
            <a:ext cx="3383280" cy="4549320"/>
          </a:xfrm>
          <a:prstGeom prst="roundRect">
            <a:avLst>
              <a:gd name="adj" fmla="val 3000"/>
            </a:avLst>
          </a:prstGeom>
          <a:solidFill>
            <a:srgbClr val="FFFFFF"/>
          </a:solidFill>
          <a:ln w="0">
            <a:noFill/>
          </a:ln>
          <a:effectLst>
            <a:outerShdw algn="bl" blurRad="127080" dir="5400000" dist="720" kx="0" ky="0" rotWithShape="0" sx="100000" sy="100000">
              <a:srgbClr val="000000">
                <a:alpha val="18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3" name="Caption"/>
          <p:cNvSpPr/>
          <p:nvPr/>
        </p:nvSpPr>
        <p:spPr>
          <a:xfrm>
            <a:off x="4403880" y="1789920"/>
            <a:ext cx="3383280" cy="3193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400" b="1" u="none" strike="noStrike">
                <a:solidFill>
                  <a:srgbClr val="6E8F7D"/>
                </a:solidFill>
                <a:effectLst/>
                <a:uFillTx/>
                <a:latin typeface="Calibri"/>
                <a:ea typeface="Calibri"/>
              </a:rPr>
              <a:t>2  ·  Escucha y graba</a:t>
            </a:r>
            <a:endParaRPr lang="en-US" sz="1400" b="0" u="none" strike="noStrike">
              <a:solidFill>
                <a:srgbClr val="000000"/>
              </a:solidFill>
              <a:effectLst/>
              <a:uFillTx/>
              <a:latin typeface="Arial"/>
            </a:endParaRPr>
          </a:p>
        </p:txBody>
      </p:sp>
      <p:sp>
        <p:nvSpPr>
          <p:cNvPr id="24" name="Img1"/>
          <p:cNvSpPr/>
          <p:nvPr/>
        </p:nvSpPr>
        <p:spPr>
          <a:xfrm>
            <a:off x="5144400" y="2130120"/>
            <a:ext cx="1902240" cy="3999240"/>
          </a:xfrm>
          <a:prstGeom prst="roundRect">
            <a:avLst>
              <a:gd name="adj" fmla="val 3000"/>
            </a:avLst>
          </a:prstGeom>
          <a:blipFill rotWithShape="0">
            <a:blip r:embed="rId2"/>
            <a:srcRect/>
            <a:stretch/>
          </a:blipFill>
          <a:ln w="9525">
            <a:solidFill>
              <a:srgbClr val="E3DCC9"/>
            </a:solidFill>
            <a:round/>
          </a:ln>
          <a:effectLst>
            <a:outerShdw algn="bl" blurRad="127080" dir="5400000" dist="720" kx="0" ky="0" rotWithShape="0" sx="100000" sy="100000">
              <a:srgbClr val="000000">
                <a:alpha val="20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5" name="Card2"/>
          <p:cNvSpPr/>
          <p:nvPr/>
        </p:nvSpPr>
        <p:spPr>
          <a:xfrm>
            <a:off x="8168040" y="1649880"/>
            <a:ext cx="3383280" cy="4549320"/>
          </a:xfrm>
          <a:prstGeom prst="roundRect">
            <a:avLst>
              <a:gd name="adj" fmla="val 3000"/>
            </a:avLst>
          </a:prstGeom>
          <a:solidFill>
            <a:srgbClr val="FFFFFF"/>
          </a:solidFill>
          <a:ln w="0">
            <a:noFill/>
          </a:ln>
          <a:effectLst>
            <a:outerShdw algn="bl" blurRad="127080" dir="5400000" dist="720" kx="0" ky="0" rotWithShape="0" sx="100000" sy="100000">
              <a:srgbClr val="000000">
                <a:alpha val="18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6" name="Caption"/>
          <p:cNvSpPr/>
          <p:nvPr/>
        </p:nvSpPr>
        <p:spPr>
          <a:xfrm>
            <a:off x="8168040" y="1789920"/>
            <a:ext cx="3383280" cy="3193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400" b="1" u="none" strike="noStrike">
                <a:solidFill>
                  <a:srgbClr val="B85042"/>
                </a:solidFill>
                <a:effectLst/>
                <a:uFillTx/>
                <a:latin typeface="Calibri"/>
                <a:ea typeface="Calibri"/>
              </a:rPr>
              <a:t>3  ·  Veredicto al instante</a:t>
            </a:r>
            <a:endParaRPr lang="en-US" sz="1400" b="0" u="none" strike="noStrike">
              <a:solidFill>
                <a:srgbClr val="000000"/>
              </a:solidFill>
              <a:effectLst/>
              <a:uFillTx/>
              <a:latin typeface="Arial"/>
            </a:endParaRPr>
          </a:p>
        </p:txBody>
      </p:sp>
      <p:sp>
        <p:nvSpPr>
          <p:cNvPr id="27" name="Img2"/>
          <p:cNvSpPr/>
          <p:nvPr/>
        </p:nvSpPr>
        <p:spPr>
          <a:xfrm>
            <a:off x="8908560" y="2130120"/>
            <a:ext cx="1902240" cy="3999240"/>
          </a:xfrm>
          <a:prstGeom prst="roundRect">
            <a:avLst>
              <a:gd name="adj" fmla="val 3000"/>
            </a:avLst>
          </a:prstGeom>
          <a:blipFill rotWithShape="0">
            <a:blip r:embed="rId3"/>
            <a:srcRect/>
            <a:stretch/>
          </a:blipFill>
          <a:ln w="9525">
            <a:solidFill>
              <a:srgbClr val="E3DCC9"/>
            </a:solidFill>
            <a:round/>
          </a:ln>
          <a:effectLst>
            <a:outerShdw algn="bl" blurRad="127080" dir="5400000" dist="720" kx="0" ky="0" rotWithShape="0" sx="100000" sy="100000">
              <a:srgbClr val="000000">
                <a:alpha val="20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8" name="Note"/>
          <p:cNvSpPr/>
          <p:nvPr/>
        </p:nvSpPr>
        <p:spPr>
          <a:xfrm>
            <a:off x="640080" y="6329880"/>
            <a:ext cx="10911240" cy="39924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200" b="0" i="1" u="none" strike="noStrike">
                <a:solidFill>
                  <a:srgbClr val="6E635C"/>
                </a:solidFill>
                <a:effectLst/>
                <a:uFillTx/>
                <a:latin typeface="Calibri"/>
                <a:ea typeface="Calibri"/>
              </a:rPr>
              <a:t>El 70.9 % y el 0.0 % que se ven </a:t>
            </a:r>
            <a:r>
              <a:rPr lang="en-US" sz="1200" b="0" i="1" u="none" strike="noStrike">
                <a:solidFill>
                  <a:srgbClr val="6E635C"/>
                </a:solidFill>
                <a:effectLst/>
                <a:uFillTx/>
                <a:latin typeface="Calibri"/>
                <a:ea typeface="Calibri"/>
              </a:rPr>
              <a:t>arriba no son un porcentaje de </a:t>
            </a:r>
            <a:r>
              <a:rPr lang="en-US" sz="1200" b="0" i="1" u="none" strike="noStrike">
                <a:solidFill>
                  <a:srgbClr val="6E635C"/>
                </a:solidFill>
                <a:effectLst/>
                <a:uFillTx/>
                <a:latin typeface="Calibri"/>
                <a:ea typeface="Calibri"/>
              </a:rPr>
              <a:t>acierto: son una medida de </a:t>
            </a:r>
            <a:r>
              <a:rPr lang="en-US" sz="1200" b="0" i="1" u="none" strike="noStrike">
                <a:solidFill>
                  <a:srgbClr val="6E635C"/>
                </a:solidFill>
                <a:effectLst/>
                <a:uFillTx/>
                <a:latin typeface="Calibri"/>
                <a:ea typeface="Calibri"/>
              </a:rPr>
              <a:t>distancia reescalada contra un </a:t>
            </a:r>
            <a:r>
              <a:rPr lang="en-US" sz="1200" b="0" i="1" u="none" strike="noStrike">
                <a:solidFill>
                  <a:srgbClr val="6E635C"/>
                </a:solidFill>
                <a:effectLst/>
                <a:uFillTx/>
                <a:latin typeface="Calibri"/>
                <a:ea typeface="Calibri"/>
              </a:rPr>
              <a:t>umbral de decisión. se explica en </a:t>
            </a:r>
            <a:r>
              <a:rPr lang="en-US" sz="1200" b="0" i="1" u="none" strike="noStrike">
                <a:solidFill>
                  <a:srgbClr val="6E635C"/>
                </a:solidFill>
                <a:effectLst/>
                <a:uFillTx/>
                <a:latin typeface="Calibri"/>
                <a:ea typeface="Calibri"/>
              </a:rPr>
              <a:t>la sección del modelo.</a:t>
            </a:r>
            <a:endParaRPr lang="en-US" sz="1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3EFE4"/>
        </a:solidFill>
      </p:bgPr>
    </p:bg>
    <p:spTree>
      <p:nvGrpSpPr>
        <p:cNvPr id="1" name=""/>
        <p:cNvGrpSpPr/>
        <p:nvPr/>
      </p:nvGrpSpPr>
      <p:grpSpPr>
        <a:xfrm>
          <a:off x="0" y="0"/>
          <a:ext cx="0" cy="0"/>
          <a:chOff x="0" y="0"/>
          <a:chExt cx="0" cy="0"/>
        </a:xfrm>
      </p:grpSpPr>
      <p:sp>
        <p:nvSpPr>
          <p:cNvPr id="29" name="Eyebrow"/>
          <p:cNvSpPr/>
          <p:nvPr/>
        </p:nvSpPr>
        <p:spPr>
          <a:xfrm>
            <a:off x="658440" y="274320"/>
            <a:ext cx="10880640" cy="227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1" u="none" spc="201" strike="noStrike">
                <a:solidFill>
                  <a:srgbClr val="B85042"/>
                </a:solidFill>
                <a:effectLst/>
                <a:uFillTx/>
                <a:latin typeface="Calibri"/>
                <a:ea typeface="Calibri"/>
              </a:rPr>
              <a:t>APLICACIÓN MÓVIL</a:t>
            </a:r>
            <a:endParaRPr lang="en-US" sz="1100" b="0" u="none" strike="noStrike">
              <a:solidFill>
                <a:srgbClr val="000000"/>
              </a:solidFill>
              <a:effectLst/>
              <a:uFillTx/>
              <a:latin typeface="Arial"/>
            </a:endParaRPr>
          </a:p>
        </p:txBody>
      </p:sp>
      <p:sp>
        <p:nvSpPr>
          <p:cNvPr id="30" name="Title"/>
          <p:cNvSpPr/>
          <p:nvPr/>
        </p:nvSpPr>
        <p:spPr>
          <a:xfrm>
            <a:off x="640080" y="502920"/>
            <a:ext cx="10911240" cy="6850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800" b="1" u="none" strike="noStrike">
                <a:solidFill>
                  <a:srgbClr val="241C18"/>
                </a:solidFill>
                <a:effectLst/>
                <a:uFillTx/>
                <a:latin typeface="Calibri"/>
                <a:ea typeface="Calibri"/>
              </a:rPr>
              <a:t>Cómo se </a:t>
            </a:r>
            <a:r>
              <a:rPr lang="en-US" sz="2800" b="1" u="none" strike="noStrike">
                <a:solidFill>
                  <a:srgbClr val="241C18"/>
                </a:solidFill>
                <a:effectLst/>
                <a:uFillTx/>
                <a:latin typeface="Calibri"/>
                <a:ea typeface="Calibri"/>
              </a:rPr>
              <a:t>llega ahí: </a:t>
            </a:r>
            <a:r>
              <a:rPr lang="en-US" sz="2800" b="1" u="none" strike="noStrike">
                <a:solidFill>
                  <a:srgbClr val="241C18"/>
                </a:solidFill>
                <a:effectLst/>
                <a:uFillTx/>
                <a:latin typeface="Calibri"/>
                <a:ea typeface="Calibri"/>
              </a:rPr>
              <a:t>Explorar y </a:t>
            </a:r>
            <a:r>
              <a:rPr lang="en-US" sz="2800" b="1" u="none" strike="noStrike">
                <a:solidFill>
                  <a:srgbClr val="241C18"/>
                </a:solidFill>
                <a:effectLst/>
                <a:uFillTx/>
                <a:latin typeface="Calibri"/>
                <a:ea typeface="Calibri"/>
              </a:rPr>
              <a:t>Mapa de </a:t>
            </a:r>
            <a:r>
              <a:rPr lang="en-US" sz="2800" b="1" u="none" strike="noStrike">
                <a:solidFill>
                  <a:srgbClr val="241C18"/>
                </a:solidFill>
                <a:effectLst/>
                <a:uFillTx/>
                <a:latin typeface="Calibri"/>
                <a:ea typeface="Calibri"/>
              </a:rPr>
              <a:t>aventuras</a:t>
            </a:r>
            <a:endParaRPr lang="en-US" sz="2800" b="0" u="none" strike="noStrike">
              <a:solidFill>
                <a:srgbClr val="000000"/>
              </a:solidFill>
              <a:effectLst/>
              <a:uFillTx/>
              <a:latin typeface="Arial"/>
            </a:endParaRPr>
          </a:p>
        </p:txBody>
      </p:sp>
      <p:sp>
        <p:nvSpPr>
          <p:cNvPr id="31" name="Subtitle"/>
          <p:cNvSpPr/>
          <p:nvPr/>
        </p:nvSpPr>
        <p:spPr>
          <a:xfrm>
            <a:off x="640080" y="1188720"/>
            <a:ext cx="10911240" cy="34920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400" b="0" u="none" strike="noStrike">
                <a:solidFill>
                  <a:srgbClr val="6E635C"/>
                </a:solidFill>
                <a:effectLst/>
                <a:uFillTx/>
                <a:latin typeface="Calibri"/>
                <a:ea typeface="Calibri"/>
              </a:rPr>
              <a:t>La práctica de pronunciación cuelga de la pestaña Explorar, junto al mapa de aventuras que agrupa los juegos por zona temática.</a:t>
            </a:r>
            <a:endParaRPr lang="en-US" sz="1400" b="0" u="none" strike="noStrike">
              <a:solidFill>
                <a:srgbClr val="000000"/>
              </a:solidFill>
              <a:effectLst/>
              <a:uFillTx/>
              <a:latin typeface="Arial"/>
            </a:endParaRPr>
          </a:p>
        </p:txBody>
      </p:sp>
      <p:sp>
        <p:nvSpPr>
          <p:cNvPr id="32" name="CardExplorar"/>
          <p:cNvSpPr/>
          <p:nvPr/>
        </p:nvSpPr>
        <p:spPr>
          <a:xfrm>
            <a:off x="640080" y="1649880"/>
            <a:ext cx="3449160" cy="4549320"/>
          </a:xfrm>
          <a:prstGeom prst="roundRect">
            <a:avLst>
              <a:gd name="adj" fmla="val 3000"/>
            </a:avLst>
          </a:prstGeom>
          <a:solidFill>
            <a:srgbClr val="FFFFFF"/>
          </a:solidFill>
          <a:ln w="0">
            <a:noFill/>
          </a:ln>
          <a:effectLst>
            <a:outerShdw algn="bl" blurRad="127080" dir="5400000" dist="720" kx="0" ky="0" rotWithShape="0" sx="100000" sy="100000">
              <a:srgbClr val="000000">
                <a:alpha val="18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33" name="Caption"/>
          <p:cNvSpPr/>
          <p:nvPr/>
        </p:nvSpPr>
        <p:spPr>
          <a:xfrm>
            <a:off x="640080" y="1789920"/>
            <a:ext cx="3449160" cy="3193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400" b="1" u="none" strike="noStrike">
                <a:solidFill>
                  <a:srgbClr val="B85042"/>
                </a:solidFill>
                <a:effectLst/>
                <a:uFillTx/>
                <a:latin typeface="Calibri"/>
                <a:ea typeface="Calibri"/>
              </a:rPr>
              <a:t>  ·  Explorar</a:t>
            </a:r>
            <a:endParaRPr lang="en-US" sz="1400" b="0" u="none" strike="noStrike">
              <a:solidFill>
                <a:srgbClr val="000000"/>
              </a:solidFill>
              <a:effectLst/>
              <a:uFillTx/>
              <a:latin typeface="Arial"/>
            </a:endParaRPr>
          </a:p>
        </p:txBody>
      </p:sp>
      <p:sp>
        <p:nvSpPr>
          <p:cNvPr id="34" name="ImgExplorar"/>
          <p:cNvSpPr/>
          <p:nvPr/>
        </p:nvSpPr>
        <p:spPr>
          <a:xfrm>
            <a:off x="1430280" y="2199960"/>
            <a:ext cx="1869120" cy="3929400"/>
          </a:xfrm>
          <a:prstGeom prst="roundRect">
            <a:avLst>
              <a:gd name="adj" fmla="val 3000"/>
            </a:avLst>
          </a:prstGeom>
          <a:blipFill rotWithShape="0">
            <a:blip r:embed="rId1"/>
            <a:srcRect/>
            <a:stretch/>
          </a:blipFill>
          <a:ln w="9525">
            <a:solidFill>
              <a:srgbClr val="E3DCC9"/>
            </a:solidFill>
            <a:round/>
          </a:ln>
          <a:effectLst>
            <a:outerShdw algn="bl" blurRad="127080" dir="5400000" dist="720" kx="0" ky="0" rotWithShape="0" sx="100000" sy="100000">
              <a:srgbClr val="000000">
                <a:alpha val="20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35" name="CardMapa"/>
          <p:cNvSpPr/>
          <p:nvPr/>
        </p:nvSpPr>
        <p:spPr>
          <a:xfrm>
            <a:off x="4470120" y="1649880"/>
            <a:ext cx="7081200" cy="4549320"/>
          </a:xfrm>
          <a:prstGeom prst="roundRect">
            <a:avLst>
              <a:gd name="adj" fmla="val 3000"/>
            </a:avLst>
          </a:prstGeom>
          <a:solidFill>
            <a:srgbClr val="FFFFFF"/>
          </a:solidFill>
          <a:ln w="0">
            <a:noFill/>
          </a:ln>
          <a:effectLst>
            <a:outerShdw algn="bl" blurRad="127080" dir="5400000" dist="720" kx="0" ky="0" rotWithShape="0" sx="100000" sy="100000">
              <a:srgbClr val="000000">
                <a:alpha val="18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36" name="Caption"/>
          <p:cNvSpPr/>
          <p:nvPr/>
        </p:nvSpPr>
        <p:spPr>
          <a:xfrm>
            <a:off x="4470120" y="1789920"/>
            <a:ext cx="7081200" cy="3193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400" b="1" u="none" strike="noStrike">
                <a:solidFill>
                  <a:srgbClr val="6E8F7D"/>
                </a:solidFill>
                <a:effectLst/>
                <a:uFillTx/>
                <a:latin typeface="Calibri"/>
                <a:ea typeface="Calibri"/>
              </a:rPr>
              <a:t>  ·  Mapa de aventuras</a:t>
            </a:r>
            <a:endParaRPr lang="en-US" sz="1400" b="0" u="none" strike="noStrike">
              <a:solidFill>
                <a:srgbClr val="000000"/>
              </a:solidFill>
              <a:effectLst/>
              <a:uFillTx/>
              <a:latin typeface="Arial"/>
            </a:endParaRPr>
          </a:p>
        </p:txBody>
      </p:sp>
      <p:sp>
        <p:nvSpPr>
          <p:cNvPr id="37" name="ImgMapa"/>
          <p:cNvSpPr/>
          <p:nvPr/>
        </p:nvSpPr>
        <p:spPr>
          <a:xfrm>
            <a:off x="4719960" y="2644200"/>
            <a:ext cx="6581160" cy="2961000"/>
          </a:xfrm>
          <a:prstGeom prst="roundRect">
            <a:avLst>
              <a:gd name="adj" fmla="val 1500"/>
            </a:avLst>
          </a:prstGeom>
          <a:blipFill rotWithShape="0">
            <a:blip r:embed="rId2"/>
            <a:srcRect/>
            <a:stretch/>
          </a:blipFill>
          <a:ln w="9525">
            <a:solidFill>
              <a:srgbClr val="E3DCC9"/>
            </a:solidFill>
            <a:round/>
          </a:ln>
          <a:effectLst>
            <a:outerShdw algn="bl" blurRad="127080" dir="5400000" dist="720" kx="0" ky="0" rotWithShape="0" sx="100000" sy="100000">
              <a:srgbClr val="000000">
                <a:alpha val="20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38" name="Note"/>
          <p:cNvSpPr/>
          <p:nvPr/>
        </p:nvSpPr>
        <p:spPr>
          <a:xfrm>
            <a:off x="640080" y="6329880"/>
            <a:ext cx="10911240" cy="399240"/>
          </a:xfrm>
          <a:prstGeom prst="rect">
            <a:avLst/>
          </a:prstGeom>
          <a:noFill/>
          <a:ln w="0">
            <a:noFill/>
          </a:ln>
        </p:spPr>
        <p:style>
          <a:lnRef idx="0"/>
          <a:fillRef idx="0"/>
          <a:effectRef idx="0"/>
          <a:fontRef idx="minor"/>
        </p:style>
        <p:txBody>
          <a:bodyPr lIns="0" tIns="0" rIns="0" bIns="0" anchor="t">
            <a:noAutofit/>
          </a:bodyPr>
          <a:p>
            <a:endParaRPr lang="en-US"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2B211C"/>
        </a:solidFill>
      </p:bgPr>
    </p:bg>
    <p:spTree>
      <p:nvGrpSpPr>
        <p:cNvPr id="1" name=""/>
        <p:cNvGrpSpPr/>
        <p:nvPr/>
      </p:nvGrpSpPr>
      <p:grpSpPr>
        <a:xfrm>
          <a:off x="0" y="0"/>
          <a:ext cx="0" cy="0"/>
          <a:chOff x="0" y="0"/>
          <a:chExt cx="0" cy="0"/>
        </a:xfrm>
      </p:grpSpPr>
      <p:sp>
        <p:nvSpPr>
          <p:cNvPr id="39" name="Text 0"/>
          <p:cNvSpPr/>
          <p:nvPr/>
        </p:nvSpPr>
        <p:spPr>
          <a:xfrm>
            <a:off x="658440" y="164520"/>
            <a:ext cx="10880640" cy="273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1" u="none" spc="201" strike="noStrike">
                <a:solidFill>
                  <a:srgbClr val="B85042"/>
                </a:solidFill>
                <a:effectLst/>
                <a:uFillTx/>
                <a:latin typeface="Calibri"/>
                <a:ea typeface="Calibri"/>
              </a:rPr>
              <a:t>EL MODELO · 1 DE 3</a:t>
            </a:r>
            <a:endParaRPr lang="en-US" sz="1100" b="0" u="none" strike="noStrike">
              <a:solidFill>
                <a:srgbClr val="FFFFFF"/>
              </a:solidFill>
              <a:effectLst/>
              <a:uFillTx/>
              <a:latin typeface="Arial"/>
            </a:endParaRPr>
          </a:p>
        </p:txBody>
      </p:sp>
      <p:sp>
        <p:nvSpPr>
          <p:cNvPr id="40" name="Text 1"/>
          <p:cNvSpPr/>
          <p:nvPr/>
        </p:nvSpPr>
        <p:spPr>
          <a:xfrm>
            <a:off x="640080" y="402480"/>
            <a:ext cx="10880640" cy="7124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400" b="1" u="none" strike="noStrike">
                <a:solidFill>
                  <a:srgbClr val="FFFFFF"/>
                </a:solidFill>
                <a:effectLst/>
                <a:uFillTx/>
                <a:latin typeface="Calibri"/>
                <a:ea typeface="Calibri"/>
              </a:rPr>
              <a:t>Arquitectura del modelo</a:t>
            </a:r>
            <a:endParaRPr lang="en-US" sz="3400" b="0" u="none" strike="noStrike">
              <a:solidFill>
                <a:srgbClr val="FFFFFF"/>
              </a:solidFill>
              <a:effectLst/>
              <a:uFillTx/>
              <a:latin typeface="Arial"/>
            </a:endParaRPr>
          </a:p>
        </p:txBody>
      </p:sp>
      <p:sp>
        <p:nvSpPr>
          <p:cNvPr id="41" name="Text 2"/>
          <p:cNvSpPr/>
          <p:nvPr/>
        </p:nvSpPr>
        <p:spPr>
          <a:xfrm>
            <a:off x="640080" y="1152000"/>
            <a:ext cx="7680240" cy="4564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0" u="none" strike="noStrike">
                <a:solidFill>
                  <a:srgbClr val="C9BEB4"/>
                </a:solidFill>
                <a:effectLst/>
                <a:uFillTx/>
                <a:latin typeface="Calibri"/>
                <a:ea typeface="Calibri"/>
              </a:rPr>
              <a:t>El sistema no realiza transcripción. Cada grabación se representa como un vector de 128 dimensiones y se mide su distancia a la referencia de la palabra objetivo.</a:t>
            </a:r>
            <a:endParaRPr lang="en-US" sz="1400" b="0" u="none" strike="noStrike">
              <a:solidFill>
                <a:srgbClr val="FFFFFF"/>
              </a:solidFill>
              <a:effectLst/>
              <a:uFillTx/>
              <a:latin typeface="Arial"/>
            </a:endParaRPr>
          </a:p>
        </p:txBody>
      </p:sp>
      <p:sp>
        <p:nvSpPr>
          <p:cNvPr id="42" name="Shape 3"/>
          <p:cNvSpPr/>
          <p:nvPr/>
        </p:nvSpPr>
        <p:spPr>
          <a:xfrm>
            <a:off x="640080" y="1810440"/>
            <a:ext cx="6400080" cy="1059840"/>
          </a:xfrm>
          <a:prstGeom prst="roundRect">
            <a:avLst>
              <a:gd name="adj" fmla="val 6897"/>
            </a:avLst>
          </a:prstGeom>
          <a:solidFill>
            <a:srgbClr val="3A2D26"/>
          </a:solidFill>
          <a:ln w="0">
            <a:noFill/>
          </a:ln>
          <a:effectLst>
            <a:outerShdw algn="bl" blurRad="127080" dir="5400000" dist="720" kx="0" ky="0" rotWithShape="0" sx="100000" sy="100000">
              <a:srgbClr val="000000">
                <a:alpha val="18000"/>
              </a:srgbClr>
            </a:outerShdw>
          </a:effectLst>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43" name="Shape 4"/>
          <p:cNvSpPr/>
          <p:nvPr/>
        </p:nvSpPr>
        <p:spPr>
          <a:xfrm>
            <a:off x="868680" y="2103120"/>
            <a:ext cx="474840" cy="474840"/>
          </a:xfrm>
          <a:prstGeom prst="ellipse">
            <a:avLst/>
          </a:prstGeom>
          <a:solidFill>
            <a:srgbClr val="B85042"/>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44" name="Text 5"/>
          <p:cNvSpPr/>
          <p:nvPr/>
        </p:nvSpPr>
        <p:spPr>
          <a:xfrm>
            <a:off x="868680" y="2103120"/>
            <a:ext cx="474840" cy="4748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900" b="1" u="none" strike="noStrike">
                <a:solidFill>
                  <a:srgbClr val="FFFFFF"/>
                </a:solidFill>
                <a:effectLst/>
                <a:uFillTx/>
                <a:latin typeface="Calibri"/>
                <a:ea typeface="Calibri"/>
              </a:rPr>
              <a:t>1</a:t>
            </a:r>
            <a:endParaRPr lang="en-US" sz="1900" b="0" u="none" strike="noStrike">
              <a:solidFill>
                <a:srgbClr val="FFFFFF"/>
              </a:solidFill>
              <a:effectLst/>
              <a:uFillTx/>
              <a:latin typeface="Arial"/>
            </a:endParaRPr>
          </a:p>
        </p:txBody>
      </p:sp>
      <p:sp>
        <p:nvSpPr>
          <p:cNvPr id="45" name="Text 6"/>
          <p:cNvSpPr/>
          <p:nvPr/>
        </p:nvSpPr>
        <p:spPr>
          <a:xfrm>
            <a:off x="1481400" y="1929240"/>
            <a:ext cx="5394240" cy="310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600" b="1" u="none" strike="noStrike">
                <a:solidFill>
                  <a:srgbClr val="FFFFFF"/>
                </a:solidFill>
                <a:effectLst/>
                <a:uFillTx/>
                <a:latin typeface="Calibri"/>
                <a:ea typeface="Calibri"/>
              </a:rPr>
              <a:t>Backbone preentrenado y congelado</a:t>
            </a:r>
            <a:endParaRPr lang="en-US" sz="1600" b="0" u="none" strike="noStrike">
              <a:solidFill>
                <a:srgbClr val="FFFFFF"/>
              </a:solidFill>
              <a:effectLst/>
              <a:uFillTx/>
              <a:latin typeface="Arial"/>
            </a:endParaRPr>
          </a:p>
        </p:txBody>
      </p:sp>
      <p:sp>
        <p:nvSpPr>
          <p:cNvPr id="46" name="Text 7"/>
          <p:cNvSpPr/>
          <p:nvPr/>
        </p:nvSpPr>
        <p:spPr>
          <a:xfrm>
            <a:off x="1481400" y="2240280"/>
            <a:ext cx="5348520" cy="5846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50" b="0" u="none" strike="noStrike">
                <a:solidFill>
                  <a:srgbClr val="C0B4AC"/>
                </a:solidFill>
                <a:effectLst/>
                <a:uFillTx/>
                <a:latin typeface="Calibri"/>
                <a:ea typeface="Calibri"/>
              </a:rPr>
              <a:t>wav2vec2 XLS-R-300M: 300 M de parámetros, 25 capas Transformer. Se extrae la capa 14 (1024 dimensiones). No se reentrena.</a:t>
            </a:r>
            <a:endParaRPr lang="en-US" sz="1150" b="0" u="none" strike="noStrike">
              <a:solidFill>
                <a:srgbClr val="FFFFFF"/>
              </a:solidFill>
              <a:effectLst/>
              <a:uFillTx/>
              <a:latin typeface="Arial"/>
            </a:endParaRPr>
          </a:p>
        </p:txBody>
      </p:sp>
      <p:sp>
        <p:nvSpPr>
          <p:cNvPr id="47" name="Shape 8"/>
          <p:cNvSpPr/>
          <p:nvPr/>
        </p:nvSpPr>
        <p:spPr>
          <a:xfrm>
            <a:off x="640080" y="3017520"/>
            <a:ext cx="6400080" cy="1059840"/>
          </a:xfrm>
          <a:prstGeom prst="roundRect">
            <a:avLst>
              <a:gd name="adj" fmla="val 6897"/>
            </a:avLst>
          </a:prstGeom>
          <a:solidFill>
            <a:srgbClr val="3A2D26"/>
          </a:solidFill>
          <a:ln w="0">
            <a:noFill/>
          </a:ln>
          <a:effectLst>
            <a:outerShdw algn="bl" blurRad="127080" dir="5400000" dist="720" kx="0" ky="0" rotWithShape="0" sx="100000" sy="100000">
              <a:srgbClr val="000000">
                <a:alpha val="18000"/>
              </a:srgbClr>
            </a:outerShdw>
          </a:effectLst>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48" name="Shape 9"/>
          <p:cNvSpPr/>
          <p:nvPr/>
        </p:nvSpPr>
        <p:spPr>
          <a:xfrm>
            <a:off x="868680" y="3310200"/>
            <a:ext cx="474840" cy="474840"/>
          </a:xfrm>
          <a:prstGeom prst="ellipse">
            <a:avLst/>
          </a:prstGeom>
          <a:solidFill>
            <a:srgbClr val="B85042"/>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49" name="Text 10"/>
          <p:cNvSpPr/>
          <p:nvPr/>
        </p:nvSpPr>
        <p:spPr>
          <a:xfrm>
            <a:off x="868680" y="3310200"/>
            <a:ext cx="474840" cy="4748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900" b="1" u="none" strike="noStrike">
                <a:solidFill>
                  <a:srgbClr val="FFFFFF"/>
                </a:solidFill>
                <a:effectLst/>
                <a:uFillTx/>
                <a:latin typeface="Calibri"/>
                <a:ea typeface="Calibri"/>
              </a:rPr>
              <a:t>2</a:t>
            </a:r>
            <a:endParaRPr lang="en-US" sz="1900" b="0" u="none" strike="noStrike">
              <a:solidFill>
                <a:srgbClr val="FFFFFF"/>
              </a:solidFill>
              <a:effectLst/>
              <a:uFillTx/>
              <a:latin typeface="Arial"/>
            </a:endParaRPr>
          </a:p>
        </p:txBody>
      </p:sp>
      <p:sp>
        <p:nvSpPr>
          <p:cNvPr id="50" name="Text 11"/>
          <p:cNvSpPr/>
          <p:nvPr/>
        </p:nvSpPr>
        <p:spPr>
          <a:xfrm>
            <a:off x="1481400" y="3136320"/>
            <a:ext cx="5394240" cy="310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600" b="1" u="none" strike="noStrike">
                <a:solidFill>
                  <a:srgbClr val="FFFFFF"/>
                </a:solidFill>
                <a:effectLst/>
                <a:uFillTx/>
                <a:latin typeface="Calibri"/>
                <a:ea typeface="Calibri"/>
              </a:rPr>
              <a:t>Cabeza de proyección</a:t>
            </a:r>
            <a:endParaRPr lang="en-US" sz="1600" b="0" u="none" strike="noStrike">
              <a:solidFill>
                <a:srgbClr val="FFFFFF"/>
              </a:solidFill>
              <a:effectLst/>
              <a:uFillTx/>
              <a:latin typeface="Arial"/>
            </a:endParaRPr>
          </a:p>
        </p:txBody>
      </p:sp>
      <p:sp>
        <p:nvSpPr>
          <p:cNvPr id="51" name="Text 12"/>
          <p:cNvSpPr/>
          <p:nvPr/>
        </p:nvSpPr>
        <p:spPr>
          <a:xfrm>
            <a:off x="1481400" y="3447360"/>
            <a:ext cx="5348520" cy="5846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50" b="0" u="none" strike="noStrike">
                <a:solidFill>
                  <a:srgbClr val="C0B4AC"/>
                </a:solidFill>
                <a:effectLst/>
                <a:uFillTx/>
                <a:latin typeface="Calibri"/>
                <a:ea typeface="Calibri"/>
              </a:rPr>
              <a:t>Único componente entrenado con audio mazahua. LayerNorm · Linear(256) · GELU · Dropout(0.1) · Linear(128) · normalización L2. 1.2 MB.</a:t>
            </a:r>
            <a:endParaRPr lang="en-US" sz="1150" b="0" u="none" strike="noStrike">
              <a:solidFill>
                <a:srgbClr val="FFFFFF"/>
              </a:solidFill>
              <a:effectLst/>
              <a:uFillTx/>
              <a:latin typeface="Arial"/>
            </a:endParaRPr>
          </a:p>
        </p:txBody>
      </p:sp>
      <p:sp>
        <p:nvSpPr>
          <p:cNvPr id="52" name="Shape 13"/>
          <p:cNvSpPr/>
          <p:nvPr/>
        </p:nvSpPr>
        <p:spPr>
          <a:xfrm>
            <a:off x="640080" y="4224600"/>
            <a:ext cx="6400080" cy="1059840"/>
          </a:xfrm>
          <a:prstGeom prst="roundRect">
            <a:avLst>
              <a:gd name="adj" fmla="val 6897"/>
            </a:avLst>
          </a:prstGeom>
          <a:solidFill>
            <a:srgbClr val="3A2D26"/>
          </a:solidFill>
          <a:ln w="0">
            <a:noFill/>
          </a:ln>
          <a:effectLst>
            <a:outerShdw algn="bl" blurRad="127080" dir="5400000" dist="720" kx="0" ky="0" rotWithShape="0" sx="100000" sy="100000">
              <a:srgbClr val="000000">
                <a:alpha val="18000"/>
              </a:srgbClr>
            </a:outerShdw>
          </a:effectLst>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53" name="Shape 14"/>
          <p:cNvSpPr/>
          <p:nvPr/>
        </p:nvSpPr>
        <p:spPr>
          <a:xfrm>
            <a:off x="868680" y="4517280"/>
            <a:ext cx="474840" cy="474840"/>
          </a:xfrm>
          <a:prstGeom prst="ellipse">
            <a:avLst/>
          </a:prstGeom>
          <a:solidFill>
            <a:srgbClr val="B85042"/>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54" name="Text 15"/>
          <p:cNvSpPr/>
          <p:nvPr/>
        </p:nvSpPr>
        <p:spPr>
          <a:xfrm>
            <a:off x="868680" y="4517280"/>
            <a:ext cx="474840" cy="4748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900" b="1" u="none" strike="noStrike">
                <a:solidFill>
                  <a:srgbClr val="FFFFFF"/>
                </a:solidFill>
                <a:effectLst/>
                <a:uFillTx/>
                <a:latin typeface="Calibri"/>
                <a:ea typeface="Calibri"/>
              </a:rPr>
              <a:t>3</a:t>
            </a:r>
            <a:endParaRPr lang="en-US" sz="1900" b="0" u="none" strike="noStrike">
              <a:solidFill>
                <a:srgbClr val="FFFFFF"/>
              </a:solidFill>
              <a:effectLst/>
              <a:uFillTx/>
              <a:latin typeface="Arial"/>
            </a:endParaRPr>
          </a:p>
        </p:txBody>
      </p:sp>
      <p:sp>
        <p:nvSpPr>
          <p:cNvPr id="55" name="Text 16"/>
          <p:cNvSpPr/>
          <p:nvPr/>
        </p:nvSpPr>
        <p:spPr>
          <a:xfrm>
            <a:off x="1481400" y="4343400"/>
            <a:ext cx="5394240" cy="310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600" b="1" u="none" strike="noStrike">
                <a:solidFill>
                  <a:srgbClr val="FFFFFF"/>
                </a:solidFill>
                <a:effectLst/>
                <a:uFillTx/>
                <a:latin typeface="Calibri"/>
                <a:ea typeface="Calibri"/>
              </a:rPr>
              <a:t>Regla de decisión</a:t>
            </a:r>
            <a:endParaRPr lang="en-US" sz="1600" b="0" u="none" strike="noStrike">
              <a:solidFill>
                <a:srgbClr val="FFFFFF"/>
              </a:solidFill>
              <a:effectLst/>
              <a:uFillTx/>
              <a:latin typeface="Arial"/>
            </a:endParaRPr>
          </a:p>
        </p:txBody>
      </p:sp>
      <p:sp>
        <p:nvSpPr>
          <p:cNvPr id="56" name="Text 17"/>
          <p:cNvSpPr/>
          <p:nvPr/>
        </p:nvSpPr>
        <p:spPr>
          <a:xfrm>
            <a:off x="1481400" y="4654440"/>
            <a:ext cx="5348520" cy="5846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50" b="0" u="none" strike="noStrike">
                <a:solidFill>
                  <a:srgbClr val="C0B4AC"/>
                </a:solidFill>
                <a:effectLst/>
                <a:uFillTx/>
                <a:latin typeface="Calibri"/>
                <a:ea typeface="Calibri"/>
              </a:rPr>
              <a:t>distancia = 1 − v · prototipo. Se acepta si la distancia es menor o igual a 0.2406. No interviene softmax en inferencia.</a:t>
            </a:r>
            <a:endParaRPr lang="en-US" sz="1150" b="0" u="none" strike="noStrike">
              <a:solidFill>
                <a:srgbClr val="FFFFFF"/>
              </a:solidFill>
              <a:effectLst/>
              <a:uFillTx/>
              <a:latin typeface="Arial"/>
            </a:endParaRPr>
          </a:p>
        </p:txBody>
      </p:sp>
      <p:sp>
        <p:nvSpPr>
          <p:cNvPr id="57" name="Shape 18"/>
          <p:cNvSpPr/>
          <p:nvPr/>
        </p:nvSpPr>
        <p:spPr>
          <a:xfrm>
            <a:off x="7315200" y="1810440"/>
            <a:ext cx="4205520" cy="2193840"/>
          </a:xfrm>
          <a:prstGeom prst="roundRect">
            <a:avLst>
              <a:gd name="adj" fmla="val 3333"/>
            </a:avLst>
          </a:prstGeom>
          <a:solidFill>
            <a:srgbClr val="B85042"/>
          </a:solidFill>
          <a:ln w="0">
            <a:noFill/>
          </a:ln>
          <a:effectLst>
            <a:outerShdw algn="bl" blurRad="127080" dir="5400000" dist="720" kx="0" ky="0" rotWithShape="0" sx="100000" sy="100000">
              <a:srgbClr val="000000">
                <a:alpha val="18000"/>
              </a:srgbClr>
            </a:outerShdw>
          </a:effectLst>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58" name="Text 19"/>
          <p:cNvSpPr/>
          <p:nvPr/>
        </p:nvSpPr>
        <p:spPr>
          <a:xfrm>
            <a:off x="7589520" y="1956960"/>
            <a:ext cx="3656880" cy="310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900" b="1" u="none" strike="noStrike">
                <a:solidFill>
                  <a:srgbClr val="FFFFFF"/>
                </a:solidFill>
                <a:effectLst/>
                <a:uFillTx/>
                <a:latin typeface="Calibri"/>
                <a:ea typeface="Calibri"/>
              </a:rPr>
              <a:t>AM-Softmax</a:t>
            </a:r>
            <a:endParaRPr lang="en-US" sz="1900" b="0" u="none" strike="noStrike">
              <a:solidFill>
                <a:srgbClr val="FFFFFF"/>
              </a:solidFill>
              <a:effectLst/>
              <a:uFillTx/>
              <a:latin typeface="Arial"/>
            </a:endParaRPr>
          </a:p>
        </p:txBody>
      </p:sp>
      <p:sp>
        <p:nvSpPr>
          <p:cNvPr id="59" name="Text 20"/>
          <p:cNvSpPr/>
          <p:nvPr/>
        </p:nvSpPr>
        <p:spPr>
          <a:xfrm>
            <a:off x="7589520" y="2258640"/>
            <a:ext cx="3702600" cy="236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50" b="0" i="1" u="none" strike="noStrike">
                <a:solidFill>
                  <a:srgbClr val="F6D9D4"/>
                </a:solidFill>
                <a:effectLst/>
                <a:uFillTx/>
                <a:latin typeface="Calibri"/>
                <a:ea typeface="Calibri"/>
              </a:rPr>
              <a:t>función de pérdida en entrenamiento</a:t>
            </a:r>
            <a:endParaRPr lang="en-US" sz="1050" b="0" u="none" strike="noStrike">
              <a:solidFill>
                <a:srgbClr val="FFFFFF"/>
              </a:solidFill>
              <a:effectLst/>
              <a:uFillTx/>
              <a:latin typeface="Arial"/>
            </a:endParaRPr>
          </a:p>
        </p:txBody>
      </p:sp>
      <p:sp>
        <p:nvSpPr>
          <p:cNvPr id="60" name="Text 21"/>
          <p:cNvSpPr/>
          <p:nvPr/>
        </p:nvSpPr>
        <p:spPr>
          <a:xfrm>
            <a:off x="7589520" y="2560320"/>
            <a:ext cx="3702600" cy="1352520"/>
          </a:xfrm>
          <a:prstGeom prst="rect">
            <a:avLst/>
          </a:prstGeom>
          <a:noFill/>
          <a:ln w="0">
            <a:noFill/>
          </a:ln>
        </p:spPr>
        <p:style>
          <a:lnRef idx="0"/>
          <a:fillRef idx="0"/>
          <a:effectRef idx="0"/>
          <a:fontRef idx="minor"/>
        </p:style>
        <p:txBody>
          <a:bodyPr lIns="0" tIns="0" rIns="0" bIns="0" anchor="ctr">
            <a:noAutofit/>
          </a:bodyPr>
          <a:p>
            <a:pPr marL="343080" indent="-343080" defTabSz="914400">
              <a:lnSpc>
                <a:spcPct val="100000"/>
              </a:lnSpc>
              <a:spcAft>
                <a:spcPts val="499"/>
              </a:spcAft>
              <a:buClr>
                <a:srgbClr val="FFFFFF"/>
              </a:buClr>
              <a:buFont typeface="Symbol" charset="2"/>
              <a:buChar char=""/>
            </a:pPr>
            <a:r>
              <a:rPr lang="en-US" sz="1150" b="0" u="none" strike="noStrike">
                <a:solidFill>
                  <a:srgbClr val="FFFFFF"/>
                </a:solidFill>
                <a:effectLst/>
                <a:uFillTx/>
                <a:latin typeface="Calibri"/>
                <a:ea typeface="Calibri"/>
              </a:rPr>
              <a:t>Escala s = 30, margen aditivo m = 0.35.</a:t>
            </a:r>
            <a:endParaRPr lang="en-US" sz="1150" b="0" u="none" strike="noStrike">
              <a:solidFill>
                <a:srgbClr val="FFFFFF"/>
              </a:solidFill>
              <a:effectLst/>
              <a:uFillTx/>
              <a:latin typeface="Arial"/>
            </a:endParaRPr>
          </a:p>
          <a:p>
            <a:pPr marL="343080" indent="-343080" defTabSz="914400">
              <a:lnSpc>
                <a:spcPct val="100000"/>
              </a:lnSpc>
              <a:spcAft>
                <a:spcPts val="499"/>
              </a:spcAft>
              <a:buClr>
                <a:srgbClr val="FFFFFF"/>
              </a:buClr>
              <a:buFont typeface="Symbol" charset="2"/>
              <a:buChar char=""/>
            </a:pPr>
            <a:r>
              <a:rPr lang="en-US" sz="1150" b="0" u="none" strike="noStrike">
                <a:solidFill>
                  <a:srgbClr val="FFFFFF"/>
                </a:solidFill>
                <a:effectLst/>
                <a:uFillTx/>
                <a:latin typeface="Calibri"/>
                <a:ea typeface="Calibri"/>
              </a:rPr>
              <a:t>El margen exige separación explícita respecto de la clase más próxima.</a:t>
            </a:r>
            <a:endParaRPr lang="en-US" sz="1150" b="0" u="none" strike="noStrike">
              <a:solidFill>
                <a:srgbClr val="FFFFFF"/>
              </a:solidFill>
              <a:effectLst/>
              <a:uFillTx/>
              <a:latin typeface="Arial"/>
            </a:endParaRPr>
          </a:p>
          <a:p>
            <a:pPr marL="343080" indent="-343080" defTabSz="914400">
              <a:lnSpc>
                <a:spcPct val="100000"/>
              </a:lnSpc>
              <a:spcAft>
                <a:spcPts val="499"/>
              </a:spcAft>
              <a:buClr>
                <a:srgbClr val="FFFFFF"/>
              </a:buClr>
              <a:buFont typeface="Symbol" charset="2"/>
              <a:buChar char=""/>
            </a:pPr>
            <a:r>
              <a:rPr lang="en-US" sz="1150" b="0" u="none" strike="noStrike">
                <a:solidFill>
                  <a:srgbClr val="FFFFFF"/>
                </a:solidFill>
                <a:effectLst/>
                <a:uFillTx/>
                <a:latin typeface="Calibri"/>
                <a:ea typeface="Calibri"/>
              </a:rPr>
              <a:t>Produce clases compactas y separadas.</a:t>
            </a:r>
            <a:endParaRPr lang="en-US" sz="1150" b="0" u="none" strike="noStrike">
              <a:solidFill>
                <a:srgbClr val="FFFFFF"/>
              </a:solidFill>
              <a:effectLst/>
              <a:uFillTx/>
              <a:latin typeface="Arial"/>
            </a:endParaRPr>
          </a:p>
        </p:txBody>
      </p:sp>
      <p:sp>
        <p:nvSpPr>
          <p:cNvPr id="61" name="Shape 22"/>
          <p:cNvSpPr/>
          <p:nvPr/>
        </p:nvSpPr>
        <p:spPr>
          <a:xfrm>
            <a:off x="7315200" y="4169520"/>
            <a:ext cx="4205520" cy="2193840"/>
          </a:xfrm>
          <a:prstGeom prst="roundRect">
            <a:avLst>
              <a:gd name="adj" fmla="val 3333"/>
            </a:avLst>
          </a:prstGeom>
          <a:solidFill>
            <a:srgbClr val="3A2D26"/>
          </a:solidFill>
          <a:ln w="0">
            <a:noFill/>
          </a:ln>
          <a:effectLst>
            <a:outerShdw algn="bl" blurRad="127080" dir="5400000" dist="720" kx="0" ky="0" rotWithShape="0" sx="100000" sy="100000">
              <a:srgbClr val="000000">
                <a:alpha val="18000"/>
              </a:srgbClr>
            </a:outerShdw>
          </a:effectLst>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62" name="Text 23"/>
          <p:cNvSpPr/>
          <p:nvPr/>
        </p:nvSpPr>
        <p:spPr>
          <a:xfrm>
            <a:off x="7589520" y="4316040"/>
            <a:ext cx="3656880" cy="310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900" b="1" u="none" strike="noStrike">
                <a:solidFill>
                  <a:srgbClr val="6E8F7D"/>
                </a:solidFill>
                <a:effectLst/>
                <a:uFillTx/>
                <a:latin typeface="Calibri"/>
                <a:ea typeface="Calibri"/>
              </a:rPr>
              <a:t>Distancia coseno</a:t>
            </a:r>
            <a:endParaRPr lang="en-US" sz="1900" b="0" u="none" strike="noStrike">
              <a:solidFill>
                <a:srgbClr val="FFFFFF"/>
              </a:solidFill>
              <a:effectLst/>
              <a:uFillTx/>
              <a:latin typeface="Arial"/>
            </a:endParaRPr>
          </a:p>
        </p:txBody>
      </p:sp>
      <p:sp>
        <p:nvSpPr>
          <p:cNvPr id="63" name="Text 24"/>
          <p:cNvSpPr/>
          <p:nvPr/>
        </p:nvSpPr>
        <p:spPr>
          <a:xfrm>
            <a:off x="7589520" y="4617720"/>
            <a:ext cx="3702600" cy="236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50" b="0" i="1" u="none" strike="noStrike">
                <a:solidFill>
                  <a:srgbClr val="9AA79E"/>
                </a:solidFill>
                <a:effectLst/>
                <a:uFillTx/>
                <a:latin typeface="Calibri"/>
                <a:ea typeface="Calibri"/>
              </a:rPr>
              <a:t>criterio de decisión en inferencia</a:t>
            </a:r>
            <a:endParaRPr lang="en-US" sz="1050" b="0" u="none" strike="noStrike">
              <a:solidFill>
                <a:srgbClr val="FFFFFF"/>
              </a:solidFill>
              <a:effectLst/>
              <a:uFillTx/>
              <a:latin typeface="Arial"/>
            </a:endParaRPr>
          </a:p>
        </p:txBody>
      </p:sp>
      <p:sp>
        <p:nvSpPr>
          <p:cNvPr id="64" name="Text 25"/>
          <p:cNvSpPr/>
          <p:nvPr/>
        </p:nvSpPr>
        <p:spPr>
          <a:xfrm>
            <a:off x="7589520" y="4919400"/>
            <a:ext cx="3702600" cy="1352520"/>
          </a:xfrm>
          <a:prstGeom prst="rect">
            <a:avLst/>
          </a:prstGeom>
          <a:noFill/>
          <a:ln w="0">
            <a:noFill/>
          </a:ln>
        </p:spPr>
        <p:style>
          <a:lnRef idx="0"/>
          <a:fillRef idx="0"/>
          <a:effectRef idx="0"/>
          <a:fontRef idx="minor"/>
        </p:style>
        <p:txBody>
          <a:bodyPr lIns="0" tIns="0" rIns="0" bIns="0" anchor="ctr">
            <a:noAutofit/>
          </a:bodyPr>
          <a:p>
            <a:pPr marL="343080" indent="-343080" defTabSz="914400">
              <a:lnSpc>
                <a:spcPct val="100000"/>
              </a:lnSpc>
              <a:spcAft>
                <a:spcPts val="499"/>
              </a:spcAft>
              <a:buClr>
                <a:srgbClr val="D8CFC8"/>
              </a:buClr>
              <a:buFont typeface="Symbol" charset="2"/>
              <a:buChar char=""/>
            </a:pPr>
            <a:r>
              <a:rPr lang="en-US" sz="1150" b="0" u="none" strike="noStrike">
                <a:solidFill>
                  <a:srgbClr val="D8CFC8"/>
                </a:solidFill>
                <a:effectLst/>
                <a:uFillTx/>
                <a:latin typeface="Calibri"/>
                <a:ea typeface="Calibri"/>
              </a:rPr>
              <a:t>Vectores L2-normalizados: solo interviene la dirección.</a:t>
            </a:r>
            <a:endParaRPr lang="en-US" sz="1150" b="0" u="none" strike="noStrike">
              <a:solidFill>
                <a:srgbClr val="FFFFFF"/>
              </a:solidFill>
              <a:effectLst/>
              <a:uFillTx/>
              <a:latin typeface="Arial"/>
            </a:endParaRPr>
          </a:p>
          <a:p>
            <a:pPr marL="343080" indent="-343080" defTabSz="914400">
              <a:lnSpc>
                <a:spcPct val="100000"/>
              </a:lnSpc>
              <a:spcAft>
                <a:spcPts val="499"/>
              </a:spcAft>
              <a:buClr>
                <a:srgbClr val="D8CFC8"/>
              </a:buClr>
              <a:buFont typeface="Symbol" charset="2"/>
              <a:buChar char=""/>
            </a:pPr>
            <a:r>
              <a:rPr lang="en-US" sz="1150" b="0" u="none" strike="noStrike">
                <a:solidFill>
                  <a:srgbClr val="D8CFC8"/>
                </a:solidFill>
                <a:effectLst/>
                <a:uFillTx/>
                <a:latin typeface="Calibri"/>
                <a:ea typeface="Calibri"/>
              </a:rPr>
              <a:t>El volumen y el timbre del hablante quedan excluidos de la medida.</a:t>
            </a:r>
            <a:endParaRPr lang="en-US" sz="1150" b="0" u="none" strike="noStrike">
              <a:solidFill>
                <a:srgbClr val="FFFFFF"/>
              </a:solidFill>
              <a:effectLst/>
              <a:uFillTx/>
              <a:latin typeface="Arial"/>
            </a:endParaRPr>
          </a:p>
          <a:p>
            <a:pPr marL="343080" indent="-343080" defTabSz="914400">
              <a:lnSpc>
                <a:spcPct val="100000"/>
              </a:lnSpc>
              <a:spcAft>
                <a:spcPts val="499"/>
              </a:spcAft>
              <a:buClr>
                <a:srgbClr val="D8CFC8"/>
              </a:buClr>
              <a:buFont typeface="Symbol" charset="2"/>
              <a:buChar char=""/>
            </a:pPr>
            <a:r>
              <a:rPr lang="en-US" sz="1150" b="0" u="none" strike="noStrike">
                <a:solidFill>
                  <a:srgbClr val="D8CFC8"/>
                </a:solidFill>
                <a:effectLst/>
                <a:uFillTx/>
                <a:latin typeface="Calibri"/>
                <a:ea typeface="Calibri"/>
              </a:rPr>
              <a:t>Prototipos aprendidos frente a centroides: +0.8 puntos de top-1.</a:t>
            </a:r>
            <a:endParaRPr lang="en-US" sz="1150" b="0" u="none" strike="noStrike">
              <a:solidFill>
                <a:srgbClr val="FFFFFF"/>
              </a:solidFill>
              <a:effectLst/>
              <a:uFillTx/>
              <a:latin typeface="Arial"/>
            </a:endParaRPr>
          </a:p>
        </p:txBody>
      </p:sp>
      <p:sp>
        <p:nvSpPr>
          <p:cNvPr id="65" name="Text 26"/>
          <p:cNvSpPr/>
          <p:nvPr/>
        </p:nvSpPr>
        <p:spPr>
          <a:xfrm>
            <a:off x="640080" y="5797440"/>
            <a:ext cx="6400080" cy="5022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0" u="none" strike="noStrike">
                <a:solidFill>
                  <a:srgbClr val="6E8F7D"/>
                </a:solidFill>
                <a:effectLst/>
                <a:uFillTx/>
                <a:latin typeface="Calibri"/>
                <a:ea typeface="Calibri"/>
              </a:rPr>
              <a:t>Despliegue:  ONNX cuantizado a int8, 191 MB  ·  entrada de forma de onda sin espectrogramas  ·  ejecución local en el dispositivo</a:t>
            </a:r>
            <a:endParaRPr lang="en-US" sz="11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3EFE4"/>
        </a:solidFill>
      </p:bgPr>
    </p:bg>
    <p:spTree>
      <p:nvGrpSpPr>
        <p:cNvPr id="1" name=""/>
        <p:cNvGrpSpPr/>
        <p:nvPr/>
      </p:nvGrpSpPr>
      <p:grpSpPr>
        <a:xfrm>
          <a:off x="0" y="0"/>
          <a:ext cx="0" cy="0"/>
          <a:chOff x="0" y="0"/>
          <a:chExt cx="0" cy="0"/>
        </a:xfrm>
      </p:grpSpPr>
      <p:sp>
        <p:nvSpPr>
          <p:cNvPr id="66" name="Text 0"/>
          <p:cNvSpPr/>
          <p:nvPr/>
        </p:nvSpPr>
        <p:spPr>
          <a:xfrm>
            <a:off x="658440" y="164520"/>
            <a:ext cx="10880640" cy="273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1" u="none" spc="201" strike="noStrike">
                <a:solidFill>
                  <a:srgbClr val="B85042"/>
                </a:solidFill>
                <a:effectLst/>
                <a:uFillTx/>
                <a:latin typeface="Calibri"/>
                <a:ea typeface="Calibri"/>
              </a:rPr>
              <a:t>EL MODELO · 2 DE 3</a:t>
            </a:r>
            <a:endParaRPr lang="en-US" sz="1100" b="0" u="none" strike="noStrike">
              <a:solidFill>
                <a:srgbClr val="000000"/>
              </a:solidFill>
              <a:effectLst/>
              <a:uFillTx/>
              <a:latin typeface="Arial"/>
            </a:endParaRPr>
          </a:p>
        </p:txBody>
      </p:sp>
      <p:sp>
        <p:nvSpPr>
          <p:cNvPr id="67" name="Text 1"/>
          <p:cNvSpPr/>
          <p:nvPr/>
        </p:nvSpPr>
        <p:spPr>
          <a:xfrm>
            <a:off x="640080" y="402480"/>
            <a:ext cx="10880640" cy="7124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400" b="1" u="none" strike="noStrike">
                <a:solidFill>
                  <a:srgbClr val="241C18"/>
                </a:solidFill>
                <a:effectLst/>
                <a:uFillTx/>
                <a:latin typeface="Calibri"/>
                <a:ea typeface="Calibri"/>
              </a:rPr>
              <a:t>Resultados: identificación de palabra</a:t>
            </a:r>
            <a:endParaRPr lang="en-US" sz="3400" b="0" u="none" strike="noStrike">
              <a:solidFill>
                <a:srgbClr val="000000"/>
              </a:solidFill>
              <a:effectLst/>
              <a:uFillTx/>
              <a:latin typeface="Arial"/>
            </a:endParaRPr>
          </a:p>
        </p:txBody>
      </p:sp>
      <p:sp>
        <p:nvSpPr>
          <p:cNvPr id="68" name="Shape 2"/>
          <p:cNvSpPr/>
          <p:nvPr/>
        </p:nvSpPr>
        <p:spPr>
          <a:xfrm>
            <a:off x="640080" y="1325880"/>
            <a:ext cx="3245400" cy="1965240"/>
          </a:xfrm>
          <a:prstGeom prst="roundRect">
            <a:avLst>
              <a:gd name="adj" fmla="val 3721"/>
            </a:avLst>
          </a:prstGeom>
          <a:solidFill>
            <a:srgbClr val="B85042"/>
          </a:solidFill>
          <a:ln w="0">
            <a:noFill/>
          </a:ln>
          <a:effectLst>
            <a:outerShdw algn="bl" blurRad="127080" dir="5400000" dist="720" kx="0" ky="0" rotWithShape="0" sx="100000" sy="100000">
              <a:srgbClr val="000000">
                <a:alpha val="18000"/>
              </a:srgbClr>
            </a:outerShdw>
          </a:effectLst>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69" name="Text 3"/>
          <p:cNvSpPr/>
          <p:nvPr/>
        </p:nvSpPr>
        <p:spPr>
          <a:xfrm>
            <a:off x="640080" y="1517760"/>
            <a:ext cx="3245400" cy="9136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5400" b="1" u="none" strike="noStrike">
                <a:solidFill>
                  <a:srgbClr val="FFFFFF"/>
                </a:solidFill>
                <a:effectLst/>
                <a:uFillTx/>
                <a:latin typeface="Calibri"/>
                <a:ea typeface="Calibri"/>
              </a:rPr>
              <a:t>98.5 %</a:t>
            </a:r>
            <a:endParaRPr lang="en-US" sz="5400" b="0" u="none" strike="noStrike">
              <a:solidFill>
                <a:srgbClr val="000000"/>
              </a:solidFill>
              <a:effectLst/>
              <a:uFillTx/>
              <a:latin typeface="Arial"/>
            </a:endParaRPr>
          </a:p>
        </p:txBody>
      </p:sp>
      <p:sp>
        <p:nvSpPr>
          <p:cNvPr id="70" name="Text 4"/>
          <p:cNvSpPr/>
          <p:nvPr/>
        </p:nvSpPr>
        <p:spPr>
          <a:xfrm>
            <a:off x="640080" y="2505600"/>
            <a:ext cx="3245400" cy="6393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200" b="0" u="none" strike="noStrike">
                <a:solidFill>
                  <a:srgbClr val="F6D9D4"/>
                </a:solidFill>
                <a:effectLst/>
                <a:uFillTx/>
                <a:latin typeface="Calibri"/>
                <a:ea typeface="Calibri"/>
              </a:rPr>
              <a:t>acierto top-1 sobre un hablante</a:t>
            </a:r>
            <a:endParaRPr lang="en-US" sz="1200" b="0" u="none" strike="noStrike">
              <a:solidFill>
                <a:srgbClr val="000000"/>
              </a:solidFill>
              <a:effectLst/>
              <a:uFillTx/>
              <a:latin typeface="Arial"/>
            </a:endParaRPr>
          </a:p>
          <a:p>
            <a:pPr algn="ctr" defTabSz="914400">
              <a:lnSpc>
                <a:spcPct val="100000"/>
              </a:lnSpc>
              <a:tabLst>
                <a:tab pos="0" algn="l"/>
              </a:tabLst>
            </a:pPr>
            <a:r>
              <a:rPr lang="en-US" sz="1200" b="0" u="none" strike="noStrike">
                <a:solidFill>
                  <a:srgbClr val="F6D9D4"/>
                </a:solidFill>
                <a:effectLst/>
                <a:uFillTx/>
                <a:latin typeface="Calibri"/>
                <a:ea typeface="Calibri"/>
              </a:rPr>
              <a:t>no visto en entrenamiento</a:t>
            </a:r>
            <a:endParaRPr lang="en-US" sz="1200" b="0" u="none" strike="noStrike">
              <a:solidFill>
                <a:srgbClr val="000000"/>
              </a:solidFill>
              <a:effectLst/>
              <a:uFillTx/>
              <a:latin typeface="Arial"/>
            </a:endParaRPr>
          </a:p>
        </p:txBody>
      </p:sp>
      <p:sp>
        <p:nvSpPr>
          <p:cNvPr id="71" name="Shape 5"/>
          <p:cNvSpPr/>
          <p:nvPr/>
        </p:nvSpPr>
        <p:spPr>
          <a:xfrm>
            <a:off x="640080" y="3456360"/>
            <a:ext cx="3245400" cy="676080"/>
          </a:xfrm>
          <a:prstGeom prst="roundRect">
            <a:avLst>
              <a:gd name="adj" fmla="val 10811"/>
            </a:avLst>
          </a:prstGeom>
          <a:solidFill>
            <a:srgbClr val="FFFFFF"/>
          </a:solidFill>
          <a:ln w="0">
            <a:noFill/>
          </a:ln>
          <a:effectLst>
            <a:outerShdw algn="bl" blurRad="127080" dir="5400000" dist="720" kx="0" ky="0" rotWithShape="0" sx="100000" sy="100000">
              <a:srgbClr val="000000">
                <a:alpha val="18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72" name="Text 6"/>
          <p:cNvSpPr/>
          <p:nvPr/>
        </p:nvSpPr>
        <p:spPr>
          <a:xfrm>
            <a:off x="868680" y="3529440"/>
            <a:ext cx="1188000" cy="5295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100" b="1" u="none" strike="noStrike">
                <a:solidFill>
                  <a:srgbClr val="B85042"/>
                </a:solidFill>
                <a:effectLst/>
                <a:uFillTx/>
                <a:latin typeface="Calibri"/>
                <a:ea typeface="Calibri"/>
              </a:rPr>
              <a:t>99.8 %</a:t>
            </a:r>
            <a:endParaRPr lang="en-US" sz="2100" b="0" u="none" strike="noStrike">
              <a:solidFill>
                <a:srgbClr val="000000"/>
              </a:solidFill>
              <a:effectLst/>
              <a:uFillTx/>
              <a:latin typeface="Arial"/>
            </a:endParaRPr>
          </a:p>
        </p:txBody>
      </p:sp>
      <p:sp>
        <p:nvSpPr>
          <p:cNvPr id="73" name="Text 7"/>
          <p:cNvSpPr/>
          <p:nvPr/>
        </p:nvSpPr>
        <p:spPr>
          <a:xfrm>
            <a:off x="2057400" y="3529440"/>
            <a:ext cx="1690920" cy="5295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0" u="none" strike="noStrike">
                <a:solidFill>
                  <a:srgbClr val="6B615B"/>
                </a:solidFill>
                <a:effectLst/>
                <a:uFillTx/>
                <a:latin typeface="Calibri"/>
                <a:ea typeface="Calibri"/>
              </a:rPr>
              <a:t>acierto top-3</a:t>
            </a:r>
            <a:endParaRPr lang="en-US" sz="1100" b="0" u="none" strike="noStrike">
              <a:solidFill>
                <a:srgbClr val="000000"/>
              </a:solidFill>
              <a:effectLst/>
              <a:uFillTx/>
              <a:latin typeface="Arial"/>
            </a:endParaRPr>
          </a:p>
        </p:txBody>
      </p:sp>
      <p:sp>
        <p:nvSpPr>
          <p:cNvPr id="74" name="Shape 8"/>
          <p:cNvSpPr/>
          <p:nvPr/>
        </p:nvSpPr>
        <p:spPr>
          <a:xfrm>
            <a:off x="640080" y="4242960"/>
            <a:ext cx="3245400" cy="676080"/>
          </a:xfrm>
          <a:prstGeom prst="roundRect">
            <a:avLst>
              <a:gd name="adj" fmla="val 10811"/>
            </a:avLst>
          </a:prstGeom>
          <a:solidFill>
            <a:srgbClr val="FFFFFF"/>
          </a:solidFill>
          <a:ln w="0">
            <a:noFill/>
          </a:ln>
          <a:effectLst>
            <a:outerShdw algn="bl" blurRad="127080" dir="5400000" dist="720" kx="0" ky="0" rotWithShape="0" sx="100000" sy="100000">
              <a:srgbClr val="000000">
                <a:alpha val="18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75" name="Text 9"/>
          <p:cNvSpPr/>
          <p:nvPr/>
        </p:nvSpPr>
        <p:spPr>
          <a:xfrm>
            <a:off x="868680" y="4316040"/>
            <a:ext cx="1188000" cy="5295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100" b="1" u="none" strike="noStrike">
                <a:solidFill>
                  <a:srgbClr val="B85042"/>
                </a:solidFill>
                <a:effectLst/>
                <a:uFillTx/>
                <a:latin typeface="Calibri"/>
                <a:ea typeface="Calibri"/>
              </a:rPr>
              <a:t>0.44 %</a:t>
            </a:r>
            <a:endParaRPr lang="en-US" sz="2100" b="0" u="none" strike="noStrike">
              <a:solidFill>
                <a:srgbClr val="000000"/>
              </a:solidFill>
              <a:effectLst/>
              <a:uFillTx/>
              <a:latin typeface="Arial"/>
            </a:endParaRPr>
          </a:p>
        </p:txBody>
      </p:sp>
      <p:sp>
        <p:nvSpPr>
          <p:cNvPr id="76" name="Text 10"/>
          <p:cNvSpPr/>
          <p:nvPr/>
        </p:nvSpPr>
        <p:spPr>
          <a:xfrm>
            <a:off x="2057400" y="4316040"/>
            <a:ext cx="1690920" cy="5295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0" u="none" strike="noStrike">
                <a:solidFill>
                  <a:srgbClr val="6B615B"/>
                </a:solidFill>
                <a:effectLst/>
                <a:uFillTx/>
                <a:latin typeface="Calibri"/>
                <a:ea typeface="Calibri"/>
              </a:rPr>
              <a:t>EER de palabra equivocada</a:t>
            </a:r>
            <a:endParaRPr lang="en-US" sz="1100" b="0" u="none" strike="noStrike">
              <a:solidFill>
                <a:srgbClr val="000000"/>
              </a:solidFill>
              <a:effectLst/>
              <a:uFillTx/>
              <a:latin typeface="Arial"/>
            </a:endParaRPr>
          </a:p>
        </p:txBody>
      </p:sp>
      <p:sp>
        <p:nvSpPr>
          <p:cNvPr id="77" name="Shape 11"/>
          <p:cNvSpPr/>
          <p:nvPr/>
        </p:nvSpPr>
        <p:spPr>
          <a:xfrm>
            <a:off x="640080" y="5029200"/>
            <a:ext cx="3245400" cy="676080"/>
          </a:xfrm>
          <a:prstGeom prst="roundRect">
            <a:avLst>
              <a:gd name="adj" fmla="val 10811"/>
            </a:avLst>
          </a:prstGeom>
          <a:solidFill>
            <a:srgbClr val="FFFFFF"/>
          </a:solidFill>
          <a:ln w="0">
            <a:noFill/>
          </a:ln>
          <a:effectLst>
            <a:outerShdw algn="bl" blurRad="127080" dir="5400000" dist="720" kx="0" ky="0" rotWithShape="0" sx="100000" sy="100000">
              <a:srgbClr val="000000">
                <a:alpha val="18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78" name="Text 12"/>
          <p:cNvSpPr/>
          <p:nvPr/>
        </p:nvSpPr>
        <p:spPr>
          <a:xfrm>
            <a:off x="868680" y="5102280"/>
            <a:ext cx="1188000" cy="5295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100" b="1" u="none" strike="noStrike">
                <a:solidFill>
                  <a:srgbClr val="B85042"/>
                </a:solidFill>
                <a:effectLst/>
                <a:uFillTx/>
                <a:latin typeface="Calibri"/>
                <a:ea typeface="Calibri"/>
              </a:rPr>
              <a:t>43</a:t>
            </a:r>
            <a:endParaRPr lang="en-US" sz="2100" b="0" u="none" strike="noStrike">
              <a:solidFill>
                <a:srgbClr val="000000"/>
              </a:solidFill>
              <a:effectLst/>
              <a:uFillTx/>
              <a:latin typeface="Arial"/>
            </a:endParaRPr>
          </a:p>
        </p:txBody>
      </p:sp>
      <p:sp>
        <p:nvSpPr>
          <p:cNvPr id="79" name="Text 13"/>
          <p:cNvSpPr/>
          <p:nvPr/>
        </p:nvSpPr>
        <p:spPr>
          <a:xfrm>
            <a:off x="2057400" y="5102280"/>
            <a:ext cx="1690920" cy="5295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0" u="none" strike="noStrike">
                <a:solidFill>
                  <a:srgbClr val="6B615B"/>
                </a:solidFill>
                <a:effectLst/>
                <a:uFillTx/>
                <a:latin typeface="Calibri"/>
                <a:ea typeface="Calibri"/>
              </a:rPr>
              <a:t>palabras en el vocabulario</a:t>
            </a:r>
            <a:endParaRPr lang="en-US" sz="1100" b="0" u="none" strike="noStrike">
              <a:solidFill>
                <a:srgbClr val="000000"/>
              </a:solidFill>
              <a:effectLst/>
              <a:uFillTx/>
              <a:latin typeface="Arial"/>
            </a:endParaRPr>
          </a:p>
        </p:txBody>
      </p:sp>
      <p:sp>
        <p:nvSpPr>
          <p:cNvPr id="80" name="Shape 14"/>
          <p:cNvSpPr/>
          <p:nvPr/>
        </p:nvSpPr>
        <p:spPr>
          <a:xfrm>
            <a:off x="4206240" y="1325880"/>
            <a:ext cx="4205520" cy="4379400"/>
          </a:xfrm>
          <a:prstGeom prst="roundRect">
            <a:avLst>
              <a:gd name="adj" fmla="val 1739"/>
            </a:avLst>
          </a:prstGeom>
          <a:solidFill>
            <a:srgbClr val="FFFFFF"/>
          </a:solidFill>
          <a:ln w="0">
            <a:noFill/>
          </a:ln>
          <a:effectLst>
            <a:outerShdw algn="bl" blurRad="127080" dir="5400000" dist="720" kx="0" ky="0" rotWithShape="0" sx="100000" sy="100000">
              <a:srgbClr val="000000">
                <a:alpha val="18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81" name="Text 15"/>
          <p:cNvSpPr/>
          <p:nvPr/>
        </p:nvSpPr>
        <p:spPr>
          <a:xfrm>
            <a:off x="4480560" y="1481400"/>
            <a:ext cx="3656880" cy="310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1" u="none" strike="noStrike">
                <a:solidFill>
                  <a:srgbClr val="241C18"/>
                </a:solidFill>
                <a:effectLst/>
                <a:uFillTx/>
                <a:latin typeface="Calibri"/>
                <a:ea typeface="Calibri"/>
              </a:rPr>
              <a:t>Acierto top-1 por función de pérdida</a:t>
            </a:r>
            <a:endParaRPr lang="en-US" sz="1500" b="0" u="none" strike="noStrike">
              <a:solidFill>
                <a:srgbClr val="000000"/>
              </a:solidFill>
              <a:effectLst/>
              <a:uFillTx/>
              <a:latin typeface="Arial"/>
            </a:endParaRPr>
          </a:p>
        </p:txBody>
      </p:sp>
      <p:graphicFrame>
        <p:nvGraphicFramePr>
          <p:cNvPr id="82" name="Chart 0"/>
          <p:cNvGraphicFramePr/>
          <p:nvPr/>
        </p:nvGraphicFramePr>
        <p:xfrm>
          <a:off x="4316040" y="1828800"/>
          <a:ext cx="3985920" cy="3702600"/>
        </p:xfrm>
        <a:graphic>
          <a:graphicData uri="http://schemas.openxmlformats.org/drawingml/2006/chart">
            <c:chart xmlns:c="http://schemas.openxmlformats.org/drawingml/2006/chart" xmlns:r="http://schemas.openxmlformats.org/officeDocument/2006/relationships" r:id="rId1"/>
          </a:graphicData>
        </a:graphic>
      </p:graphicFrame>
      <p:sp>
        <p:nvSpPr>
          <p:cNvPr id="83" name="Shape 16"/>
          <p:cNvSpPr/>
          <p:nvPr/>
        </p:nvSpPr>
        <p:spPr>
          <a:xfrm>
            <a:off x="8732520" y="1325880"/>
            <a:ext cx="2788200" cy="4379400"/>
          </a:xfrm>
          <a:prstGeom prst="roundRect">
            <a:avLst>
              <a:gd name="adj" fmla="val 2623"/>
            </a:avLst>
          </a:prstGeom>
          <a:solidFill>
            <a:srgbClr val="2B211C"/>
          </a:solidFill>
          <a:ln w="0">
            <a:noFill/>
          </a:ln>
          <a:effectLst>
            <a:outerShdw algn="bl" blurRad="127080" dir="5400000" dist="720" kx="0" ky="0" rotWithShape="0" sx="100000" sy="100000">
              <a:srgbClr val="000000">
                <a:alpha val="18000"/>
              </a:srgbClr>
            </a:outerShdw>
          </a:effectLst>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84" name="Text 17"/>
          <p:cNvSpPr/>
          <p:nvPr/>
        </p:nvSpPr>
        <p:spPr>
          <a:xfrm>
            <a:off x="8979480" y="1481400"/>
            <a:ext cx="2331000" cy="310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1" u="none" strike="noStrike">
                <a:solidFill>
                  <a:srgbClr val="6E8F7D"/>
                </a:solidFill>
                <a:effectLst/>
                <a:uFillTx/>
                <a:latin typeface="Calibri"/>
                <a:ea typeface="Calibri"/>
              </a:rPr>
              <a:t>Protocolo de evaluación</a:t>
            </a:r>
            <a:endParaRPr lang="en-US" sz="1500" b="0" u="none" strike="noStrike">
              <a:solidFill>
                <a:srgbClr val="000000"/>
              </a:solidFill>
              <a:effectLst/>
              <a:uFillTx/>
              <a:latin typeface="Arial"/>
            </a:endParaRPr>
          </a:p>
        </p:txBody>
      </p:sp>
      <p:sp>
        <p:nvSpPr>
          <p:cNvPr id="85" name="Text 18"/>
          <p:cNvSpPr/>
          <p:nvPr/>
        </p:nvSpPr>
        <p:spPr>
          <a:xfrm>
            <a:off x="8979480" y="1847160"/>
            <a:ext cx="2331000" cy="3565440"/>
          </a:xfrm>
          <a:prstGeom prst="rect">
            <a:avLst/>
          </a:prstGeom>
          <a:noFill/>
          <a:ln w="0">
            <a:noFill/>
          </a:ln>
        </p:spPr>
        <p:style>
          <a:lnRef idx="0"/>
          <a:fillRef idx="0"/>
          <a:effectRef idx="0"/>
          <a:fontRef idx="minor"/>
        </p:style>
        <p:txBody>
          <a:bodyPr lIns="0" tIns="0" rIns="0" bIns="0" anchor="ctr">
            <a:noAutofit/>
          </a:bodyPr>
          <a:p>
            <a:pPr marL="343080" indent="-343080" defTabSz="914400">
              <a:lnSpc>
                <a:spcPct val="100000"/>
              </a:lnSpc>
              <a:spcAft>
                <a:spcPts val="799"/>
              </a:spcAft>
              <a:buClr>
                <a:srgbClr val="D8CFC8"/>
              </a:buClr>
              <a:buFont typeface="Symbol" charset="2"/>
              <a:buChar char=""/>
            </a:pPr>
            <a:r>
              <a:rPr lang="en-US" sz="1100" b="0" u="none" strike="noStrike">
                <a:solidFill>
                  <a:srgbClr val="D8CFC8"/>
                </a:solidFill>
                <a:effectLst/>
                <a:uFillTx/>
                <a:latin typeface="Calibri"/>
                <a:ea typeface="Calibri"/>
              </a:rPr>
              <a:t>Validación cruzada leave-one-child-out con 14 particiones: se evalúa siempre sobre el niño excluido del entrenamiento.</a:t>
            </a:r>
            <a:endParaRPr lang="en-US" sz="1100" b="0" u="none" strike="noStrike">
              <a:solidFill>
                <a:srgbClr val="000000"/>
              </a:solidFill>
              <a:effectLst/>
              <a:uFillTx/>
              <a:latin typeface="Arial"/>
            </a:endParaRPr>
          </a:p>
          <a:p>
            <a:pPr marL="343080" indent="-343080" defTabSz="914400">
              <a:lnSpc>
                <a:spcPct val="100000"/>
              </a:lnSpc>
              <a:spcAft>
                <a:spcPts val="799"/>
              </a:spcAft>
              <a:buClr>
                <a:srgbClr val="D8CFC8"/>
              </a:buClr>
              <a:buFont typeface="Symbol" charset="2"/>
              <a:buChar char=""/>
            </a:pPr>
            <a:r>
              <a:rPr lang="en-US" sz="1100" b="0" u="none" strike="noStrike">
                <a:solidFill>
                  <a:srgbClr val="D8CFC8"/>
                </a:solidFill>
                <a:effectLst/>
                <a:uFillTx/>
                <a:latin typeface="Calibri"/>
                <a:ea typeface="Calibri"/>
              </a:rPr>
              <a:t>Dos semillas aleatorias; desviación de 0.001 entre ellas.</a:t>
            </a:r>
            <a:endParaRPr lang="en-US" sz="1100" b="0" u="none" strike="noStrike">
              <a:solidFill>
                <a:srgbClr val="000000"/>
              </a:solidFill>
              <a:effectLst/>
              <a:uFillTx/>
              <a:latin typeface="Arial"/>
            </a:endParaRPr>
          </a:p>
          <a:p>
            <a:pPr marL="343080" indent="-343080" defTabSz="914400">
              <a:lnSpc>
                <a:spcPct val="100000"/>
              </a:lnSpc>
              <a:spcAft>
                <a:spcPts val="799"/>
              </a:spcAft>
              <a:buClr>
                <a:srgbClr val="D8CFC8"/>
              </a:buClr>
              <a:buFont typeface="Symbol" charset="2"/>
              <a:buChar char=""/>
            </a:pPr>
            <a:r>
              <a:rPr lang="en-US" sz="1100" b="0" u="none" strike="noStrike">
                <a:solidFill>
                  <a:srgbClr val="D8CFC8"/>
                </a:solidFill>
                <a:effectLst/>
                <a:uFillTx/>
                <a:latin typeface="Calibri"/>
                <a:ea typeface="Calibri"/>
              </a:rPr>
              <a:t>2674 emisiones bien pronunciadas y 3172 mal pronunciadas.</a:t>
            </a:r>
            <a:endParaRPr lang="en-US" sz="1100" b="0" u="none" strike="noStrike">
              <a:solidFill>
                <a:srgbClr val="000000"/>
              </a:solidFill>
              <a:effectLst/>
              <a:uFillTx/>
              <a:latin typeface="Arial"/>
            </a:endParaRPr>
          </a:p>
          <a:p>
            <a:pPr marL="343080" indent="-343080" defTabSz="914400">
              <a:lnSpc>
                <a:spcPct val="100000"/>
              </a:lnSpc>
              <a:spcAft>
                <a:spcPts val="799"/>
              </a:spcAft>
              <a:buClr>
                <a:srgbClr val="D8CFC8"/>
              </a:buClr>
              <a:buFont typeface="Symbol" charset="2"/>
              <a:buChar char=""/>
            </a:pPr>
            <a:r>
              <a:rPr lang="en-US" sz="1100" b="0" u="none" strike="noStrike">
                <a:solidFill>
                  <a:srgbClr val="D8CFC8"/>
                </a:solidFill>
                <a:effectLst/>
                <a:uFillTx/>
                <a:latin typeface="Calibri"/>
                <a:ea typeface="Calibri"/>
              </a:rPr>
              <a:t>Tres palabras excluidas por inconsistencia en el etiquetado.</a:t>
            </a:r>
            <a:endParaRPr lang="en-US" sz="1100" b="0" u="none" strike="noStrike">
              <a:solidFill>
                <a:srgbClr val="000000"/>
              </a:solidFill>
              <a:effectLst/>
              <a:uFillTx/>
              <a:latin typeface="Arial"/>
            </a:endParaRPr>
          </a:p>
        </p:txBody>
      </p:sp>
      <p:sp>
        <p:nvSpPr>
          <p:cNvPr id="86" name="Text 19"/>
          <p:cNvSpPr/>
          <p:nvPr/>
        </p:nvSpPr>
        <p:spPr>
          <a:xfrm>
            <a:off x="640080" y="5961960"/>
            <a:ext cx="10880640" cy="5479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50" b="0" u="none" strike="noStrike">
                <a:solidFill>
                  <a:srgbClr val="241C18"/>
                </a:solidFill>
                <a:effectLst/>
                <a:uFillTx/>
                <a:latin typeface="Calibri"/>
                <a:ea typeface="Calibri"/>
              </a:rPr>
              <a:t>La sustitución de Triplet Loss por AM-Softmax incrementó el acierto top-1 en más de 40 puntos y redujo el error de confusión entre palabras en un factor de 32, sin modificar el backbone ni ampliar el conjunto de datos.</a:t>
            </a:r>
            <a:endParaRPr lang="en-US" sz="12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2B211C"/>
        </a:solidFill>
      </p:bgPr>
    </p:bg>
    <p:spTree>
      <p:nvGrpSpPr>
        <p:cNvPr id="1" name=""/>
        <p:cNvGrpSpPr/>
        <p:nvPr/>
      </p:nvGrpSpPr>
      <p:grpSpPr>
        <a:xfrm>
          <a:off x="0" y="0"/>
          <a:ext cx="0" cy="0"/>
          <a:chOff x="0" y="0"/>
          <a:chExt cx="0" cy="0"/>
        </a:xfrm>
      </p:grpSpPr>
      <p:sp>
        <p:nvSpPr>
          <p:cNvPr id="87" name="Text 0"/>
          <p:cNvSpPr/>
          <p:nvPr/>
        </p:nvSpPr>
        <p:spPr>
          <a:xfrm>
            <a:off x="658440" y="164520"/>
            <a:ext cx="10880640" cy="273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1" u="none" spc="201" strike="noStrike">
                <a:solidFill>
                  <a:srgbClr val="B85042"/>
                </a:solidFill>
                <a:effectLst/>
                <a:uFillTx/>
                <a:latin typeface="Calibri"/>
                <a:ea typeface="Calibri"/>
              </a:rPr>
              <a:t>EL MODELO · 3 DE 3</a:t>
            </a:r>
            <a:endParaRPr lang="en-US" sz="1100" b="0" u="none" strike="noStrike">
              <a:solidFill>
                <a:srgbClr val="FFFFFF"/>
              </a:solidFill>
              <a:effectLst/>
              <a:uFillTx/>
              <a:latin typeface="Arial"/>
            </a:endParaRPr>
          </a:p>
        </p:txBody>
      </p:sp>
      <p:sp>
        <p:nvSpPr>
          <p:cNvPr id="88" name="Text 1"/>
          <p:cNvSpPr/>
          <p:nvPr/>
        </p:nvSpPr>
        <p:spPr>
          <a:xfrm>
            <a:off x="640080" y="402480"/>
            <a:ext cx="10880640" cy="7124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400" b="1" u="none" strike="noStrike">
                <a:solidFill>
                  <a:srgbClr val="FFFFFF"/>
                </a:solidFill>
                <a:effectLst/>
                <a:uFillTx/>
                <a:latin typeface="Calibri"/>
                <a:ea typeface="Calibri"/>
              </a:rPr>
              <a:t>Resultados: evaluación de pronunciación</a:t>
            </a:r>
            <a:endParaRPr lang="en-US" sz="3400" b="0" u="none" strike="noStrike">
              <a:solidFill>
                <a:srgbClr val="FFFFFF"/>
              </a:solidFill>
              <a:effectLst/>
              <a:uFillTx/>
              <a:latin typeface="Arial"/>
            </a:endParaRPr>
          </a:p>
        </p:txBody>
      </p:sp>
      <p:sp>
        <p:nvSpPr>
          <p:cNvPr id="89" name="Shape 2"/>
          <p:cNvSpPr/>
          <p:nvPr/>
        </p:nvSpPr>
        <p:spPr>
          <a:xfrm>
            <a:off x="640080" y="1316880"/>
            <a:ext cx="5119920" cy="1480680"/>
          </a:xfrm>
          <a:prstGeom prst="roundRect">
            <a:avLst>
              <a:gd name="adj" fmla="val 4938"/>
            </a:avLst>
          </a:prstGeom>
          <a:solidFill>
            <a:srgbClr val="3A2D26"/>
          </a:solidFill>
          <a:ln w="0">
            <a:noFill/>
          </a:ln>
          <a:effectLst>
            <a:outerShdw algn="bl" blurRad="127080" dir="5400000" dist="720" kx="0" ky="0" rotWithShape="0" sx="100000" sy="100000">
              <a:srgbClr val="000000">
                <a:alpha val="18000"/>
              </a:srgbClr>
            </a:outerShdw>
          </a:effectLst>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90" name="Text 3"/>
          <p:cNvSpPr/>
          <p:nvPr/>
        </p:nvSpPr>
        <p:spPr>
          <a:xfrm>
            <a:off x="868680" y="1426320"/>
            <a:ext cx="2193840" cy="6393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200" b="1" u="none" strike="noStrike">
                <a:solidFill>
                  <a:srgbClr val="6E8F7D"/>
                </a:solidFill>
                <a:effectLst/>
                <a:uFillTx/>
                <a:latin typeface="Calibri"/>
                <a:ea typeface="Calibri"/>
              </a:rPr>
              <a:t>0.44 %</a:t>
            </a:r>
            <a:endParaRPr lang="en-US" sz="3200" b="0" u="none" strike="noStrike">
              <a:solidFill>
                <a:srgbClr val="FFFFFF"/>
              </a:solidFill>
              <a:effectLst/>
              <a:uFillTx/>
              <a:latin typeface="Arial"/>
            </a:endParaRPr>
          </a:p>
        </p:txBody>
      </p:sp>
      <p:sp>
        <p:nvSpPr>
          <p:cNvPr id="91" name="Text 4"/>
          <p:cNvSpPr/>
          <p:nvPr/>
        </p:nvSpPr>
        <p:spPr>
          <a:xfrm>
            <a:off x="868680" y="2066400"/>
            <a:ext cx="2285280" cy="273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50" b="0" u="none" strike="noStrike">
                <a:solidFill>
                  <a:srgbClr val="9AA79E"/>
                </a:solidFill>
                <a:effectLst/>
                <a:uFillTx/>
                <a:latin typeface="Calibri"/>
                <a:ea typeface="Calibri"/>
              </a:rPr>
              <a:t>EER de identificación de palabra</a:t>
            </a:r>
            <a:endParaRPr lang="en-US" sz="1050" b="0" u="none" strike="noStrike">
              <a:solidFill>
                <a:srgbClr val="FFFFFF"/>
              </a:solidFill>
              <a:effectLst/>
              <a:uFillTx/>
              <a:latin typeface="Arial"/>
            </a:endParaRPr>
          </a:p>
        </p:txBody>
      </p:sp>
      <p:sp>
        <p:nvSpPr>
          <p:cNvPr id="92" name="Text 5"/>
          <p:cNvSpPr/>
          <p:nvPr/>
        </p:nvSpPr>
        <p:spPr>
          <a:xfrm>
            <a:off x="3291840" y="1426320"/>
            <a:ext cx="2285280" cy="6393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200" b="1" u="none" strike="noStrike">
                <a:solidFill>
                  <a:srgbClr val="B85042"/>
                </a:solidFill>
                <a:effectLst/>
                <a:uFillTx/>
                <a:latin typeface="Calibri"/>
                <a:ea typeface="Calibri"/>
              </a:rPr>
              <a:t>34.6 %</a:t>
            </a:r>
            <a:endParaRPr lang="en-US" sz="3200" b="0" u="none" strike="noStrike">
              <a:solidFill>
                <a:srgbClr val="FFFFFF"/>
              </a:solidFill>
              <a:effectLst/>
              <a:uFillTx/>
              <a:latin typeface="Arial"/>
            </a:endParaRPr>
          </a:p>
        </p:txBody>
      </p:sp>
      <p:sp>
        <p:nvSpPr>
          <p:cNvPr id="93" name="Text 6"/>
          <p:cNvSpPr/>
          <p:nvPr/>
        </p:nvSpPr>
        <p:spPr>
          <a:xfrm>
            <a:off x="3291840" y="2066400"/>
            <a:ext cx="2331000" cy="273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50" b="0" u="none" strike="noStrike">
                <a:solidFill>
                  <a:srgbClr val="E0B4AC"/>
                </a:solidFill>
                <a:effectLst/>
                <a:uFillTx/>
                <a:latin typeface="Calibri"/>
                <a:ea typeface="Calibri"/>
              </a:rPr>
              <a:t>EER de evaluación de pronunciación</a:t>
            </a:r>
            <a:endParaRPr lang="en-US" sz="1050" b="0" u="none" strike="noStrike">
              <a:solidFill>
                <a:srgbClr val="FFFFFF"/>
              </a:solidFill>
              <a:effectLst/>
              <a:uFillTx/>
              <a:latin typeface="Arial"/>
            </a:endParaRPr>
          </a:p>
        </p:txBody>
      </p:sp>
      <p:sp>
        <p:nvSpPr>
          <p:cNvPr id="94" name="Text 7"/>
          <p:cNvSpPr/>
          <p:nvPr/>
        </p:nvSpPr>
        <p:spPr>
          <a:xfrm>
            <a:off x="868680" y="2377440"/>
            <a:ext cx="4662720" cy="310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50" b="0" u="none" strike="noStrike">
                <a:solidFill>
                  <a:srgbClr val="C0B4AC"/>
                </a:solidFill>
                <a:effectLst/>
                <a:uFillTx/>
                <a:latin typeface="Calibri"/>
                <a:ea typeface="Calibri"/>
              </a:rPr>
              <a:t>Diferencia de casi dos órdenes de magnitud entre ambas tareas.</a:t>
            </a:r>
            <a:endParaRPr lang="en-US" sz="1150" b="0" u="none" strike="noStrike">
              <a:solidFill>
                <a:srgbClr val="FFFFFF"/>
              </a:solidFill>
              <a:effectLst/>
              <a:uFillTx/>
              <a:latin typeface="Arial"/>
            </a:endParaRPr>
          </a:p>
        </p:txBody>
      </p:sp>
      <p:sp>
        <p:nvSpPr>
          <p:cNvPr id="95" name="Text 8"/>
          <p:cNvSpPr/>
          <p:nvPr/>
        </p:nvSpPr>
        <p:spPr>
          <a:xfrm>
            <a:off x="640080" y="2962800"/>
            <a:ext cx="5119920" cy="310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600" b="1" u="none" strike="noStrike">
                <a:solidFill>
                  <a:srgbClr val="FFFFFF"/>
                </a:solidFill>
                <a:effectLst/>
                <a:uFillTx/>
                <a:latin typeface="Calibri"/>
                <a:ea typeface="Calibri"/>
              </a:rPr>
              <a:t>Factores que limitan el desempeño</a:t>
            </a:r>
            <a:endParaRPr lang="en-US" sz="1600" b="0" u="none" strike="noStrike">
              <a:solidFill>
                <a:srgbClr val="FFFFFF"/>
              </a:solidFill>
              <a:effectLst/>
              <a:uFillTx/>
              <a:latin typeface="Arial"/>
            </a:endParaRPr>
          </a:p>
        </p:txBody>
      </p:sp>
      <p:sp>
        <p:nvSpPr>
          <p:cNvPr id="96" name="Shape 9"/>
          <p:cNvSpPr/>
          <p:nvPr/>
        </p:nvSpPr>
        <p:spPr>
          <a:xfrm>
            <a:off x="658440" y="3364920"/>
            <a:ext cx="474840" cy="474840"/>
          </a:xfrm>
          <a:prstGeom prst="ellipse">
            <a:avLst/>
          </a:prstGeom>
          <a:solidFill>
            <a:srgbClr val="B85042"/>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97" name="Text 10"/>
          <p:cNvSpPr/>
          <p:nvPr/>
        </p:nvSpPr>
        <p:spPr>
          <a:xfrm>
            <a:off x="658440" y="3364920"/>
            <a:ext cx="474840" cy="4748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900" b="1" u="none" strike="noStrike">
                <a:solidFill>
                  <a:srgbClr val="FFFFFF"/>
                </a:solidFill>
                <a:effectLst/>
                <a:uFillTx/>
                <a:latin typeface="Calibri"/>
                <a:ea typeface="Calibri"/>
              </a:rPr>
              <a:t>1</a:t>
            </a:r>
            <a:endParaRPr lang="en-US" sz="1900" b="0" u="none" strike="noStrike">
              <a:solidFill>
                <a:srgbClr val="FFFFFF"/>
              </a:solidFill>
              <a:effectLst/>
              <a:uFillTx/>
              <a:latin typeface="Arial"/>
            </a:endParaRPr>
          </a:p>
        </p:txBody>
      </p:sp>
      <p:sp>
        <p:nvSpPr>
          <p:cNvPr id="98" name="Text 11"/>
          <p:cNvSpPr/>
          <p:nvPr/>
        </p:nvSpPr>
        <p:spPr>
          <a:xfrm>
            <a:off x="1243440" y="3337560"/>
            <a:ext cx="4525560" cy="5846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0" u="none" strike="noStrike">
                <a:solidFill>
                  <a:srgbClr val="D8CFC8"/>
                </a:solidFill>
                <a:effectLst/>
                <a:uFillTx/>
                <a:latin typeface="Calibri"/>
                <a:ea typeface="Calibri"/>
              </a:rPr>
              <a:t>El etiquetado humano no es unánime: el juicio de pronunciación no se reproduce de forma consistente entre evaluadores.</a:t>
            </a:r>
            <a:endParaRPr lang="en-US" sz="1100" b="0" u="none" strike="noStrike">
              <a:solidFill>
                <a:srgbClr val="FFFFFF"/>
              </a:solidFill>
              <a:effectLst/>
              <a:uFillTx/>
              <a:latin typeface="Arial"/>
            </a:endParaRPr>
          </a:p>
        </p:txBody>
      </p:sp>
      <p:sp>
        <p:nvSpPr>
          <p:cNvPr id="99" name="Shape 12"/>
          <p:cNvSpPr/>
          <p:nvPr/>
        </p:nvSpPr>
        <p:spPr>
          <a:xfrm>
            <a:off x="658440" y="4041720"/>
            <a:ext cx="474840" cy="474840"/>
          </a:xfrm>
          <a:prstGeom prst="ellipse">
            <a:avLst/>
          </a:prstGeom>
          <a:solidFill>
            <a:srgbClr val="3A2D26"/>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00" name="Text 13"/>
          <p:cNvSpPr/>
          <p:nvPr/>
        </p:nvSpPr>
        <p:spPr>
          <a:xfrm>
            <a:off x="658440" y="4041720"/>
            <a:ext cx="474840" cy="4748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900" b="1" u="none" strike="noStrike">
                <a:solidFill>
                  <a:srgbClr val="C0B4AC"/>
                </a:solidFill>
                <a:effectLst/>
                <a:uFillTx/>
                <a:latin typeface="Calibri"/>
                <a:ea typeface="Calibri"/>
              </a:rPr>
              <a:t>2</a:t>
            </a:r>
            <a:endParaRPr lang="en-US" sz="1900" b="0" u="none" strike="noStrike">
              <a:solidFill>
                <a:srgbClr val="FFFFFF"/>
              </a:solidFill>
              <a:effectLst/>
              <a:uFillTx/>
              <a:latin typeface="Arial"/>
            </a:endParaRPr>
          </a:p>
        </p:txBody>
      </p:sp>
      <p:sp>
        <p:nvSpPr>
          <p:cNvPr id="101" name="Text 14"/>
          <p:cNvSpPr/>
          <p:nvPr/>
        </p:nvSpPr>
        <p:spPr>
          <a:xfrm>
            <a:off x="1243440" y="4014360"/>
            <a:ext cx="4525560" cy="5846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0" u="none" strike="noStrike">
                <a:solidFill>
                  <a:srgbClr val="D8CFC8"/>
                </a:solidFill>
                <a:effectLst/>
                <a:uFillTx/>
                <a:latin typeface="Calibri"/>
                <a:ea typeface="Calibri"/>
              </a:rPr>
              <a:t>La variabilidad entre hablantes de 6 a 12 años supera la diferencia acústica entre pronunciación correcta e incorrecta.</a:t>
            </a:r>
            <a:endParaRPr lang="en-US" sz="1100" b="0" u="none" strike="noStrike">
              <a:solidFill>
                <a:srgbClr val="FFFFFF"/>
              </a:solidFill>
              <a:effectLst/>
              <a:uFillTx/>
              <a:latin typeface="Arial"/>
            </a:endParaRPr>
          </a:p>
        </p:txBody>
      </p:sp>
      <p:sp>
        <p:nvSpPr>
          <p:cNvPr id="102" name="Shape 15"/>
          <p:cNvSpPr/>
          <p:nvPr/>
        </p:nvSpPr>
        <p:spPr>
          <a:xfrm>
            <a:off x="658440" y="4718160"/>
            <a:ext cx="474840" cy="474840"/>
          </a:xfrm>
          <a:prstGeom prst="ellipse">
            <a:avLst/>
          </a:prstGeom>
          <a:solidFill>
            <a:srgbClr val="3A2D26"/>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03" name="Text 16"/>
          <p:cNvSpPr/>
          <p:nvPr/>
        </p:nvSpPr>
        <p:spPr>
          <a:xfrm>
            <a:off x="658440" y="4718160"/>
            <a:ext cx="474840" cy="4748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900" b="1" u="none" strike="noStrike">
                <a:solidFill>
                  <a:srgbClr val="C0B4AC"/>
                </a:solidFill>
                <a:effectLst/>
                <a:uFillTx/>
                <a:latin typeface="Calibri"/>
                <a:ea typeface="Calibri"/>
              </a:rPr>
              <a:t>3</a:t>
            </a:r>
            <a:endParaRPr lang="en-US" sz="1900" b="0" u="none" strike="noStrike">
              <a:solidFill>
                <a:srgbClr val="FFFFFF"/>
              </a:solidFill>
              <a:effectLst/>
              <a:uFillTx/>
              <a:latin typeface="Arial"/>
            </a:endParaRPr>
          </a:p>
        </p:txBody>
      </p:sp>
      <p:sp>
        <p:nvSpPr>
          <p:cNvPr id="104" name="Text 17"/>
          <p:cNvSpPr/>
          <p:nvPr/>
        </p:nvSpPr>
        <p:spPr>
          <a:xfrm>
            <a:off x="1243440" y="4690800"/>
            <a:ext cx="4525560" cy="5846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0" u="none" strike="noStrike">
                <a:solidFill>
                  <a:srgbClr val="D8CFC8"/>
                </a:solidFill>
                <a:effectLst/>
                <a:uFillTx/>
                <a:latin typeface="Calibri"/>
                <a:ea typeface="Calibri"/>
              </a:rPr>
              <a:t>El backbone fue preentrenado para ser invariante justo al atributo que se pretende medir.</a:t>
            </a:r>
            <a:endParaRPr lang="en-US" sz="1100" b="0" u="none" strike="noStrike">
              <a:solidFill>
                <a:srgbClr val="FFFFFF"/>
              </a:solidFill>
              <a:effectLst/>
              <a:uFillTx/>
              <a:latin typeface="Arial"/>
            </a:endParaRPr>
          </a:p>
        </p:txBody>
      </p:sp>
      <p:sp>
        <p:nvSpPr>
          <p:cNvPr id="105" name="Shape 18"/>
          <p:cNvSpPr/>
          <p:nvPr/>
        </p:nvSpPr>
        <p:spPr>
          <a:xfrm>
            <a:off x="658440" y="5394960"/>
            <a:ext cx="474840" cy="474840"/>
          </a:xfrm>
          <a:prstGeom prst="ellipse">
            <a:avLst/>
          </a:prstGeom>
          <a:solidFill>
            <a:srgbClr val="3A2D26"/>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06" name="Text 19"/>
          <p:cNvSpPr/>
          <p:nvPr/>
        </p:nvSpPr>
        <p:spPr>
          <a:xfrm>
            <a:off x="658440" y="5394960"/>
            <a:ext cx="474840" cy="4748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900" b="1" u="none" strike="noStrike">
                <a:solidFill>
                  <a:srgbClr val="C0B4AC"/>
                </a:solidFill>
                <a:effectLst/>
                <a:uFillTx/>
                <a:latin typeface="Calibri"/>
                <a:ea typeface="Calibri"/>
              </a:rPr>
              <a:t>4</a:t>
            </a:r>
            <a:endParaRPr lang="en-US" sz="1900" b="0" u="none" strike="noStrike">
              <a:solidFill>
                <a:srgbClr val="FFFFFF"/>
              </a:solidFill>
              <a:effectLst/>
              <a:uFillTx/>
              <a:latin typeface="Arial"/>
            </a:endParaRPr>
          </a:p>
        </p:txBody>
      </p:sp>
      <p:sp>
        <p:nvSpPr>
          <p:cNvPr id="107" name="Text 20"/>
          <p:cNvSpPr/>
          <p:nvPr/>
        </p:nvSpPr>
        <p:spPr>
          <a:xfrm>
            <a:off x="1243440" y="5367600"/>
            <a:ext cx="4525560" cy="5846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0" u="none" strike="noStrike">
                <a:solidFill>
                  <a:srgbClr val="D8CFC8"/>
                </a:solidFill>
                <a:effectLst/>
                <a:uFillTx/>
                <a:latin typeface="Calibri"/>
                <a:ea typeface="Calibri"/>
              </a:rPr>
              <a:t>Se dispone de una única referencia nativa por palabra.</a:t>
            </a:r>
            <a:endParaRPr lang="en-US" sz="1100" b="0" u="none" strike="noStrike">
              <a:solidFill>
                <a:srgbClr val="FFFFFF"/>
              </a:solidFill>
              <a:effectLst/>
              <a:uFillTx/>
              <a:latin typeface="Arial"/>
            </a:endParaRPr>
          </a:p>
        </p:txBody>
      </p:sp>
      <p:sp>
        <p:nvSpPr>
          <p:cNvPr id="108" name="Shape 21"/>
          <p:cNvSpPr/>
          <p:nvPr/>
        </p:nvSpPr>
        <p:spPr>
          <a:xfrm>
            <a:off x="6126480" y="1316880"/>
            <a:ext cx="5394240" cy="2925360"/>
          </a:xfrm>
          <a:prstGeom prst="roundRect">
            <a:avLst>
              <a:gd name="adj" fmla="val 2500"/>
            </a:avLst>
          </a:prstGeom>
          <a:solidFill>
            <a:srgbClr val="3A2D26"/>
          </a:solidFill>
          <a:ln w="0">
            <a:noFill/>
          </a:ln>
          <a:effectLst>
            <a:outerShdw algn="bl" blurRad="127080" dir="5400000" dist="720" kx="0" ky="0" rotWithShape="0" sx="100000" sy="100000">
              <a:srgbClr val="000000">
                <a:alpha val="18000"/>
              </a:srgbClr>
            </a:outerShdw>
          </a:effectLst>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09" name="Text 22"/>
          <p:cNvSpPr/>
          <p:nvPr/>
        </p:nvSpPr>
        <p:spPr>
          <a:xfrm>
            <a:off x="6382440" y="1444680"/>
            <a:ext cx="4845600" cy="310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600" b="1" u="none" strike="noStrike">
                <a:solidFill>
                  <a:srgbClr val="FFFFFF"/>
                </a:solidFill>
                <a:effectLst/>
                <a:uFillTx/>
                <a:latin typeface="Calibri"/>
                <a:ea typeface="Calibri"/>
              </a:rPr>
              <a:t>Alternativas evaluadas</a:t>
            </a:r>
            <a:endParaRPr lang="en-US" sz="1600" b="0" u="none" strike="noStrike">
              <a:solidFill>
                <a:srgbClr val="FFFFFF"/>
              </a:solidFill>
              <a:effectLst/>
              <a:uFillTx/>
              <a:latin typeface="Arial"/>
            </a:endParaRPr>
          </a:p>
        </p:txBody>
      </p:sp>
      <p:graphicFrame>
        <p:nvGraphicFramePr>
          <p:cNvPr id="110" name="Table 0"/>
          <p:cNvGraphicFramePr/>
          <p:nvPr/>
        </p:nvGraphicFramePr>
        <p:xfrm>
          <a:off x="6382440" y="1828800"/>
          <a:ext cx="4891680" cy="1753920"/>
        </p:xfrm>
        <a:graphic>
          <a:graphicData uri="http://schemas.openxmlformats.org/drawingml/2006/table">
            <a:tbl>
              <a:tblPr/>
              <a:tblGrid>
                <a:gridCol w="3611880"/>
                <a:gridCol w="1280160"/>
              </a:tblGrid>
              <a:tr h="292320">
                <a:tc>
                  <a:txBody>
                    <a:bodyPr lIns="50760" tIns="50760" rIns="50760" bIns="50760" anchor="t">
                      <a:noAutofit/>
                    </a:bodyPr>
                    <a:p>
                      <a:pPr defTabSz="914400">
                        <a:lnSpc>
                          <a:spcPct val="100000"/>
                        </a:lnSpc>
                        <a:tabLst>
                          <a:tab pos="0" algn="l"/>
                        </a:tabLst>
                      </a:pPr>
                      <a:r>
                        <a:rPr lang="en-US" sz="1100" b="1" u="none" strike="noStrike">
                          <a:solidFill>
                            <a:srgbClr val="6E8F7D"/>
                          </a:solidFill>
                          <a:effectLst/>
                          <a:uFillTx/>
                          <a:latin typeface="Calibri"/>
                          <a:ea typeface="Calibri"/>
                        </a:rPr>
                        <a:t>Enfoque</a:t>
                      </a:r>
                      <a:endParaRPr lang="en-US" sz="1100" b="0" u="none" strike="noStrike">
                        <a:solidFill>
                          <a:srgbClr val="FFFFFF"/>
                        </a:solidFill>
                        <a:effectLst/>
                        <a:uFillTx/>
                        <a:latin typeface="Arial"/>
                      </a:endParaRPr>
                    </a:p>
                  </a:txBody>
                  <a:tcPr anchor="t" marL="50760" marR="50760" marT="50760" marB="50760">
                    <a:lnL w="6480">
                      <a:solidFill>
                        <a:srgbClr val="50403A"/>
                      </a:solidFill>
                      <a:prstDash val="solid"/>
                    </a:lnL>
                    <a:lnR w="6480">
                      <a:solidFill>
                        <a:srgbClr val="50403A"/>
                      </a:solidFill>
                      <a:prstDash val="solid"/>
                    </a:lnR>
                    <a:lnT w="6480">
                      <a:solidFill>
                        <a:srgbClr val="50403A"/>
                      </a:solidFill>
                      <a:prstDash val="solid"/>
                    </a:lnT>
                    <a:lnB w="6480">
                      <a:solidFill>
                        <a:srgbClr val="50403A"/>
                      </a:solidFill>
                      <a:prstDash val="solid"/>
                    </a:lnB>
                    <a:noFill/>
                  </a:tcPr>
                </a:tc>
                <a:tc>
                  <a:txBody>
                    <a:bodyPr lIns="50760" tIns="50760" rIns="50760" bIns="50760" anchor="t">
                      <a:noAutofit/>
                    </a:bodyPr>
                    <a:p>
                      <a:pPr algn="r" defTabSz="914400">
                        <a:lnSpc>
                          <a:spcPct val="100000"/>
                        </a:lnSpc>
                        <a:tabLst>
                          <a:tab pos="0" algn="l"/>
                        </a:tabLst>
                      </a:pPr>
                      <a:r>
                        <a:rPr lang="en-US" sz="1100" b="1" u="none" strike="noStrike">
                          <a:solidFill>
                            <a:srgbClr val="6E8F7D"/>
                          </a:solidFill>
                          <a:effectLst/>
                          <a:uFillTx/>
                          <a:latin typeface="Calibri"/>
                          <a:ea typeface="Calibri"/>
                        </a:rPr>
                        <a:t>EER</a:t>
                      </a:r>
                      <a:endParaRPr lang="en-US" sz="1100" b="0" u="none" strike="noStrike">
                        <a:solidFill>
                          <a:srgbClr val="FFFFFF"/>
                        </a:solidFill>
                        <a:effectLst/>
                        <a:uFillTx/>
                        <a:latin typeface="Arial"/>
                      </a:endParaRPr>
                    </a:p>
                  </a:txBody>
                  <a:tcPr anchor="t" marL="50760" marR="50760" marT="50760" marB="50760">
                    <a:lnL w="6480">
                      <a:solidFill>
                        <a:srgbClr val="50403A"/>
                      </a:solidFill>
                      <a:prstDash val="solid"/>
                    </a:lnL>
                    <a:lnR w="6480">
                      <a:solidFill>
                        <a:srgbClr val="50403A"/>
                      </a:solidFill>
                      <a:prstDash val="solid"/>
                    </a:lnR>
                    <a:lnT w="6480">
                      <a:solidFill>
                        <a:srgbClr val="50403A"/>
                      </a:solidFill>
                      <a:prstDash val="solid"/>
                    </a:lnT>
                    <a:lnB w="6480">
                      <a:solidFill>
                        <a:srgbClr val="50403A"/>
                      </a:solidFill>
                      <a:prstDash val="solid"/>
                    </a:lnB>
                    <a:noFill/>
                  </a:tcPr>
                </a:tc>
              </a:tr>
              <a:tr h="292320">
                <a:tc>
                  <a:txBody>
                    <a:bodyPr lIns="50760" tIns="50760" rIns="50760" bIns="50760" anchor="t">
                      <a:noAutofit/>
                    </a:bodyPr>
                    <a:p>
                      <a:pPr defTabSz="914400">
                        <a:lnSpc>
                          <a:spcPct val="100000"/>
                        </a:lnSpc>
                        <a:tabLst>
                          <a:tab pos="0" algn="l"/>
                        </a:tabLst>
                      </a:pPr>
                      <a:r>
                        <a:rPr lang="en-US" sz="1100" b="0" u="none" strike="noStrike">
                          <a:solidFill>
                            <a:srgbClr val="D8CFC8"/>
                          </a:solidFill>
                          <a:effectLst/>
                          <a:uFillTx/>
                          <a:latin typeface="Calibri"/>
                          <a:ea typeface="Calibri"/>
                        </a:rPr>
                        <a:t>Prototipo AM-Softmax (desplegado)</a:t>
                      </a:r>
                      <a:endParaRPr lang="en-US" sz="1100" b="0" u="none" strike="noStrike">
                        <a:solidFill>
                          <a:srgbClr val="FFFFFF"/>
                        </a:solidFill>
                        <a:effectLst/>
                        <a:uFillTx/>
                        <a:latin typeface="Arial"/>
                      </a:endParaRPr>
                    </a:p>
                  </a:txBody>
                  <a:tcPr anchor="t" marL="50760" marR="50760" marT="50760" marB="50760">
                    <a:lnL w="6480">
                      <a:solidFill>
                        <a:srgbClr val="50403A"/>
                      </a:solidFill>
                      <a:prstDash val="solid"/>
                    </a:lnL>
                    <a:lnR w="6480">
                      <a:solidFill>
                        <a:srgbClr val="50403A"/>
                      </a:solidFill>
                      <a:prstDash val="solid"/>
                    </a:lnR>
                    <a:lnT w="6480">
                      <a:solidFill>
                        <a:srgbClr val="50403A"/>
                      </a:solidFill>
                      <a:prstDash val="solid"/>
                    </a:lnT>
                    <a:lnB w="6480">
                      <a:solidFill>
                        <a:srgbClr val="50403A"/>
                      </a:solidFill>
                      <a:prstDash val="solid"/>
                    </a:lnB>
                    <a:noFill/>
                  </a:tcPr>
                </a:tc>
                <a:tc>
                  <a:txBody>
                    <a:bodyPr lIns="50760" tIns="50760" rIns="50760" bIns="50760" anchor="t">
                      <a:noAutofit/>
                    </a:bodyPr>
                    <a:p>
                      <a:pPr algn="r" defTabSz="914400">
                        <a:lnSpc>
                          <a:spcPct val="100000"/>
                        </a:lnSpc>
                        <a:tabLst>
                          <a:tab pos="0" algn="l"/>
                        </a:tabLst>
                      </a:pPr>
                      <a:r>
                        <a:rPr lang="en-US" sz="1100" b="0" u="none" strike="noStrike">
                          <a:solidFill>
                            <a:srgbClr val="D8CFC8"/>
                          </a:solidFill>
                          <a:effectLst/>
                          <a:uFillTx/>
                          <a:latin typeface="Calibri"/>
                          <a:ea typeface="Calibri"/>
                        </a:rPr>
                        <a:t>0.346</a:t>
                      </a:r>
                      <a:endParaRPr lang="en-US" sz="1100" b="0" u="none" strike="noStrike">
                        <a:solidFill>
                          <a:srgbClr val="FFFFFF"/>
                        </a:solidFill>
                        <a:effectLst/>
                        <a:uFillTx/>
                        <a:latin typeface="Arial"/>
                      </a:endParaRPr>
                    </a:p>
                  </a:txBody>
                  <a:tcPr anchor="t" marL="50760" marR="50760" marT="50760" marB="50760">
                    <a:lnL w="6480">
                      <a:solidFill>
                        <a:srgbClr val="50403A"/>
                      </a:solidFill>
                      <a:prstDash val="solid"/>
                    </a:lnL>
                    <a:lnR w="6480">
                      <a:solidFill>
                        <a:srgbClr val="50403A"/>
                      </a:solidFill>
                      <a:prstDash val="solid"/>
                    </a:lnR>
                    <a:lnT w="6480">
                      <a:solidFill>
                        <a:srgbClr val="50403A"/>
                      </a:solidFill>
                      <a:prstDash val="solid"/>
                    </a:lnT>
                    <a:lnB w="6480">
                      <a:solidFill>
                        <a:srgbClr val="50403A"/>
                      </a:solidFill>
                      <a:prstDash val="solid"/>
                    </a:lnB>
                    <a:noFill/>
                  </a:tcPr>
                </a:tc>
              </a:tr>
              <a:tr h="292320">
                <a:tc>
                  <a:txBody>
                    <a:bodyPr lIns="50760" tIns="50760" rIns="50760" bIns="50760" anchor="t">
                      <a:noAutofit/>
                    </a:bodyPr>
                    <a:p>
                      <a:pPr defTabSz="914400">
                        <a:lnSpc>
                          <a:spcPct val="100000"/>
                        </a:lnSpc>
                        <a:tabLst>
                          <a:tab pos="0" algn="l"/>
                        </a:tabLst>
                      </a:pPr>
                      <a:r>
                        <a:rPr lang="en-US" sz="1100" b="0" u="none" strike="noStrike">
                          <a:solidFill>
                            <a:srgbClr val="D8CFC8"/>
                          </a:solidFill>
                          <a:effectLst/>
                          <a:uFillTx/>
                          <a:latin typeface="Calibri"/>
                          <a:ea typeface="Calibri"/>
                        </a:rPr>
                        <a:t>DTW sobre representación cruda</a:t>
                      </a:r>
                      <a:endParaRPr lang="en-US" sz="1100" b="0" u="none" strike="noStrike">
                        <a:solidFill>
                          <a:srgbClr val="FFFFFF"/>
                        </a:solidFill>
                        <a:effectLst/>
                        <a:uFillTx/>
                        <a:latin typeface="Arial"/>
                      </a:endParaRPr>
                    </a:p>
                  </a:txBody>
                  <a:tcPr anchor="t" marL="50760" marR="50760" marT="50760" marB="50760">
                    <a:lnL w="6480">
                      <a:solidFill>
                        <a:srgbClr val="50403A"/>
                      </a:solidFill>
                      <a:prstDash val="solid"/>
                    </a:lnL>
                    <a:lnR w="6480">
                      <a:solidFill>
                        <a:srgbClr val="50403A"/>
                      </a:solidFill>
                      <a:prstDash val="solid"/>
                    </a:lnR>
                    <a:lnT w="6480">
                      <a:solidFill>
                        <a:srgbClr val="50403A"/>
                      </a:solidFill>
                      <a:prstDash val="solid"/>
                    </a:lnT>
                    <a:lnB w="6480">
                      <a:solidFill>
                        <a:srgbClr val="50403A"/>
                      </a:solidFill>
                      <a:prstDash val="solid"/>
                    </a:lnB>
                    <a:noFill/>
                  </a:tcPr>
                </a:tc>
                <a:tc>
                  <a:txBody>
                    <a:bodyPr lIns="50760" tIns="50760" rIns="50760" bIns="50760" anchor="t">
                      <a:noAutofit/>
                    </a:bodyPr>
                    <a:p>
                      <a:pPr algn="r" defTabSz="914400">
                        <a:lnSpc>
                          <a:spcPct val="100000"/>
                        </a:lnSpc>
                        <a:tabLst>
                          <a:tab pos="0" algn="l"/>
                        </a:tabLst>
                      </a:pPr>
                      <a:r>
                        <a:rPr lang="en-US" sz="1100" b="0" u="none" strike="noStrike">
                          <a:solidFill>
                            <a:srgbClr val="D8CFC8"/>
                          </a:solidFill>
                          <a:effectLst/>
                          <a:uFillTx/>
                          <a:latin typeface="Calibri"/>
                          <a:ea typeface="Calibri"/>
                        </a:rPr>
                        <a:t>0.371</a:t>
                      </a:r>
                      <a:endParaRPr lang="en-US" sz="1100" b="0" u="none" strike="noStrike">
                        <a:solidFill>
                          <a:srgbClr val="FFFFFF"/>
                        </a:solidFill>
                        <a:effectLst/>
                        <a:uFillTx/>
                        <a:latin typeface="Arial"/>
                      </a:endParaRPr>
                    </a:p>
                  </a:txBody>
                  <a:tcPr anchor="t" marL="50760" marR="50760" marT="50760" marB="50760">
                    <a:lnL w="6480">
                      <a:solidFill>
                        <a:srgbClr val="50403A"/>
                      </a:solidFill>
                      <a:prstDash val="solid"/>
                    </a:lnL>
                    <a:lnR w="6480">
                      <a:solidFill>
                        <a:srgbClr val="50403A"/>
                      </a:solidFill>
                      <a:prstDash val="solid"/>
                    </a:lnR>
                    <a:lnT w="6480">
                      <a:solidFill>
                        <a:srgbClr val="50403A"/>
                      </a:solidFill>
                      <a:prstDash val="solid"/>
                    </a:lnT>
                    <a:lnB w="6480">
                      <a:solidFill>
                        <a:srgbClr val="50403A"/>
                      </a:solidFill>
                      <a:prstDash val="solid"/>
                    </a:lnB>
                    <a:noFill/>
                  </a:tcPr>
                </a:tc>
              </a:tr>
              <a:tr h="292320">
                <a:tc>
                  <a:txBody>
                    <a:bodyPr lIns="50760" tIns="50760" rIns="50760" bIns="50760" anchor="t">
                      <a:noAutofit/>
                    </a:bodyPr>
                    <a:p>
                      <a:pPr defTabSz="914400">
                        <a:lnSpc>
                          <a:spcPct val="100000"/>
                        </a:lnSpc>
                        <a:tabLst>
                          <a:tab pos="0" algn="l"/>
                        </a:tabLst>
                      </a:pPr>
                      <a:r>
                        <a:rPr lang="en-US" sz="1100" b="0" u="none" strike="noStrike">
                          <a:solidFill>
                            <a:srgbClr val="D8CFC8"/>
                          </a:solidFill>
                          <a:effectLst/>
                          <a:uFillTx/>
                          <a:latin typeface="Calibri"/>
                          <a:ea typeface="Calibri"/>
                        </a:rPr>
                        <a:t>DTW sobre la cabeza de proyección</a:t>
                      </a:r>
                      <a:endParaRPr lang="en-US" sz="1100" b="0" u="none" strike="noStrike">
                        <a:solidFill>
                          <a:srgbClr val="FFFFFF"/>
                        </a:solidFill>
                        <a:effectLst/>
                        <a:uFillTx/>
                        <a:latin typeface="Arial"/>
                      </a:endParaRPr>
                    </a:p>
                  </a:txBody>
                  <a:tcPr anchor="t" marL="50760" marR="50760" marT="50760" marB="50760">
                    <a:lnL w="6480">
                      <a:solidFill>
                        <a:srgbClr val="50403A"/>
                      </a:solidFill>
                      <a:prstDash val="solid"/>
                    </a:lnL>
                    <a:lnR w="6480">
                      <a:solidFill>
                        <a:srgbClr val="50403A"/>
                      </a:solidFill>
                      <a:prstDash val="solid"/>
                    </a:lnR>
                    <a:lnT w="6480">
                      <a:solidFill>
                        <a:srgbClr val="50403A"/>
                      </a:solidFill>
                      <a:prstDash val="solid"/>
                    </a:lnT>
                    <a:lnB w="6480">
                      <a:solidFill>
                        <a:srgbClr val="50403A"/>
                      </a:solidFill>
                      <a:prstDash val="solid"/>
                    </a:lnB>
                    <a:noFill/>
                  </a:tcPr>
                </a:tc>
                <a:tc>
                  <a:txBody>
                    <a:bodyPr lIns="50760" tIns="50760" rIns="50760" bIns="50760" anchor="t">
                      <a:noAutofit/>
                    </a:bodyPr>
                    <a:p>
                      <a:pPr algn="r" defTabSz="914400">
                        <a:lnSpc>
                          <a:spcPct val="100000"/>
                        </a:lnSpc>
                        <a:tabLst>
                          <a:tab pos="0" algn="l"/>
                        </a:tabLst>
                      </a:pPr>
                      <a:r>
                        <a:rPr lang="en-US" sz="1100" b="0" u="none" strike="noStrike">
                          <a:solidFill>
                            <a:srgbClr val="D8CFC8"/>
                          </a:solidFill>
                          <a:effectLst/>
                          <a:uFillTx/>
                          <a:latin typeface="Calibri"/>
                          <a:ea typeface="Calibri"/>
                        </a:rPr>
                        <a:t>0.365</a:t>
                      </a:r>
                      <a:endParaRPr lang="en-US" sz="1100" b="0" u="none" strike="noStrike">
                        <a:solidFill>
                          <a:srgbClr val="FFFFFF"/>
                        </a:solidFill>
                        <a:effectLst/>
                        <a:uFillTx/>
                        <a:latin typeface="Arial"/>
                      </a:endParaRPr>
                    </a:p>
                  </a:txBody>
                  <a:tcPr anchor="t" marL="50760" marR="50760" marT="50760" marB="50760">
                    <a:lnL w="6480">
                      <a:solidFill>
                        <a:srgbClr val="50403A"/>
                      </a:solidFill>
                      <a:prstDash val="solid"/>
                    </a:lnL>
                    <a:lnR w="6480">
                      <a:solidFill>
                        <a:srgbClr val="50403A"/>
                      </a:solidFill>
                      <a:prstDash val="solid"/>
                    </a:lnR>
                    <a:lnT w="6480">
                      <a:solidFill>
                        <a:srgbClr val="50403A"/>
                      </a:solidFill>
                      <a:prstDash val="solid"/>
                    </a:lnT>
                    <a:lnB w="6480">
                      <a:solidFill>
                        <a:srgbClr val="50403A"/>
                      </a:solidFill>
                      <a:prstDash val="solid"/>
                    </a:lnB>
                    <a:noFill/>
                  </a:tcPr>
                </a:tc>
              </a:tr>
              <a:tr h="292320">
                <a:tc>
                  <a:txBody>
                    <a:bodyPr lIns="50760" tIns="50760" rIns="50760" bIns="50760" anchor="t">
                      <a:noAutofit/>
                    </a:bodyPr>
                    <a:p>
                      <a:pPr defTabSz="914400">
                        <a:lnSpc>
                          <a:spcPct val="100000"/>
                        </a:lnSpc>
                        <a:tabLst>
                          <a:tab pos="0" algn="l"/>
                        </a:tabLst>
                      </a:pPr>
                      <a:r>
                        <a:rPr lang="en-US" sz="1100" b="1" u="none" strike="noStrike">
                          <a:solidFill>
                            <a:srgbClr val="D8CFC8"/>
                          </a:solidFill>
                          <a:effectLst/>
                          <a:uFillTx/>
                          <a:latin typeface="Calibri"/>
                          <a:ea typeface="Calibri"/>
                        </a:rPr>
                        <a:t>Fusión prototipo + DTW</a:t>
                      </a:r>
                      <a:endParaRPr lang="en-US" sz="1100" b="0" u="none" strike="noStrike">
                        <a:solidFill>
                          <a:srgbClr val="FFFFFF"/>
                        </a:solidFill>
                        <a:effectLst/>
                        <a:uFillTx/>
                        <a:latin typeface="Arial"/>
                      </a:endParaRPr>
                    </a:p>
                  </a:txBody>
                  <a:tcPr anchor="t" marL="50760" marR="50760" marT="50760" marB="50760">
                    <a:lnL w="6480">
                      <a:solidFill>
                        <a:srgbClr val="50403A"/>
                      </a:solidFill>
                      <a:prstDash val="solid"/>
                    </a:lnL>
                    <a:lnR w="6480">
                      <a:solidFill>
                        <a:srgbClr val="50403A"/>
                      </a:solidFill>
                      <a:prstDash val="solid"/>
                    </a:lnR>
                    <a:lnT w="6480">
                      <a:solidFill>
                        <a:srgbClr val="50403A"/>
                      </a:solidFill>
                      <a:prstDash val="solid"/>
                    </a:lnT>
                    <a:lnB w="6480">
                      <a:solidFill>
                        <a:srgbClr val="50403A"/>
                      </a:solidFill>
                      <a:prstDash val="solid"/>
                    </a:lnB>
                    <a:noFill/>
                  </a:tcPr>
                </a:tc>
                <a:tc>
                  <a:txBody>
                    <a:bodyPr lIns="50760" tIns="50760" rIns="50760" bIns="50760" anchor="t">
                      <a:noAutofit/>
                    </a:bodyPr>
                    <a:p>
                      <a:pPr algn="r" defTabSz="914400">
                        <a:lnSpc>
                          <a:spcPct val="100000"/>
                        </a:lnSpc>
                        <a:tabLst>
                          <a:tab pos="0" algn="l"/>
                        </a:tabLst>
                      </a:pPr>
                      <a:r>
                        <a:rPr lang="en-US" sz="1100" b="1" u="none" strike="noStrike">
                          <a:solidFill>
                            <a:srgbClr val="D8CFC8"/>
                          </a:solidFill>
                          <a:effectLst/>
                          <a:uFillTx/>
                          <a:latin typeface="Calibri"/>
                          <a:ea typeface="Calibri"/>
                        </a:rPr>
                        <a:t>0.339</a:t>
                      </a:r>
                      <a:endParaRPr lang="en-US" sz="1100" b="0" u="none" strike="noStrike">
                        <a:solidFill>
                          <a:srgbClr val="FFFFFF"/>
                        </a:solidFill>
                        <a:effectLst/>
                        <a:uFillTx/>
                        <a:latin typeface="Arial"/>
                      </a:endParaRPr>
                    </a:p>
                  </a:txBody>
                  <a:tcPr anchor="t" marL="50760" marR="50760" marT="50760" marB="50760">
                    <a:lnL w="6480">
                      <a:solidFill>
                        <a:srgbClr val="50403A"/>
                      </a:solidFill>
                      <a:prstDash val="solid"/>
                    </a:lnL>
                    <a:lnR w="6480">
                      <a:solidFill>
                        <a:srgbClr val="50403A"/>
                      </a:solidFill>
                      <a:prstDash val="solid"/>
                    </a:lnR>
                    <a:lnT w="6480">
                      <a:solidFill>
                        <a:srgbClr val="50403A"/>
                      </a:solidFill>
                      <a:prstDash val="solid"/>
                    </a:lnT>
                    <a:lnB w="6480">
                      <a:solidFill>
                        <a:srgbClr val="50403A"/>
                      </a:solidFill>
                      <a:prstDash val="solid"/>
                    </a:lnB>
                    <a:noFill/>
                  </a:tcPr>
                </a:tc>
              </a:tr>
              <a:tr h="292320">
                <a:tc>
                  <a:txBody>
                    <a:bodyPr lIns="50760" tIns="50760" rIns="50760" bIns="50760" anchor="t">
                      <a:noAutofit/>
                    </a:bodyPr>
                    <a:p>
                      <a:pPr defTabSz="914400">
                        <a:lnSpc>
                          <a:spcPct val="100000"/>
                        </a:lnSpc>
                        <a:tabLst>
                          <a:tab pos="0" algn="l"/>
                        </a:tabLst>
                      </a:pPr>
                      <a:r>
                        <a:rPr lang="en-US" sz="1100" b="0" u="none" strike="noStrike">
                          <a:solidFill>
                            <a:srgbClr val="D8CFC8"/>
                          </a:solidFill>
                          <a:effectLst/>
                          <a:uFillTx/>
                          <a:latin typeface="Calibri"/>
                          <a:ea typeface="Calibri"/>
                        </a:rPr>
                        <a:t>Regresión ordinal CORAL (top-1: 85 %)</a:t>
                      </a:r>
                      <a:endParaRPr lang="en-US" sz="1100" b="0" u="none" strike="noStrike">
                        <a:solidFill>
                          <a:srgbClr val="FFFFFF"/>
                        </a:solidFill>
                        <a:effectLst/>
                        <a:uFillTx/>
                        <a:latin typeface="Arial"/>
                      </a:endParaRPr>
                    </a:p>
                  </a:txBody>
                  <a:tcPr anchor="t" marL="50760" marR="50760" marT="50760" marB="50760">
                    <a:lnL w="6480">
                      <a:solidFill>
                        <a:srgbClr val="50403A"/>
                      </a:solidFill>
                      <a:prstDash val="solid"/>
                    </a:lnL>
                    <a:lnR w="6480">
                      <a:solidFill>
                        <a:srgbClr val="50403A"/>
                      </a:solidFill>
                      <a:prstDash val="solid"/>
                    </a:lnR>
                    <a:lnT w="6480">
                      <a:solidFill>
                        <a:srgbClr val="50403A"/>
                      </a:solidFill>
                      <a:prstDash val="solid"/>
                    </a:lnT>
                    <a:lnB w="6480">
                      <a:solidFill>
                        <a:srgbClr val="50403A"/>
                      </a:solidFill>
                      <a:prstDash val="solid"/>
                    </a:lnB>
                    <a:noFill/>
                  </a:tcPr>
                </a:tc>
                <a:tc>
                  <a:txBody>
                    <a:bodyPr lIns="50760" tIns="50760" rIns="50760" bIns="50760" anchor="t">
                      <a:noAutofit/>
                    </a:bodyPr>
                    <a:p>
                      <a:pPr algn="r" defTabSz="914400">
                        <a:lnSpc>
                          <a:spcPct val="100000"/>
                        </a:lnSpc>
                        <a:tabLst>
                          <a:tab pos="0" algn="l"/>
                        </a:tabLst>
                      </a:pPr>
                      <a:r>
                        <a:rPr lang="en-US" sz="1100" b="0" u="none" strike="noStrike">
                          <a:solidFill>
                            <a:srgbClr val="D8CFC8"/>
                          </a:solidFill>
                          <a:effectLst/>
                          <a:uFillTx/>
                          <a:latin typeface="Calibri"/>
                          <a:ea typeface="Calibri"/>
                        </a:rPr>
                        <a:t>0.330</a:t>
                      </a:r>
                      <a:endParaRPr lang="en-US" sz="1100" b="0" u="none" strike="noStrike">
                        <a:solidFill>
                          <a:srgbClr val="FFFFFF"/>
                        </a:solidFill>
                        <a:effectLst/>
                        <a:uFillTx/>
                        <a:latin typeface="Arial"/>
                      </a:endParaRPr>
                    </a:p>
                  </a:txBody>
                  <a:tcPr anchor="t" marL="50760" marR="50760" marT="50760" marB="50760">
                    <a:lnL w="6480">
                      <a:solidFill>
                        <a:srgbClr val="50403A"/>
                      </a:solidFill>
                      <a:prstDash val="solid"/>
                    </a:lnL>
                    <a:lnR w="6480">
                      <a:solidFill>
                        <a:srgbClr val="50403A"/>
                      </a:solidFill>
                      <a:prstDash val="solid"/>
                    </a:lnR>
                    <a:lnT w="6480">
                      <a:solidFill>
                        <a:srgbClr val="50403A"/>
                      </a:solidFill>
                      <a:prstDash val="solid"/>
                    </a:lnT>
                    <a:lnB w="6480">
                      <a:solidFill>
                        <a:srgbClr val="50403A"/>
                      </a:solidFill>
                      <a:prstDash val="solid"/>
                    </a:lnB>
                    <a:noFill/>
                  </a:tcPr>
                </a:tc>
              </a:tr>
            </a:tbl>
          </a:graphicData>
        </a:graphic>
      </p:graphicFrame>
      <p:sp>
        <p:nvSpPr>
          <p:cNvPr id="111" name="Text 23"/>
          <p:cNvSpPr/>
          <p:nvPr/>
        </p:nvSpPr>
        <p:spPr>
          <a:xfrm>
            <a:off x="6382440" y="3785760"/>
            <a:ext cx="4891320" cy="365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50" b="0" u="none" strike="noStrike">
                <a:solidFill>
                  <a:srgbClr val="9AA79E"/>
                </a:solidFill>
                <a:effectLst/>
                <a:uFillTx/>
                <a:latin typeface="Calibri"/>
                <a:ea typeface="Calibri"/>
              </a:rPr>
              <a:t>Ninguna alternativa modifica el resultado de forma sustantiva: la limitación proviene de los datos y de la definición de la etiqueta, no de la arquitectura.</a:t>
            </a:r>
            <a:endParaRPr lang="en-US" sz="1050" b="0" u="none" strike="noStrike">
              <a:solidFill>
                <a:srgbClr val="FFFFFF"/>
              </a:solidFill>
              <a:effectLst/>
              <a:uFillTx/>
              <a:latin typeface="Arial"/>
            </a:endParaRPr>
          </a:p>
        </p:txBody>
      </p:sp>
      <p:sp>
        <p:nvSpPr>
          <p:cNvPr id="112" name="Shape 24"/>
          <p:cNvSpPr/>
          <p:nvPr/>
        </p:nvSpPr>
        <p:spPr>
          <a:xfrm>
            <a:off x="6126480" y="4343400"/>
            <a:ext cx="5394240" cy="2148120"/>
          </a:xfrm>
          <a:prstGeom prst="roundRect">
            <a:avLst>
              <a:gd name="adj" fmla="val 3404"/>
            </a:avLst>
          </a:prstGeom>
          <a:solidFill>
            <a:srgbClr val="B85042"/>
          </a:solidFill>
          <a:ln w="0">
            <a:noFill/>
          </a:ln>
          <a:effectLst>
            <a:outerShdw algn="bl" blurRad="127080" dir="5400000" dist="720" kx="0" ky="0" rotWithShape="0" sx="100000" sy="100000">
              <a:srgbClr val="000000">
                <a:alpha val="18000"/>
              </a:srgbClr>
            </a:outerShdw>
          </a:effectLst>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13" name="Text 25"/>
          <p:cNvSpPr/>
          <p:nvPr/>
        </p:nvSpPr>
        <p:spPr>
          <a:xfrm>
            <a:off x="6382440" y="4480560"/>
            <a:ext cx="4845600" cy="310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600" b="1" u="none" strike="noStrike">
                <a:solidFill>
                  <a:srgbClr val="FFFFFF"/>
                </a:solidFill>
                <a:effectLst/>
                <a:uFillTx/>
                <a:latin typeface="Calibri"/>
                <a:ea typeface="Calibri"/>
              </a:rPr>
              <a:t>Implicaciones para la aplicación</a:t>
            </a:r>
            <a:endParaRPr lang="en-US" sz="1600" b="0" u="none" strike="noStrike">
              <a:solidFill>
                <a:srgbClr val="FFFFFF"/>
              </a:solidFill>
              <a:effectLst/>
              <a:uFillTx/>
              <a:latin typeface="Arial"/>
            </a:endParaRPr>
          </a:p>
        </p:txBody>
      </p:sp>
      <p:sp>
        <p:nvSpPr>
          <p:cNvPr id="114" name="Text 26"/>
          <p:cNvSpPr/>
          <p:nvPr/>
        </p:nvSpPr>
        <p:spPr>
          <a:xfrm>
            <a:off x="6382440" y="4846320"/>
            <a:ext cx="4937040" cy="1553760"/>
          </a:xfrm>
          <a:prstGeom prst="rect">
            <a:avLst/>
          </a:prstGeom>
          <a:noFill/>
          <a:ln w="0">
            <a:noFill/>
          </a:ln>
        </p:spPr>
        <p:style>
          <a:lnRef idx="0"/>
          <a:fillRef idx="0"/>
          <a:effectRef idx="0"/>
          <a:fontRef idx="minor"/>
        </p:style>
        <p:txBody>
          <a:bodyPr lIns="0" tIns="0" rIns="0" bIns="0" anchor="ctr">
            <a:noAutofit/>
          </a:bodyPr>
          <a:p>
            <a:pPr marL="343080" indent="-343080" defTabSz="914400">
              <a:lnSpc>
                <a:spcPct val="100000"/>
              </a:lnSpc>
              <a:spcAft>
                <a:spcPts val="601"/>
              </a:spcAft>
              <a:buClr>
                <a:srgbClr val="FFFFFF"/>
              </a:buClr>
              <a:buFont typeface="Symbol" charset="2"/>
              <a:buChar char=""/>
            </a:pPr>
            <a:r>
              <a:rPr lang="en-US" sz="1150" b="0" u="none" strike="noStrike">
                <a:solidFill>
                  <a:srgbClr val="FFFFFF"/>
                </a:solidFill>
                <a:effectLst/>
                <a:uFillTx/>
                <a:latin typeface="Calibri"/>
                <a:ea typeface="Calibri"/>
              </a:rPr>
              <a:t>El veredicto se presenta como refuerzo ("Correcto" / "Intenta de nuevo"), no como calificación.</a:t>
            </a:r>
            <a:endParaRPr lang="en-US" sz="1150" b="0" u="none" strike="noStrike">
              <a:solidFill>
                <a:srgbClr val="FFFFFF"/>
              </a:solidFill>
              <a:effectLst/>
              <a:uFillTx/>
              <a:latin typeface="Arial"/>
            </a:endParaRPr>
          </a:p>
          <a:p>
            <a:pPr marL="343080" indent="-343080" defTabSz="914400">
              <a:lnSpc>
                <a:spcPct val="100000"/>
              </a:lnSpc>
              <a:spcAft>
                <a:spcPts val="601"/>
              </a:spcAft>
              <a:buClr>
                <a:srgbClr val="FFFFFF"/>
              </a:buClr>
              <a:buFont typeface="Symbol" charset="2"/>
              <a:buChar char=""/>
            </a:pPr>
            <a:r>
              <a:rPr lang="en-US" sz="1150" b="0" u="none" strike="noStrike">
                <a:solidFill>
                  <a:srgbClr val="FFFFFF"/>
                </a:solidFill>
                <a:effectLst/>
                <a:uFillTx/>
                <a:latin typeface="Calibri"/>
                <a:ea typeface="Calibri"/>
              </a:rPr>
              <a:t>Evaluación de extremo a extremo sobre 200 clips: 77 % de acierto binario y 83 % de sensibilidad en emisiones correctas.</a:t>
            </a:r>
            <a:endParaRPr lang="en-US" sz="1150" b="0" u="none" strike="noStrike">
              <a:solidFill>
                <a:srgbClr val="FFFFFF"/>
              </a:solidFill>
              <a:effectLst/>
              <a:uFillTx/>
              <a:latin typeface="Arial"/>
            </a:endParaRPr>
          </a:p>
          <a:p>
            <a:pPr marL="343080" indent="-343080" defTabSz="914400">
              <a:lnSpc>
                <a:spcPct val="100000"/>
              </a:lnSpc>
              <a:spcAft>
                <a:spcPts val="601"/>
              </a:spcAft>
              <a:buClr>
                <a:srgbClr val="FFFFFF"/>
              </a:buClr>
              <a:buFont typeface="Symbol" charset="2"/>
              <a:buChar char=""/>
            </a:pPr>
            <a:r>
              <a:rPr lang="en-US" sz="1150" b="0" u="none" strike="noStrike">
                <a:solidFill>
                  <a:srgbClr val="FFFFFF"/>
                </a:solidFill>
                <a:effectLst/>
                <a:uFillTx/>
                <a:latin typeface="Calibri"/>
                <a:ea typeface="Calibri"/>
              </a:rPr>
              <a:t>Cero activaciones falsas sobre 24 grabaciones de ruido; sin el gate de voz eran 23 de 24.</a:t>
            </a:r>
            <a:endParaRPr lang="en-US" sz="115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3</TotalTime>
  <Application>LibreOffice/26.2.5.2$Linux_X86_64 LibreOffice_project/30643f3b95f81f04449dc87ba649cc313a42270e</Application>
  <AppVersion>15.0000</AppVersion>
  <Words>0</Words>
  <Paragraphs>0</Paragraphs>
  <Company>PptxGenJS</Company>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2026-08-20T17:29:05Z</dcterms:created>
  <dc:creator>Proyecto Ntsi Fiyo</dc:creator>
  <dc:description/>
  <dc:language>en-US</dc:language>
  <cp:lastModifiedBy/>
  <dcterms:modified xsi:type="dcterms:W3CDTF">2026-08-20T12:45:06Z</dcterms:modified>
  <cp:revision>3</cp:revision>
  <dc:subject>PptxGenJS Presentation</dc:subject>
  <dc:title>Validador de pronunciación mazahua</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6</vt:i4>
  </property>
  <property fmtid="{D5CDD505-2E9C-101B-9397-08002B2CF9AE}" pid="3" name="PresentationFormat">
    <vt:lpwstr>On-screen Show (16:9)</vt:lpwstr>
  </property>
  <property fmtid="{D5CDD505-2E9C-101B-9397-08002B2CF9AE}" pid="4" name="Slides">
    <vt:i4>6</vt:i4>
  </property>
</Properties>
</file>